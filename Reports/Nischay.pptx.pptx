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alibri (MS) Bold" charset="1" panose="020F0702030404030204"/>
      <p:regular r:id="rId24"/>
    </p:embeddedFont>
    <p:embeddedFont>
      <p:font typeface="Calibri (MS)" charset="1" panose="020F0502020204030204"/>
      <p:regular r:id="rId25"/>
    </p:embeddedFont>
    <p:embeddedFont>
      <p:font typeface="Calibri (MS) Italics" charset="1" panose="020F05020202040A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notesSlides/notesSlide12.xml" Type="http://schemas.openxmlformats.org/officeDocument/2006/relationships/notesSlide"/><Relationship Id="rId38" Target="notesSlides/notesSlide13.xml" Type="http://schemas.openxmlformats.org/officeDocument/2006/relationships/notesSlide"/><Relationship Id="rId39" Target="notesSlides/notesSlide14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5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75737" y="-1475737"/>
            <a:ext cx="6426203" cy="6426203"/>
            <a:chOff x="0" y="0"/>
            <a:chExt cx="8568271" cy="8568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68309" cy="8568309"/>
            </a:xfrm>
            <a:custGeom>
              <a:avLst/>
              <a:gdLst/>
              <a:ahLst/>
              <a:cxnLst/>
              <a:rect r="r" b="b" t="t" l="l"/>
              <a:pathLst>
                <a:path h="8568309" w="8568309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cubicBezTo>
                    <a:pt x="6650101" y="0"/>
                    <a:pt x="8568309" y="1918081"/>
                    <a:pt x="8568309" y="4284091"/>
                  </a:cubicBezTo>
                  <a:cubicBezTo>
                    <a:pt x="8568309" y="6650101"/>
                    <a:pt x="6650228" y="8568309"/>
                    <a:pt x="4284091" y="8568309"/>
                  </a:cubicBezTo>
                  <a:cubicBezTo>
                    <a:pt x="1917953" y="8568309"/>
                    <a:pt x="0" y="6650228"/>
                    <a:pt x="0" y="4284091"/>
                  </a:cubicBezTo>
                  <a:close/>
                </a:path>
              </a:pathLst>
            </a:custGeom>
            <a:solidFill>
              <a:srgbClr val="0D3461"/>
            </a:solidFill>
            <a:ln w="25400" cap="sq">
              <a:solidFill>
                <a:srgbClr val="0D346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4251943" y="6388103"/>
            <a:ext cx="5877563" cy="5877563"/>
            <a:chOff x="0" y="0"/>
            <a:chExt cx="7836751" cy="78367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36789" cy="7836789"/>
            </a:xfrm>
            <a:custGeom>
              <a:avLst/>
              <a:gdLst/>
              <a:ahLst/>
              <a:cxnLst/>
              <a:rect r="r" b="b" t="t" l="l"/>
              <a:pathLst>
                <a:path h="7836789" w="7836789">
                  <a:moveTo>
                    <a:pt x="0" y="3918331"/>
                  </a:moveTo>
                  <a:cubicBezTo>
                    <a:pt x="0" y="1754378"/>
                    <a:pt x="1754378" y="0"/>
                    <a:pt x="3918331" y="0"/>
                  </a:cubicBezTo>
                  <a:cubicBezTo>
                    <a:pt x="6082284" y="0"/>
                    <a:pt x="7836789" y="1754378"/>
                    <a:pt x="7836789" y="3918331"/>
                  </a:cubicBezTo>
                  <a:cubicBezTo>
                    <a:pt x="7836789" y="6082284"/>
                    <a:pt x="6082411" y="7836789"/>
                    <a:pt x="3918331" y="7836789"/>
                  </a:cubicBezTo>
                  <a:cubicBezTo>
                    <a:pt x="1754251" y="7836789"/>
                    <a:pt x="0" y="6082411"/>
                    <a:pt x="0" y="3918331"/>
                  </a:cubicBezTo>
                  <a:close/>
                </a:path>
              </a:pathLst>
            </a:custGeom>
            <a:solidFill>
              <a:srgbClr val="0D3461"/>
            </a:solidFill>
            <a:ln w="25400" cap="sq">
              <a:solidFill>
                <a:srgbClr val="0D3461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5532103" y="-1841497"/>
            <a:ext cx="4048763" cy="4048763"/>
            <a:chOff x="0" y="0"/>
            <a:chExt cx="5398351" cy="53983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98389" cy="5398389"/>
            </a:xfrm>
            <a:custGeom>
              <a:avLst/>
              <a:gdLst/>
              <a:ahLst/>
              <a:cxnLst/>
              <a:rect r="r" b="b" t="t" l="l"/>
              <a:pathLst>
                <a:path h="5398389" w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cubicBezTo>
                    <a:pt x="4189857" y="0"/>
                    <a:pt x="5398389" y="1208405"/>
                    <a:pt x="5398389" y="2699131"/>
                  </a:cubicBezTo>
                  <a:cubicBezTo>
                    <a:pt x="5398389" y="4189857"/>
                    <a:pt x="4189857" y="5398389"/>
                    <a:pt x="2699131" y="5398389"/>
                  </a:cubicBezTo>
                  <a:cubicBezTo>
                    <a:pt x="1208405" y="5398389"/>
                    <a:pt x="0" y="4189857"/>
                    <a:pt x="0" y="2699131"/>
                  </a:cubicBezTo>
                  <a:close/>
                </a:path>
              </a:pathLst>
            </a:custGeom>
            <a:solidFill>
              <a:srgbClr val="1565C0">
                <a:alpha val="8627"/>
              </a:srgbClr>
            </a:solidFill>
            <a:ln w="254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01703" y="718823"/>
            <a:ext cx="4780283" cy="720347"/>
            <a:chOff x="0" y="0"/>
            <a:chExt cx="6373711" cy="9604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73749" cy="960501"/>
            </a:xfrm>
            <a:custGeom>
              <a:avLst/>
              <a:gdLst/>
              <a:ahLst/>
              <a:cxnLst/>
              <a:rect r="r" b="b" t="t" l="l"/>
              <a:pathLst>
                <a:path h="960501" w="6373749">
                  <a:moveTo>
                    <a:pt x="0" y="126365"/>
                  </a:moveTo>
                  <a:cubicBezTo>
                    <a:pt x="0" y="56642"/>
                    <a:pt x="56642" y="0"/>
                    <a:pt x="126365" y="0"/>
                  </a:cubicBezTo>
                  <a:lnTo>
                    <a:pt x="6247384" y="0"/>
                  </a:lnTo>
                  <a:cubicBezTo>
                    <a:pt x="6317234" y="0"/>
                    <a:pt x="6373749" y="56642"/>
                    <a:pt x="6373749" y="126365"/>
                  </a:cubicBezTo>
                  <a:lnTo>
                    <a:pt x="6373749" y="834136"/>
                  </a:lnTo>
                  <a:cubicBezTo>
                    <a:pt x="6373749" y="903986"/>
                    <a:pt x="6317107" y="960501"/>
                    <a:pt x="6247384" y="960501"/>
                  </a:cubicBezTo>
                  <a:lnTo>
                    <a:pt x="126365" y="960501"/>
                  </a:lnTo>
                  <a:cubicBezTo>
                    <a:pt x="56642" y="960501"/>
                    <a:pt x="0" y="903859"/>
                    <a:pt x="0" y="834136"/>
                  </a:cubicBezTo>
                  <a:close/>
                </a:path>
              </a:pathLst>
            </a:custGeom>
            <a:solidFill>
              <a:srgbClr val="1565C0"/>
            </a:solidFill>
            <a:ln w="254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731520"/>
            <a:ext cx="4754880" cy="694944"/>
            <a:chOff x="0" y="0"/>
            <a:chExt cx="6339840" cy="9265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39840" cy="926592"/>
            </a:xfrm>
            <a:custGeom>
              <a:avLst/>
              <a:gdLst/>
              <a:ahLst/>
              <a:cxnLst/>
              <a:rect r="r" b="b" t="t" l="l"/>
              <a:pathLst>
                <a:path h="926592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318" r="0" b="-8331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3398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CAPSTONE PROJECT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2011680"/>
            <a:ext cx="16459200" cy="1645920"/>
            <a:chOff x="0" y="0"/>
            <a:chExt cx="21945600" cy="2194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61925"/>
              <a:ext cx="21945600" cy="2356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b="true" sz="8400" spc="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Mutual Fund Analytics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3566160"/>
            <a:ext cx="16459200" cy="1188720"/>
            <a:chOff x="0" y="0"/>
            <a:chExt cx="21945600" cy="1584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85725"/>
              <a:ext cx="21945600" cy="1670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&amp; Business Intelligence Platform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01703" y="5016503"/>
            <a:ext cx="8255003" cy="98555"/>
            <a:chOff x="0" y="0"/>
            <a:chExt cx="11006671" cy="13140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006709" cy="131445"/>
            </a:xfrm>
            <a:custGeom>
              <a:avLst/>
              <a:gdLst/>
              <a:ahLst/>
              <a:cxnLst/>
              <a:rect r="r" b="b" t="t" l="l"/>
              <a:pathLst>
                <a:path h="131445" w="11006709">
                  <a:moveTo>
                    <a:pt x="0" y="0"/>
                  </a:moveTo>
                  <a:lnTo>
                    <a:pt x="11006709" y="0"/>
                  </a:lnTo>
                  <a:lnTo>
                    <a:pt x="1100670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F0A500"/>
            </a:solidFill>
            <a:ln w="25400" cap="sq">
              <a:solidFill>
                <a:srgbClr val="F0A50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14400" y="5394960"/>
            <a:ext cx="15544800" cy="731520"/>
            <a:chOff x="0" y="0"/>
            <a:chExt cx="20726400" cy="975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726400" cy="975360"/>
            </a:xfrm>
            <a:custGeom>
              <a:avLst/>
              <a:gdLst/>
              <a:ahLst/>
              <a:cxnLst/>
              <a:rect r="r" b="b" t="t" l="l"/>
              <a:pathLst>
                <a:path h="97536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207264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Comprehensive Data Engineering, Analytics &amp; Dashboard Development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01703" y="6753863"/>
            <a:ext cx="5146043" cy="1762763"/>
            <a:chOff x="0" y="0"/>
            <a:chExt cx="6861391" cy="235035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61302" cy="2350262"/>
            </a:xfrm>
            <a:custGeom>
              <a:avLst/>
              <a:gdLst/>
              <a:ahLst/>
              <a:cxnLst/>
              <a:rect r="r" b="b" t="t" l="l"/>
              <a:pathLst>
                <a:path h="2350262" w="6861302">
                  <a:moveTo>
                    <a:pt x="0" y="197866"/>
                  </a:moveTo>
                  <a:cubicBezTo>
                    <a:pt x="0" y="88646"/>
                    <a:pt x="88646" y="0"/>
                    <a:pt x="197866" y="0"/>
                  </a:cubicBezTo>
                  <a:lnTo>
                    <a:pt x="6663436" y="0"/>
                  </a:lnTo>
                  <a:cubicBezTo>
                    <a:pt x="6772783" y="0"/>
                    <a:pt x="6861302" y="88646"/>
                    <a:pt x="6861302" y="197866"/>
                  </a:cubicBezTo>
                  <a:lnTo>
                    <a:pt x="6861302" y="2152396"/>
                  </a:lnTo>
                  <a:cubicBezTo>
                    <a:pt x="6861302" y="2261743"/>
                    <a:pt x="6772656" y="2350262"/>
                    <a:pt x="6663436" y="2350262"/>
                  </a:cubicBezTo>
                  <a:lnTo>
                    <a:pt x="197866" y="2350262"/>
                  </a:lnTo>
                  <a:cubicBezTo>
                    <a:pt x="88646" y="2350389"/>
                    <a:pt x="0" y="2261743"/>
                    <a:pt x="0" y="2152396"/>
                  </a:cubicBezTo>
                  <a:close/>
                </a:path>
              </a:pathLst>
            </a:custGeom>
            <a:solidFill>
              <a:srgbClr val="0F2D4A"/>
            </a:solidFill>
            <a:ln w="25400" cap="sq">
              <a:solidFill>
                <a:srgbClr val="1A5276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88720" y="6858000"/>
            <a:ext cx="4572000" cy="512064"/>
            <a:chOff x="0" y="0"/>
            <a:chExt cx="609600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096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Prepared by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88720" y="7315200"/>
            <a:ext cx="4572000" cy="822960"/>
            <a:chOff x="0" y="0"/>
            <a:chExt cx="609600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096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60960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Nischay Aggarwal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570983" y="6753863"/>
            <a:ext cx="5146043" cy="1762763"/>
            <a:chOff x="0" y="0"/>
            <a:chExt cx="6861391" cy="235035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61302" cy="2350262"/>
            </a:xfrm>
            <a:custGeom>
              <a:avLst/>
              <a:gdLst/>
              <a:ahLst/>
              <a:cxnLst/>
              <a:rect r="r" b="b" t="t" l="l"/>
              <a:pathLst>
                <a:path h="2350262" w="6861302">
                  <a:moveTo>
                    <a:pt x="0" y="197866"/>
                  </a:moveTo>
                  <a:cubicBezTo>
                    <a:pt x="0" y="88646"/>
                    <a:pt x="88646" y="0"/>
                    <a:pt x="197866" y="0"/>
                  </a:cubicBezTo>
                  <a:lnTo>
                    <a:pt x="6663436" y="0"/>
                  </a:lnTo>
                  <a:cubicBezTo>
                    <a:pt x="6772783" y="0"/>
                    <a:pt x="6861302" y="88646"/>
                    <a:pt x="6861302" y="197866"/>
                  </a:cubicBezTo>
                  <a:lnTo>
                    <a:pt x="6861302" y="2152396"/>
                  </a:lnTo>
                  <a:cubicBezTo>
                    <a:pt x="6861302" y="2261743"/>
                    <a:pt x="6772656" y="2350262"/>
                    <a:pt x="6663436" y="2350262"/>
                  </a:cubicBezTo>
                  <a:lnTo>
                    <a:pt x="197866" y="2350262"/>
                  </a:lnTo>
                  <a:cubicBezTo>
                    <a:pt x="88646" y="2350389"/>
                    <a:pt x="0" y="2261743"/>
                    <a:pt x="0" y="2152396"/>
                  </a:cubicBezTo>
                  <a:close/>
                </a:path>
              </a:pathLst>
            </a:custGeom>
            <a:solidFill>
              <a:srgbClr val="0F2D4A"/>
            </a:solidFill>
            <a:ln w="25400" cap="sq">
              <a:solidFill>
                <a:srgbClr val="1A5276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6858000" y="6858000"/>
            <a:ext cx="4572000" cy="512064"/>
            <a:chOff x="0" y="0"/>
            <a:chExt cx="6096000" cy="6827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096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Organization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858000" y="7315200"/>
            <a:ext cx="4572000" cy="822960"/>
            <a:chOff x="0" y="0"/>
            <a:chExt cx="609600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096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60960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Bluestock Fintech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240263" y="6753863"/>
            <a:ext cx="5146043" cy="1762763"/>
            <a:chOff x="0" y="0"/>
            <a:chExt cx="6861391" cy="235035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861302" cy="2350262"/>
            </a:xfrm>
            <a:custGeom>
              <a:avLst/>
              <a:gdLst/>
              <a:ahLst/>
              <a:cxnLst/>
              <a:rect r="r" b="b" t="t" l="l"/>
              <a:pathLst>
                <a:path h="2350262" w="6861302">
                  <a:moveTo>
                    <a:pt x="0" y="197866"/>
                  </a:moveTo>
                  <a:cubicBezTo>
                    <a:pt x="0" y="88646"/>
                    <a:pt x="88646" y="0"/>
                    <a:pt x="197866" y="0"/>
                  </a:cubicBezTo>
                  <a:lnTo>
                    <a:pt x="6663436" y="0"/>
                  </a:lnTo>
                  <a:cubicBezTo>
                    <a:pt x="6772783" y="0"/>
                    <a:pt x="6861302" y="88646"/>
                    <a:pt x="6861302" y="197866"/>
                  </a:cubicBezTo>
                  <a:lnTo>
                    <a:pt x="6861302" y="2152396"/>
                  </a:lnTo>
                  <a:cubicBezTo>
                    <a:pt x="6861302" y="2261743"/>
                    <a:pt x="6772656" y="2350262"/>
                    <a:pt x="6663436" y="2350262"/>
                  </a:cubicBezTo>
                  <a:lnTo>
                    <a:pt x="197866" y="2350262"/>
                  </a:lnTo>
                  <a:cubicBezTo>
                    <a:pt x="88646" y="2350389"/>
                    <a:pt x="0" y="2261743"/>
                    <a:pt x="0" y="2152396"/>
                  </a:cubicBezTo>
                  <a:close/>
                </a:path>
              </a:pathLst>
            </a:custGeom>
            <a:solidFill>
              <a:srgbClr val="0F2D4A"/>
            </a:solidFill>
            <a:ln w="25400" cap="sq">
              <a:solidFill>
                <a:srgbClr val="1A5276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2527280" y="6858000"/>
            <a:ext cx="4572000" cy="512064"/>
            <a:chOff x="0" y="0"/>
            <a:chExt cx="6096000" cy="68275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6096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Year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527280" y="7315200"/>
            <a:ext cx="4572000" cy="822960"/>
            <a:chOff x="0" y="0"/>
            <a:chExt cx="6096000" cy="1097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096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60960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2025–26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01703" y="8948423"/>
            <a:ext cx="2585723" cy="574043"/>
            <a:chOff x="0" y="0"/>
            <a:chExt cx="3447631" cy="76539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447542" cy="765302"/>
            </a:xfrm>
            <a:custGeom>
              <a:avLst/>
              <a:gdLst/>
              <a:ahLst/>
              <a:cxnLst/>
              <a:rect r="r" b="b" t="t" l="l"/>
              <a:pathLst>
                <a:path h="765302" w="3447542">
                  <a:moveTo>
                    <a:pt x="0" y="127508"/>
                  </a:moveTo>
                  <a:cubicBezTo>
                    <a:pt x="0" y="57150"/>
                    <a:pt x="57150" y="0"/>
                    <a:pt x="127508" y="0"/>
                  </a:cubicBezTo>
                  <a:lnTo>
                    <a:pt x="3320034" y="0"/>
                  </a:lnTo>
                  <a:cubicBezTo>
                    <a:pt x="3390519" y="0"/>
                    <a:pt x="3447542" y="57150"/>
                    <a:pt x="3447542" y="127508"/>
                  </a:cubicBezTo>
                  <a:lnTo>
                    <a:pt x="3447542" y="637794"/>
                  </a:lnTo>
                  <a:cubicBezTo>
                    <a:pt x="3447542" y="708279"/>
                    <a:pt x="3390392" y="765302"/>
                    <a:pt x="3320034" y="765302"/>
                  </a:cubicBezTo>
                  <a:lnTo>
                    <a:pt x="127508" y="765302"/>
                  </a:lnTo>
                  <a:cubicBezTo>
                    <a:pt x="57150" y="765429"/>
                    <a:pt x="0" y="708279"/>
                    <a:pt x="0" y="637794"/>
                  </a:cubicBezTo>
                  <a:close/>
                </a:path>
              </a:pathLst>
            </a:custGeom>
            <a:solidFill>
              <a:srgbClr val="1A5276">
                <a:alpha val="48627"/>
              </a:srgbClr>
            </a:solidFill>
            <a:ln w="25400" cap="sq">
              <a:solidFill>
                <a:srgbClr val="5B9BD5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14400" y="8961120"/>
            <a:ext cx="2560320" cy="548640"/>
            <a:chOff x="0" y="0"/>
            <a:chExt cx="341376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34137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3736343" y="8948423"/>
            <a:ext cx="2585723" cy="574043"/>
            <a:chOff x="0" y="0"/>
            <a:chExt cx="3447631" cy="76539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447542" cy="765302"/>
            </a:xfrm>
            <a:custGeom>
              <a:avLst/>
              <a:gdLst/>
              <a:ahLst/>
              <a:cxnLst/>
              <a:rect r="r" b="b" t="t" l="l"/>
              <a:pathLst>
                <a:path h="765302" w="3447542">
                  <a:moveTo>
                    <a:pt x="0" y="127508"/>
                  </a:moveTo>
                  <a:cubicBezTo>
                    <a:pt x="0" y="57150"/>
                    <a:pt x="57150" y="0"/>
                    <a:pt x="127508" y="0"/>
                  </a:cubicBezTo>
                  <a:lnTo>
                    <a:pt x="3320034" y="0"/>
                  </a:lnTo>
                  <a:cubicBezTo>
                    <a:pt x="3390519" y="0"/>
                    <a:pt x="3447542" y="57150"/>
                    <a:pt x="3447542" y="127508"/>
                  </a:cubicBezTo>
                  <a:lnTo>
                    <a:pt x="3447542" y="637794"/>
                  </a:lnTo>
                  <a:cubicBezTo>
                    <a:pt x="3447542" y="708279"/>
                    <a:pt x="3390392" y="765302"/>
                    <a:pt x="3320034" y="765302"/>
                  </a:cubicBezTo>
                  <a:lnTo>
                    <a:pt x="127508" y="765302"/>
                  </a:lnTo>
                  <a:cubicBezTo>
                    <a:pt x="57150" y="765429"/>
                    <a:pt x="0" y="708279"/>
                    <a:pt x="0" y="637794"/>
                  </a:cubicBezTo>
                  <a:close/>
                </a:path>
              </a:pathLst>
            </a:custGeom>
            <a:solidFill>
              <a:srgbClr val="1A5276">
                <a:alpha val="48627"/>
              </a:srgbClr>
            </a:solidFill>
            <a:ln w="25400" cap="sq">
              <a:solidFill>
                <a:srgbClr val="5B9BD5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3749040" y="8961120"/>
            <a:ext cx="2560320" cy="548640"/>
            <a:chOff x="0" y="0"/>
            <a:chExt cx="341376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34137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Pandas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570983" y="8948423"/>
            <a:ext cx="2585723" cy="574043"/>
            <a:chOff x="0" y="0"/>
            <a:chExt cx="3447631" cy="76539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447542" cy="765302"/>
            </a:xfrm>
            <a:custGeom>
              <a:avLst/>
              <a:gdLst/>
              <a:ahLst/>
              <a:cxnLst/>
              <a:rect r="r" b="b" t="t" l="l"/>
              <a:pathLst>
                <a:path h="765302" w="3447542">
                  <a:moveTo>
                    <a:pt x="0" y="127508"/>
                  </a:moveTo>
                  <a:cubicBezTo>
                    <a:pt x="0" y="57150"/>
                    <a:pt x="57150" y="0"/>
                    <a:pt x="127508" y="0"/>
                  </a:cubicBezTo>
                  <a:lnTo>
                    <a:pt x="3320034" y="0"/>
                  </a:lnTo>
                  <a:cubicBezTo>
                    <a:pt x="3390519" y="0"/>
                    <a:pt x="3447542" y="57150"/>
                    <a:pt x="3447542" y="127508"/>
                  </a:cubicBezTo>
                  <a:lnTo>
                    <a:pt x="3447542" y="637794"/>
                  </a:lnTo>
                  <a:cubicBezTo>
                    <a:pt x="3447542" y="708279"/>
                    <a:pt x="3390392" y="765302"/>
                    <a:pt x="3320034" y="765302"/>
                  </a:cubicBezTo>
                  <a:lnTo>
                    <a:pt x="127508" y="765302"/>
                  </a:lnTo>
                  <a:cubicBezTo>
                    <a:pt x="57150" y="765429"/>
                    <a:pt x="0" y="708279"/>
                    <a:pt x="0" y="637794"/>
                  </a:cubicBezTo>
                  <a:close/>
                </a:path>
              </a:pathLst>
            </a:custGeom>
            <a:solidFill>
              <a:srgbClr val="1A5276">
                <a:alpha val="48627"/>
              </a:srgbClr>
            </a:solidFill>
            <a:ln w="25400" cap="sq">
              <a:solidFill>
                <a:srgbClr val="5B9BD5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6583680" y="8961120"/>
            <a:ext cx="2560320" cy="548640"/>
            <a:chOff x="0" y="0"/>
            <a:chExt cx="3413760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34137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SQLite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405623" y="8948423"/>
            <a:ext cx="2585723" cy="574043"/>
            <a:chOff x="0" y="0"/>
            <a:chExt cx="3447631" cy="76539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447542" cy="765302"/>
            </a:xfrm>
            <a:custGeom>
              <a:avLst/>
              <a:gdLst/>
              <a:ahLst/>
              <a:cxnLst/>
              <a:rect r="r" b="b" t="t" l="l"/>
              <a:pathLst>
                <a:path h="765302" w="3447542">
                  <a:moveTo>
                    <a:pt x="0" y="127508"/>
                  </a:moveTo>
                  <a:cubicBezTo>
                    <a:pt x="0" y="57150"/>
                    <a:pt x="57150" y="0"/>
                    <a:pt x="127508" y="0"/>
                  </a:cubicBezTo>
                  <a:lnTo>
                    <a:pt x="3320034" y="0"/>
                  </a:lnTo>
                  <a:cubicBezTo>
                    <a:pt x="3390519" y="0"/>
                    <a:pt x="3447542" y="57150"/>
                    <a:pt x="3447542" y="127508"/>
                  </a:cubicBezTo>
                  <a:lnTo>
                    <a:pt x="3447542" y="637794"/>
                  </a:lnTo>
                  <a:cubicBezTo>
                    <a:pt x="3447542" y="708279"/>
                    <a:pt x="3390392" y="765302"/>
                    <a:pt x="3320034" y="765302"/>
                  </a:cubicBezTo>
                  <a:lnTo>
                    <a:pt x="127508" y="765302"/>
                  </a:lnTo>
                  <a:cubicBezTo>
                    <a:pt x="57150" y="765429"/>
                    <a:pt x="0" y="708279"/>
                    <a:pt x="0" y="637794"/>
                  </a:cubicBezTo>
                  <a:close/>
                </a:path>
              </a:pathLst>
            </a:custGeom>
            <a:solidFill>
              <a:srgbClr val="1A5276">
                <a:alpha val="48627"/>
              </a:srgbClr>
            </a:solidFill>
            <a:ln w="25400" cap="sq">
              <a:solidFill>
                <a:srgbClr val="5B9BD5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9418320" y="8961120"/>
            <a:ext cx="2560320" cy="548640"/>
            <a:chOff x="0" y="0"/>
            <a:chExt cx="341376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34137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Tableu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240263" y="8948423"/>
            <a:ext cx="2585723" cy="574043"/>
            <a:chOff x="0" y="0"/>
            <a:chExt cx="3447631" cy="76539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447542" cy="765302"/>
            </a:xfrm>
            <a:custGeom>
              <a:avLst/>
              <a:gdLst/>
              <a:ahLst/>
              <a:cxnLst/>
              <a:rect r="r" b="b" t="t" l="l"/>
              <a:pathLst>
                <a:path h="765302" w="3447542">
                  <a:moveTo>
                    <a:pt x="0" y="127508"/>
                  </a:moveTo>
                  <a:cubicBezTo>
                    <a:pt x="0" y="57150"/>
                    <a:pt x="57150" y="0"/>
                    <a:pt x="127508" y="0"/>
                  </a:cubicBezTo>
                  <a:lnTo>
                    <a:pt x="3320034" y="0"/>
                  </a:lnTo>
                  <a:cubicBezTo>
                    <a:pt x="3390519" y="0"/>
                    <a:pt x="3447542" y="57150"/>
                    <a:pt x="3447542" y="127508"/>
                  </a:cubicBezTo>
                  <a:lnTo>
                    <a:pt x="3447542" y="637794"/>
                  </a:lnTo>
                  <a:cubicBezTo>
                    <a:pt x="3447542" y="708279"/>
                    <a:pt x="3390392" y="765302"/>
                    <a:pt x="3320034" y="765302"/>
                  </a:cubicBezTo>
                  <a:lnTo>
                    <a:pt x="127508" y="765302"/>
                  </a:lnTo>
                  <a:cubicBezTo>
                    <a:pt x="57150" y="765429"/>
                    <a:pt x="0" y="708279"/>
                    <a:pt x="0" y="637794"/>
                  </a:cubicBezTo>
                  <a:close/>
                </a:path>
              </a:pathLst>
            </a:custGeom>
            <a:solidFill>
              <a:srgbClr val="1A5276">
                <a:alpha val="48627"/>
              </a:srgbClr>
            </a:solidFill>
            <a:ln w="25400" cap="sq">
              <a:solidFill>
                <a:srgbClr val="5B9BD5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2252960" y="8961120"/>
            <a:ext cx="2560320" cy="548640"/>
            <a:chOff x="0" y="0"/>
            <a:chExt cx="341376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34137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NumPy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5074903" y="8948423"/>
            <a:ext cx="2585723" cy="574043"/>
            <a:chOff x="0" y="0"/>
            <a:chExt cx="3447631" cy="76539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447542" cy="765302"/>
            </a:xfrm>
            <a:custGeom>
              <a:avLst/>
              <a:gdLst/>
              <a:ahLst/>
              <a:cxnLst/>
              <a:rect r="r" b="b" t="t" l="l"/>
              <a:pathLst>
                <a:path h="765302" w="3447542">
                  <a:moveTo>
                    <a:pt x="0" y="127508"/>
                  </a:moveTo>
                  <a:cubicBezTo>
                    <a:pt x="0" y="57150"/>
                    <a:pt x="57150" y="0"/>
                    <a:pt x="127508" y="0"/>
                  </a:cubicBezTo>
                  <a:lnTo>
                    <a:pt x="3320034" y="0"/>
                  </a:lnTo>
                  <a:cubicBezTo>
                    <a:pt x="3390519" y="0"/>
                    <a:pt x="3447542" y="57150"/>
                    <a:pt x="3447542" y="127508"/>
                  </a:cubicBezTo>
                  <a:lnTo>
                    <a:pt x="3447542" y="637794"/>
                  </a:lnTo>
                  <a:cubicBezTo>
                    <a:pt x="3447542" y="708279"/>
                    <a:pt x="3390392" y="765302"/>
                    <a:pt x="3320034" y="765302"/>
                  </a:cubicBezTo>
                  <a:lnTo>
                    <a:pt x="127508" y="765302"/>
                  </a:lnTo>
                  <a:cubicBezTo>
                    <a:pt x="57150" y="765429"/>
                    <a:pt x="0" y="708279"/>
                    <a:pt x="0" y="637794"/>
                  </a:cubicBezTo>
                  <a:close/>
                </a:path>
              </a:pathLst>
            </a:custGeom>
            <a:solidFill>
              <a:srgbClr val="1A5276">
                <a:alpha val="48627"/>
              </a:srgbClr>
            </a:solidFill>
            <a:ln w="25400" cap="sq">
              <a:solidFill>
                <a:srgbClr val="5B9BD5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5087600" y="8961120"/>
            <a:ext cx="2560320" cy="548640"/>
            <a:chOff x="0" y="0"/>
            <a:chExt cx="3413760" cy="7315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34137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Financial Analytics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945643"/>
            <a:chOff x="0" y="0"/>
            <a:chExt cx="24417871" cy="25941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594229"/>
            </a:xfrm>
            <a:custGeom>
              <a:avLst/>
              <a:gdLst/>
              <a:ahLst/>
              <a:cxnLst/>
              <a:rect r="r" b="b" t="t" l="l"/>
              <a:pathLst>
                <a:path h="25942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0A2540"/>
            </a:solidFill>
            <a:ln w="25400" cap="sq">
              <a:solidFill>
                <a:srgbClr val="0A254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182880"/>
            <a:ext cx="12801600" cy="1005840"/>
            <a:chOff x="0" y="0"/>
            <a:chExt cx="1706880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068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991" r="0" b="-19799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170688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Executive Summary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133856"/>
            <a:ext cx="12801600" cy="548640"/>
            <a:chOff x="0" y="0"/>
            <a:chExt cx="170688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7068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Project Overview at a Glance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35943" y="2090423"/>
            <a:ext cx="3865883" cy="2128523"/>
            <a:chOff x="0" y="0"/>
            <a:chExt cx="5154511" cy="28380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54422" cy="2837942"/>
            </a:xfrm>
            <a:custGeom>
              <a:avLst/>
              <a:gdLst/>
              <a:ahLst/>
              <a:cxnLst/>
              <a:rect r="r" b="b" t="t" l="l"/>
              <a:pathLst>
                <a:path h="2837942" w="5154422">
                  <a:moveTo>
                    <a:pt x="0" y="246761"/>
                  </a:moveTo>
                  <a:cubicBezTo>
                    <a:pt x="0" y="110490"/>
                    <a:pt x="110490" y="0"/>
                    <a:pt x="246761" y="0"/>
                  </a:cubicBezTo>
                  <a:lnTo>
                    <a:pt x="4907661" y="0"/>
                  </a:lnTo>
                  <a:cubicBezTo>
                    <a:pt x="5043932" y="0"/>
                    <a:pt x="5154422" y="110490"/>
                    <a:pt x="5154422" y="246761"/>
                  </a:cubicBezTo>
                  <a:lnTo>
                    <a:pt x="5154422" y="2591181"/>
                  </a:lnTo>
                  <a:cubicBezTo>
                    <a:pt x="5154422" y="2727452"/>
                    <a:pt x="5043932" y="2837942"/>
                    <a:pt x="4907661" y="2837942"/>
                  </a:cubicBezTo>
                  <a:lnTo>
                    <a:pt x="246761" y="2837942"/>
                  </a:lnTo>
                  <a:cubicBezTo>
                    <a:pt x="110490" y="2838069"/>
                    <a:pt x="0" y="2727579"/>
                    <a:pt x="0" y="2591181"/>
                  </a:cubicBezTo>
                  <a:close/>
                </a:path>
              </a:pathLst>
            </a:custGeom>
            <a:solidFill>
              <a:srgbClr val="0A2540"/>
            </a:solidFill>
            <a:ln w="25400" cap="sq">
              <a:solidFill>
                <a:srgbClr val="0A254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48640" y="2157984"/>
            <a:ext cx="3840480" cy="1133856"/>
            <a:chOff x="0" y="0"/>
            <a:chExt cx="5120640" cy="15118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206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97" r="0" b="-1599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23825"/>
              <a:ext cx="5120640" cy="163563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F0A5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48640" y="3291840"/>
            <a:ext cx="3840480" cy="822960"/>
            <a:chOff x="0" y="0"/>
            <a:chExt cx="512064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1206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Datasets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Integrated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833623" y="2090423"/>
            <a:ext cx="3865883" cy="2128523"/>
            <a:chOff x="0" y="0"/>
            <a:chExt cx="5154511" cy="28380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54422" cy="2837942"/>
            </a:xfrm>
            <a:custGeom>
              <a:avLst/>
              <a:gdLst/>
              <a:ahLst/>
              <a:cxnLst/>
              <a:rect r="r" b="b" t="t" l="l"/>
              <a:pathLst>
                <a:path h="2837942" w="5154422">
                  <a:moveTo>
                    <a:pt x="0" y="246761"/>
                  </a:moveTo>
                  <a:cubicBezTo>
                    <a:pt x="0" y="110490"/>
                    <a:pt x="110490" y="0"/>
                    <a:pt x="246761" y="0"/>
                  </a:cubicBezTo>
                  <a:lnTo>
                    <a:pt x="4907661" y="0"/>
                  </a:lnTo>
                  <a:cubicBezTo>
                    <a:pt x="5043932" y="0"/>
                    <a:pt x="5154422" y="110490"/>
                    <a:pt x="5154422" y="246761"/>
                  </a:cubicBezTo>
                  <a:lnTo>
                    <a:pt x="5154422" y="2591181"/>
                  </a:lnTo>
                  <a:cubicBezTo>
                    <a:pt x="5154422" y="2727452"/>
                    <a:pt x="5043932" y="2837942"/>
                    <a:pt x="4907661" y="2837942"/>
                  </a:cubicBezTo>
                  <a:lnTo>
                    <a:pt x="246761" y="2837942"/>
                  </a:lnTo>
                  <a:cubicBezTo>
                    <a:pt x="110490" y="2838069"/>
                    <a:pt x="0" y="2727579"/>
                    <a:pt x="0" y="2591181"/>
                  </a:cubicBezTo>
                  <a:close/>
                </a:path>
              </a:pathLst>
            </a:custGeom>
            <a:solidFill>
              <a:srgbClr val="0A2540"/>
            </a:solidFill>
            <a:ln w="25400" cap="sq">
              <a:solidFill>
                <a:srgbClr val="0A254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846320" y="2157984"/>
            <a:ext cx="3840480" cy="1133856"/>
            <a:chOff x="0" y="0"/>
            <a:chExt cx="5120640" cy="15118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206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97" r="0" b="-1599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23825"/>
              <a:ext cx="5120640" cy="163563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F0A5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846320" y="3291840"/>
            <a:ext cx="3840480" cy="822960"/>
            <a:chOff x="0" y="0"/>
            <a:chExt cx="512064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1206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Power BI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31303" y="2090423"/>
            <a:ext cx="3865883" cy="2128523"/>
            <a:chOff x="0" y="0"/>
            <a:chExt cx="5154511" cy="283803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54422" cy="2837942"/>
            </a:xfrm>
            <a:custGeom>
              <a:avLst/>
              <a:gdLst/>
              <a:ahLst/>
              <a:cxnLst/>
              <a:rect r="r" b="b" t="t" l="l"/>
              <a:pathLst>
                <a:path h="2837942" w="5154422">
                  <a:moveTo>
                    <a:pt x="0" y="246761"/>
                  </a:moveTo>
                  <a:cubicBezTo>
                    <a:pt x="0" y="110490"/>
                    <a:pt x="110490" y="0"/>
                    <a:pt x="246761" y="0"/>
                  </a:cubicBezTo>
                  <a:lnTo>
                    <a:pt x="4907661" y="0"/>
                  </a:lnTo>
                  <a:cubicBezTo>
                    <a:pt x="5043932" y="0"/>
                    <a:pt x="5154422" y="110490"/>
                    <a:pt x="5154422" y="246761"/>
                  </a:cubicBezTo>
                  <a:lnTo>
                    <a:pt x="5154422" y="2591181"/>
                  </a:lnTo>
                  <a:cubicBezTo>
                    <a:pt x="5154422" y="2727452"/>
                    <a:pt x="5043932" y="2837942"/>
                    <a:pt x="4907661" y="2837942"/>
                  </a:cubicBezTo>
                  <a:lnTo>
                    <a:pt x="246761" y="2837942"/>
                  </a:lnTo>
                  <a:cubicBezTo>
                    <a:pt x="110490" y="2838069"/>
                    <a:pt x="0" y="2727579"/>
                    <a:pt x="0" y="2591181"/>
                  </a:cubicBezTo>
                  <a:close/>
                </a:path>
              </a:pathLst>
            </a:custGeom>
            <a:solidFill>
              <a:srgbClr val="0A2540"/>
            </a:solidFill>
            <a:ln w="25400" cap="sq">
              <a:solidFill>
                <a:srgbClr val="0A254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144000" y="2157984"/>
            <a:ext cx="3840480" cy="1133856"/>
            <a:chOff x="0" y="0"/>
            <a:chExt cx="5120640" cy="151180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1206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97" r="0" b="-1599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23825"/>
              <a:ext cx="5120640" cy="163563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F0A5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8+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144000" y="3291840"/>
            <a:ext cx="3840480" cy="822960"/>
            <a:chOff x="0" y="0"/>
            <a:chExt cx="5120640" cy="1097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51206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Performance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Metrics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428983" y="2090423"/>
            <a:ext cx="3865883" cy="2128523"/>
            <a:chOff x="0" y="0"/>
            <a:chExt cx="5154511" cy="283803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54422" cy="2837942"/>
            </a:xfrm>
            <a:custGeom>
              <a:avLst/>
              <a:gdLst/>
              <a:ahLst/>
              <a:cxnLst/>
              <a:rect r="r" b="b" t="t" l="l"/>
              <a:pathLst>
                <a:path h="2837942" w="5154422">
                  <a:moveTo>
                    <a:pt x="0" y="246761"/>
                  </a:moveTo>
                  <a:cubicBezTo>
                    <a:pt x="0" y="110490"/>
                    <a:pt x="110490" y="0"/>
                    <a:pt x="246761" y="0"/>
                  </a:cubicBezTo>
                  <a:lnTo>
                    <a:pt x="4907661" y="0"/>
                  </a:lnTo>
                  <a:cubicBezTo>
                    <a:pt x="5043932" y="0"/>
                    <a:pt x="5154422" y="110490"/>
                    <a:pt x="5154422" y="246761"/>
                  </a:cubicBezTo>
                  <a:lnTo>
                    <a:pt x="5154422" y="2591181"/>
                  </a:lnTo>
                  <a:cubicBezTo>
                    <a:pt x="5154422" y="2727452"/>
                    <a:pt x="5043932" y="2837942"/>
                    <a:pt x="4907661" y="2837942"/>
                  </a:cubicBezTo>
                  <a:lnTo>
                    <a:pt x="246761" y="2837942"/>
                  </a:lnTo>
                  <a:cubicBezTo>
                    <a:pt x="110490" y="2838069"/>
                    <a:pt x="0" y="2727579"/>
                    <a:pt x="0" y="2591181"/>
                  </a:cubicBezTo>
                  <a:close/>
                </a:path>
              </a:pathLst>
            </a:custGeom>
            <a:solidFill>
              <a:srgbClr val="0A2540"/>
            </a:solidFill>
            <a:ln w="25400" cap="sq">
              <a:solidFill>
                <a:srgbClr val="0A254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3441680" y="2157984"/>
            <a:ext cx="3840480" cy="1133856"/>
            <a:chOff x="0" y="0"/>
            <a:chExt cx="5120640" cy="15118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206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97" r="0" b="-1599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23825"/>
              <a:ext cx="5120640" cy="163563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F0A5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360°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441680" y="3291840"/>
            <a:ext cx="3840480" cy="822960"/>
            <a:chOff x="0" y="0"/>
            <a:chExt cx="5120640" cy="1097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51206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Analytics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Coverage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35943" y="4559303"/>
            <a:ext cx="8072123" cy="1451867"/>
            <a:chOff x="0" y="0"/>
            <a:chExt cx="10762831" cy="193582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76274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0762742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10564241" y="0"/>
                  </a:lnTo>
                  <a:cubicBezTo>
                    <a:pt x="10673842" y="0"/>
                    <a:pt x="10762742" y="88900"/>
                    <a:pt x="10762742" y="198501"/>
                  </a:cubicBezTo>
                  <a:lnTo>
                    <a:pt x="10762742" y="1737233"/>
                  </a:lnTo>
                  <a:cubicBezTo>
                    <a:pt x="10762742" y="1846834"/>
                    <a:pt x="10673842" y="1935734"/>
                    <a:pt x="10564241" y="1935734"/>
                  </a:cubicBezTo>
                  <a:lnTo>
                    <a:pt x="198501" y="1935734"/>
                  </a:lnTo>
                  <a:cubicBezTo>
                    <a:pt x="88900" y="1935861"/>
                    <a:pt x="0" y="1846961"/>
                    <a:pt x="0" y="1737233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14400" y="4663440"/>
            <a:ext cx="7315200" cy="512064"/>
            <a:chOff x="0" y="0"/>
            <a:chExt cx="9753600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9753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Business Problem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14400" y="5120640"/>
            <a:ext cx="7315200" cy="694944"/>
            <a:chOff x="0" y="0"/>
            <a:chExt cx="9753600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75360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105" r="0" b="-15510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97536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Fragmented mutual fund data lacking integrated risk-performance-investor insights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35943" y="6205223"/>
            <a:ext cx="8072123" cy="1451867"/>
            <a:chOff x="0" y="0"/>
            <a:chExt cx="10762831" cy="193582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76274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0762742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10564241" y="0"/>
                  </a:lnTo>
                  <a:cubicBezTo>
                    <a:pt x="10673842" y="0"/>
                    <a:pt x="10762742" y="88900"/>
                    <a:pt x="10762742" y="198501"/>
                  </a:cubicBezTo>
                  <a:lnTo>
                    <a:pt x="10762742" y="1737233"/>
                  </a:lnTo>
                  <a:cubicBezTo>
                    <a:pt x="10762742" y="1846834"/>
                    <a:pt x="10673842" y="1935734"/>
                    <a:pt x="10564241" y="1935734"/>
                  </a:cubicBezTo>
                  <a:lnTo>
                    <a:pt x="198501" y="1935734"/>
                  </a:lnTo>
                  <a:cubicBezTo>
                    <a:pt x="88900" y="1935861"/>
                    <a:pt x="0" y="1846961"/>
                    <a:pt x="0" y="1737233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914400" y="6309360"/>
            <a:ext cx="7315200" cy="512064"/>
            <a:chOff x="0" y="0"/>
            <a:chExt cx="9753600" cy="68275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9753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Solution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14400" y="6766560"/>
            <a:ext cx="7315200" cy="694944"/>
            <a:chOff x="0" y="0"/>
            <a:chExt cx="9753600" cy="92659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75360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105" r="0" b="-15510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97536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End-to-end analytics pipeline: raw CSV → SQLite → EDA → Advanced Analytics → Power BI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535943" y="7851143"/>
            <a:ext cx="8072123" cy="1451867"/>
            <a:chOff x="0" y="0"/>
            <a:chExt cx="10762831" cy="193582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76274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0762742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10564241" y="0"/>
                  </a:lnTo>
                  <a:cubicBezTo>
                    <a:pt x="10673842" y="0"/>
                    <a:pt x="10762742" y="88900"/>
                    <a:pt x="10762742" y="198501"/>
                  </a:cubicBezTo>
                  <a:lnTo>
                    <a:pt x="10762742" y="1737233"/>
                  </a:lnTo>
                  <a:cubicBezTo>
                    <a:pt x="10762742" y="1846834"/>
                    <a:pt x="10673842" y="1935734"/>
                    <a:pt x="10564241" y="1935734"/>
                  </a:cubicBezTo>
                  <a:lnTo>
                    <a:pt x="198501" y="1935734"/>
                  </a:lnTo>
                  <a:cubicBezTo>
                    <a:pt x="88900" y="1935861"/>
                    <a:pt x="0" y="1846961"/>
                    <a:pt x="0" y="1737233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914400" y="7955280"/>
            <a:ext cx="7315200" cy="512064"/>
            <a:chOff x="0" y="0"/>
            <a:chExt cx="9753600" cy="68275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9753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Technologies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14400" y="8412480"/>
            <a:ext cx="7315200" cy="694944"/>
            <a:chOff x="0" y="0"/>
            <a:chExt cx="9753600" cy="92659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75360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105" r="0" b="-15510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97536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· Pandas · NumPy · SQLite · Tableu · Financial Metrics Engine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131303" y="4559303"/>
            <a:ext cx="8620763" cy="4871723"/>
            <a:chOff x="0" y="0"/>
            <a:chExt cx="11494351" cy="649563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494262" cy="6495542"/>
            </a:xfrm>
            <a:custGeom>
              <a:avLst/>
              <a:gdLst/>
              <a:ahLst/>
              <a:cxnLst/>
              <a:rect r="r" b="b" t="t" l="l"/>
              <a:pathLst>
                <a:path h="6495542" w="11494262">
                  <a:moveTo>
                    <a:pt x="0" y="245110"/>
                  </a:moveTo>
                  <a:cubicBezTo>
                    <a:pt x="0" y="109728"/>
                    <a:pt x="109728" y="0"/>
                    <a:pt x="245110" y="0"/>
                  </a:cubicBezTo>
                  <a:lnTo>
                    <a:pt x="11249152" y="0"/>
                  </a:lnTo>
                  <a:cubicBezTo>
                    <a:pt x="11384534" y="0"/>
                    <a:pt x="11494262" y="109728"/>
                    <a:pt x="11494262" y="245110"/>
                  </a:cubicBezTo>
                  <a:lnTo>
                    <a:pt x="11494262" y="6250432"/>
                  </a:lnTo>
                  <a:cubicBezTo>
                    <a:pt x="11494262" y="6385814"/>
                    <a:pt x="11384534" y="6495542"/>
                    <a:pt x="11249152" y="6495542"/>
                  </a:cubicBezTo>
                  <a:lnTo>
                    <a:pt x="245110" y="6495542"/>
                  </a:lnTo>
                  <a:cubicBezTo>
                    <a:pt x="109728" y="6495542"/>
                    <a:pt x="0" y="6385814"/>
                    <a:pt x="0" y="6250432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9509760" y="4754880"/>
            <a:ext cx="7680960" cy="640080"/>
            <a:chOff x="0" y="0"/>
            <a:chExt cx="10241280" cy="8534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10241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Outcomes</a:t>
              </a: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9418320" y="5494020"/>
            <a:ext cx="7863840" cy="342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00B89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  </a:t>
            </a:r>
            <a:r>
              <a:rPr lang="en-US" sz="20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Centralized SQLite star-schema database across 10 datasets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00B89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  </a:t>
            </a:r>
            <a:r>
              <a:rPr lang="en-US" sz="20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Performance analytics: CAGR, Sharpe, Sortino, Alpha, Beta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00B89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  </a:t>
            </a:r>
            <a:r>
              <a:rPr lang="en-US" sz="20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Risk models: VaR, CVaR, Rolling Sharpe, HHI concentration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00B89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  </a:t>
            </a:r>
            <a:r>
              <a:rPr lang="en-US" sz="20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Investor segmentation by demographics, geography &amp; cohort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00B89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  </a:t>
            </a:r>
            <a:r>
              <a:rPr lang="en-US" sz="20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4 interactive Power BI dashboards for business decisions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945643"/>
            <a:chOff x="0" y="0"/>
            <a:chExt cx="24417871" cy="25941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594229"/>
            </a:xfrm>
            <a:custGeom>
              <a:avLst/>
              <a:gdLst/>
              <a:ahLst/>
              <a:cxnLst/>
              <a:rect r="r" b="b" t="t" l="l"/>
              <a:pathLst>
                <a:path h="25942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0D3461"/>
            </a:solidFill>
            <a:ln w="25400" cap="sq">
              <a:solidFill>
                <a:srgbClr val="0D346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19456"/>
            <a:ext cx="14630400" cy="914400"/>
            <a:chOff x="0" y="0"/>
            <a:chExt cx="195072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1950720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 &amp; Objectives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133856"/>
            <a:ext cx="14630400" cy="512064"/>
            <a:chOff x="0" y="0"/>
            <a:chExt cx="1950720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0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9507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Challenges in the Indian Mutual Fund Ecosystem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1520" y="2194560"/>
            <a:ext cx="8229600" cy="640080"/>
            <a:chOff x="0" y="0"/>
            <a:chExt cx="10972800" cy="853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9728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0A5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Challenges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18823" y="2913383"/>
            <a:ext cx="7889243" cy="830075"/>
            <a:chOff x="0" y="0"/>
            <a:chExt cx="10518991" cy="11067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518902" cy="1106678"/>
            </a:xfrm>
            <a:custGeom>
              <a:avLst/>
              <a:gdLst/>
              <a:ahLst/>
              <a:cxnLst/>
              <a:rect r="r" b="b" t="t" l="l"/>
              <a:pathLst>
                <a:path h="1106678" w="10518902">
                  <a:moveTo>
                    <a:pt x="0" y="176022"/>
                  </a:moveTo>
                  <a:cubicBezTo>
                    <a:pt x="0" y="78867"/>
                    <a:pt x="78867" y="0"/>
                    <a:pt x="176022" y="0"/>
                  </a:cubicBezTo>
                  <a:lnTo>
                    <a:pt x="10342880" y="0"/>
                  </a:lnTo>
                  <a:cubicBezTo>
                    <a:pt x="10440162" y="0"/>
                    <a:pt x="10518902" y="78867"/>
                    <a:pt x="10518902" y="176022"/>
                  </a:cubicBezTo>
                  <a:lnTo>
                    <a:pt x="10518902" y="930656"/>
                  </a:lnTo>
                  <a:cubicBezTo>
                    <a:pt x="10518902" y="1027938"/>
                    <a:pt x="10440036" y="1106678"/>
                    <a:pt x="10342880" y="1106678"/>
                  </a:cubicBezTo>
                  <a:lnTo>
                    <a:pt x="176022" y="1106678"/>
                  </a:lnTo>
                  <a:cubicBezTo>
                    <a:pt x="78867" y="1106805"/>
                    <a:pt x="0" y="1027938"/>
                    <a:pt x="0" y="930656"/>
                  </a:cubicBezTo>
                  <a:close/>
                </a:path>
              </a:pathLst>
            </a:custGeom>
            <a:solidFill>
              <a:srgbClr val="0F2D4A"/>
            </a:solidFill>
            <a:ln w="25400" cap="sq">
              <a:solidFill>
                <a:srgbClr val="1A5276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05840" y="2999232"/>
            <a:ext cx="7315200" cy="658368"/>
            <a:chOff x="0" y="0"/>
            <a:chExt cx="9753600" cy="87782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753600" cy="877824"/>
            </a:xfrm>
            <a:custGeom>
              <a:avLst/>
              <a:gdLst/>
              <a:ahLst/>
              <a:cxnLst/>
              <a:rect r="r" b="b" t="t" l="l"/>
              <a:pathLst>
                <a:path h="87782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753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0A5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⚡  </a:t>
              </a: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Fragmented data across multiple disconnected sources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18823" y="3882647"/>
            <a:ext cx="7889243" cy="830075"/>
            <a:chOff x="0" y="0"/>
            <a:chExt cx="10518991" cy="11067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18902" cy="1106678"/>
            </a:xfrm>
            <a:custGeom>
              <a:avLst/>
              <a:gdLst/>
              <a:ahLst/>
              <a:cxnLst/>
              <a:rect r="r" b="b" t="t" l="l"/>
              <a:pathLst>
                <a:path h="1106678" w="10518902">
                  <a:moveTo>
                    <a:pt x="0" y="176022"/>
                  </a:moveTo>
                  <a:cubicBezTo>
                    <a:pt x="0" y="78867"/>
                    <a:pt x="78867" y="0"/>
                    <a:pt x="176022" y="0"/>
                  </a:cubicBezTo>
                  <a:lnTo>
                    <a:pt x="10342880" y="0"/>
                  </a:lnTo>
                  <a:cubicBezTo>
                    <a:pt x="10440162" y="0"/>
                    <a:pt x="10518902" y="78867"/>
                    <a:pt x="10518902" y="176022"/>
                  </a:cubicBezTo>
                  <a:lnTo>
                    <a:pt x="10518902" y="930656"/>
                  </a:lnTo>
                  <a:cubicBezTo>
                    <a:pt x="10518902" y="1027938"/>
                    <a:pt x="10440036" y="1106678"/>
                    <a:pt x="10342880" y="1106678"/>
                  </a:cubicBezTo>
                  <a:lnTo>
                    <a:pt x="176022" y="1106678"/>
                  </a:lnTo>
                  <a:cubicBezTo>
                    <a:pt x="78867" y="1106805"/>
                    <a:pt x="0" y="1027938"/>
                    <a:pt x="0" y="930656"/>
                  </a:cubicBezTo>
                  <a:close/>
                </a:path>
              </a:pathLst>
            </a:custGeom>
            <a:solidFill>
              <a:srgbClr val="0F2D4A"/>
            </a:solidFill>
            <a:ln w="25400" cap="sq">
              <a:solidFill>
                <a:srgbClr val="1A5276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05840" y="3968496"/>
            <a:ext cx="7315200" cy="658368"/>
            <a:chOff x="0" y="0"/>
            <a:chExt cx="9753600" cy="8778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53600" cy="877824"/>
            </a:xfrm>
            <a:custGeom>
              <a:avLst/>
              <a:gdLst/>
              <a:ahLst/>
              <a:cxnLst/>
              <a:rect r="r" b="b" t="t" l="l"/>
              <a:pathLst>
                <a:path h="87782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753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0A5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⚡  </a:t>
              </a: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Difficulty comparing funds across categories fairly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18823" y="4851911"/>
            <a:ext cx="7889243" cy="830075"/>
            <a:chOff x="0" y="0"/>
            <a:chExt cx="10518991" cy="110676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518902" cy="1106678"/>
            </a:xfrm>
            <a:custGeom>
              <a:avLst/>
              <a:gdLst/>
              <a:ahLst/>
              <a:cxnLst/>
              <a:rect r="r" b="b" t="t" l="l"/>
              <a:pathLst>
                <a:path h="1106678" w="10518902">
                  <a:moveTo>
                    <a:pt x="0" y="176022"/>
                  </a:moveTo>
                  <a:cubicBezTo>
                    <a:pt x="0" y="78867"/>
                    <a:pt x="78867" y="0"/>
                    <a:pt x="176022" y="0"/>
                  </a:cubicBezTo>
                  <a:lnTo>
                    <a:pt x="10342880" y="0"/>
                  </a:lnTo>
                  <a:cubicBezTo>
                    <a:pt x="10440162" y="0"/>
                    <a:pt x="10518902" y="78867"/>
                    <a:pt x="10518902" y="176022"/>
                  </a:cubicBezTo>
                  <a:lnTo>
                    <a:pt x="10518902" y="930656"/>
                  </a:lnTo>
                  <a:cubicBezTo>
                    <a:pt x="10518902" y="1027938"/>
                    <a:pt x="10440036" y="1106678"/>
                    <a:pt x="10342880" y="1106678"/>
                  </a:cubicBezTo>
                  <a:lnTo>
                    <a:pt x="176022" y="1106678"/>
                  </a:lnTo>
                  <a:cubicBezTo>
                    <a:pt x="78867" y="1106805"/>
                    <a:pt x="0" y="1027938"/>
                    <a:pt x="0" y="930656"/>
                  </a:cubicBezTo>
                  <a:close/>
                </a:path>
              </a:pathLst>
            </a:custGeom>
            <a:solidFill>
              <a:srgbClr val="0F2D4A"/>
            </a:solidFill>
            <a:ln w="25400" cap="sq">
              <a:solidFill>
                <a:srgbClr val="1A5276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005840" y="4937760"/>
            <a:ext cx="7315200" cy="658368"/>
            <a:chOff x="0" y="0"/>
            <a:chExt cx="9753600" cy="8778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53600" cy="877824"/>
            </a:xfrm>
            <a:custGeom>
              <a:avLst/>
              <a:gdLst/>
              <a:ahLst/>
              <a:cxnLst/>
              <a:rect r="r" b="b" t="t" l="l"/>
              <a:pathLst>
                <a:path h="87782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753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0A5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⚡  </a:t>
              </a: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Limited visibility into risk-adjusted performance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18823" y="5821175"/>
            <a:ext cx="7889243" cy="830075"/>
            <a:chOff x="0" y="0"/>
            <a:chExt cx="10518991" cy="110676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518902" cy="1106678"/>
            </a:xfrm>
            <a:custGeom>
              <a:avLst/>
              <a:gdLst/>
              <a:ahLst/>
              <a:cxnLst/>
              <a:rect r="r" b="b" t="t" l="l"/>
              <a:pathLst>
                <a:path h="1106678" w="10518902">
                  <a:moveTo>
                    <a:pt x="0" y="176022"/>
                  </a:moveTo>
                  <a:cubicBezTo>
                    <a:pt x="0" y="78867"/>
                    <a:pt x="78867" y="0"/>
                    <a:pt x="176022" y="0"/>
                  </a:cubicBezTo>
                  <a:lnTo>
                    <a:pt x="10342880" y="0"/>
                  </a:lnTo>
                  <a:cubicBezTo>
                    <a:pt x="10440162" y="0"/>
                    <a:pt x="10518902" y="78867"/>
                    <a:pt x="10518902" y="176022"/>
                  </a:cubicBezTo>
                  <a:lnTo>
                    <a:pt x="10518902" y="930656"/>
                  </a:lnTo>
                  <a:cubicBezTo>
                    <a:pt x="10518902" y="1027938"/>
                    <a:pt x="10440036" y="1106678"/>
                    <a:pt x="10342880" y="1106678"/>
                  </a:cubicBezTo>
                  <a:lnTo>
                    <a:pt x="176022" y="1106678"/>
                  </a:lnTo>
                  <a:cubicBezTo>
                    <a:pt x="78867" y="1106805"/>
                    <a:pt x="0" y="1027938"/>
                    <a:pt x="0" y="930656"/>
                  </a:cubicBezTo>
                  <a:close/>
                </a:path>
              </a:pathLst>
            </a:custGeom>
            <a:solidFill>
              <a:srgbClr val="0F2D4A"/>
            </a:solidFill>
            <a:ln w="25400" cap="sq">
              <a:solidFill>
                <a:srgbClr val="1A5276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005840" y="5907024"/>
            <a:ext cx="7315200" cy="658368"/>
            <a:chOff x="0" y="0"/>
            <a:chExt cx="9753600" cy="87782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753600" cy="877824"/>
            </a:xfrm>
            <a:custGeom>
              <a:avLst/>
              <a:gdLst/>
              <a:ahLst/>
              <a:cxnLst/>
              <a:rect r="r" b="b" t="t" l="l"/>
              <a:pathLst>
                <a:path h="87782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9753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0A5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⚡  </a:t>
              </a: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Inadequate understanding of investor behavior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18823" y="6790439"/>
            <a:ext cx="7889243" cy="830075"/>
            <a:chOff x="0" y="0"/>
            <a:chExt cx="10518991" cy="110676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518902" cy="1106678"/>
            </a:xfrm>
            <a:custGeom>
              <a:avLst/>
              <a:gdLst/>
              <a:ahLst/>
              <a:cxnLst/>
              <a:rect r="r" b="b" t="t" l="l"/>
              <a:pathLst>
                <a:path h="1106678" w="10518902">
                  <a:moveTo>
                    <a:pt x="0" y="176022"/>
                  </a:moveTo>
                  <a:cubicBezTo>
                    <a:pt x="0" y="78867"/>
                    <a:pt x="78867" y="0"/>
                    <a:pt x="176022" y="0"/>
                  </a:cubicBezTo>
                  <a:lnTo>
                    <a:pt x="10342880" y="0"/>
                  </a:lnTo>
                  <a:cubicBezTo>
                    <a:pt x="10440162" y="0"/>
                    <a:pt x="10518902" y="78867"/>
                    <a:pt x="10518902" y="176022"/>
                  </a:cubicBezTo>
                  <a:lnTo>
                    <a:pt x="10518902" y="930656"/>
                  </a:lnTo>
                  <a:cubicBezTo>
                    <a:pt x="10518902" y="1027938"/>
                    <a:pt x="10440036" y="1106678"/>
                    <a:pt x="10342880" y="1106678"/>
                  </a:cubicBezTo>
                  <a:lnTo>
                    <a:pt x="176022" y="1106678"/>
                  </a:lnTo>
                  <a:cubicBezTo>
                    <a:pt x="78867" y="1106805"/>
                    <a:pt x="0" y="1027938"/>
                    <a:pt x="0" y="930656"/>
                  </a:cubicBezTo>
                  <a:close/>
                </a:path>
              </a:pathLst>
            </a:custGeom>
            <a:solidFill>
              <a:srgbClr val="0F2D4A"/>
            </a:solidFill>
            <a:ln w="25400" cap="sq">
              <a:solidFill>
                <a:srgbClr val="1A5276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005840" y="6876288"/>
            <a:ext cx="7315200" cy="658368"/>
            <a:chOff x="0" y="0"/>
            <a:chExt cx="9753600" cy="87782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53600" cy="877824"/>
            </a:xfrm>
            <a:custGeom>
              <a:avLst/>
              <a:gdLst/>
              <a:ahLst/>
              <a:cxnLst/>
              <a:rect r="r" b="b" t="t" l="l"/>
              <a:pathLst>
                <a:path h="87782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9753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0A5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⚡  </a:t>
              </a: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integrated dashboard for strategic decisions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18823" y="7759703"/>
            <a:ext cx="7889243" cy="830075"/>
            <a:chOff x="0" y="0"/>
            <a:chExt cx="10518991" cy="110676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518902" cy="1106678"/>
            </a:xfrm>
            <a:custGeom>
              <a:avLst/>
              <a:gdLst/>
              <a:ahLst/>
              <a:cxnLst/>
              <a:rect r="r" b="b" t="t" l="l"/>
              <a:pathLst>
                <a:path h="1106678" w="10518902">
                  <a:moveTo>
                    <a:pt x="0" y="176022"/>
                  </a:moveTo>
                  <a:cubicBezTo>
                    <a:pt x="0" y="78867"/>
                    <a:pt x="78867" y="0"/>
                    <a:pt x="176022" y="0"/>
                  </a:cubicBezTo>
                  <a:lnTo>
                    <a:pt x="10342880" y="0"/>
                  </a:lnTo>
                  <a:cubicBezTo>
                    <a:pt x="10440162" y="0"/>
                    <a:pt x="10518902" y="78867"/>
                    <a:pt x="10518902" y="176022"/>
                  </a:cubicBezTo>
                  <a:lnTo>
                    <a:pt x="10518902" y="930656"/>
                  </a:lnTo>
                  <a:cubicBezTo>
                    <a:pt x="10518902" y="1027938"/>
                    <a:pt x="10440036" y="1106678"/>
                    <a:pt x="10342880" y="1106678"/>
                  </a:cubicBezTo>
                  <a:lnTo>
                    <a:pt x="176022" y="1106678"/>
                  </a:lnTo>
                  <a:cubicBezTo>
                    <a:pt x="78867" y="1106805"/>
                    <a:pt x="0" y="1027938"/>
                    <a:pt x="0" y="930656"/>
                  </a:cubicBezTo>
                  <a:close/>
                </a:path>
              </a:pathLst>
            </a:custGeom>
            <a:solidFill>
              <a:srgbClr val="0F2D4A"/>
            </a:solidFill>
            <a:ln w="25400" cap="sq">
              <a:solidFill>
                <a:srgbClr val="1A5276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05840" y="7845552"/>
            <a:ext cx="7315200" cy="658368"/>
            <a:chOff x="0" y="0"/>
            <a:chExt cx="9753600" cy="87782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753600" cy="877824"/>
            </a:xfrm>
            <a:custGeom>
              <a:avLst/>
              <a:gdLst/>
              <a:ahLst/>
              <a:cxnLst/>
              <a:rect r="r" b="b" t="t" l="l"/>
              <a:pathLst>
                <a:path h="87782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9753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0A5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⚡  </a:t>
              </a: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Identifying top schemes under varying conditions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144000" y="2194560"/>
            <a:ext cx="8229600" cy="640080"/>
            <a:chOff x="0" y="0"/>
            <a:chExt cx="10972800" cy="853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109728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5B9BD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Objectives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144000" y="2926080"/>
            <a:ext cx="8412480" cy="694944"/>
            <a:chOff x="0" y="0"/>
            <a:chExt cx="11216640" cy="9265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216640" cy="926592"/>
            </a:xfrm>
            <a:custGeom>
              <a:avLst/>
              <a:gdLst/>
              <a:ahLst/>
              <a:cxnLst/>
              <a:rect r="r" b="b" t="t" l="l"/>
              <a:pathLst>
                <a:path h="9265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871" r="0" b="-18587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12166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0A5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 </a:t>
              </a: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Design scalable analytics pipeline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144000" y="3712464"/>
            <a:ext cx="8412480" cy="694944"/>
            <a:chOff x="0" y="0"/>
            <a:chExt cx="11216640" cy="9265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216640" cy="926592"/>
            </a:xfrm>
            <a:custGeom>
              <a:avLst/>
              <a:gdLst/>
              <a:ahLst/>
              <a:cxnLst/>
              <a:rect r="r" b="b" t="t" l="l"/>
              <a:pathLst>
                <a:path h="9265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871" r="0" b="-18587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12166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0A5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  </a:t>
              </a: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Clean &amp; preprocess 10 financial datasets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144000" y="4498848"/>
            <a:ext cx="8412480" cy="694944"/>
            <a:chOff x="0" y="0"/>
            <a:chExt cx="11216640" cy="92659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216640" cy="926592"/>
            </a:xfrm>
            <a:custGeom>
              <a:avLst/>
              <a:gdLst/>
              <a:ahLst/>
              <a:cxnLst/>
              <a:rect r="r" b="b" t="t" l="l"/>
              <a:pathLst>
                <a:path h="9265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871" r="0" b="-18587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12166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0A5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  </a:t>
              </a: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 centralized relational database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144000" y="5285232"/>
            <a:ext cx="8412480" cy="694944"/>
            <a:chOff x="0" y="0"/>
            <a:chExt cx="11216640" cy="92659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216640" cy="926592"/>
            </a:xfrm>
            <a:custGeom>
              <a:avLst/>
              <a:gdLst/>
              <a:ahLst/>
              <a:cxnLst/>
              <a:rect r="r" b="b" t="t" l="l"/>
              <a:pathLst>
                <a:path h="9265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871" r="0" b="-18587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12166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0A5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  </a:t>
              </a: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Perform exploratory data analysis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144000" y="6071616"/>
            <a:ext cx="8412480" cy="694944"/>
            <a:chOff x="0" y="0"/>
            <a:chExt cx="11216640" cy="92659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216640" cy="926592"/>
            </a:xfrm>
            <a:custGeom>
              <a:avLst/>
              <a:gdLst/>
              <a:ahLst/>
              <a:cxnLst/>
              <a:rect r="r" b="b" t="t" l="l"/>
              <a:pathLst>
                <a:path h="9265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871" r="0" b="-18587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12166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0A5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5.  </a:t>
              </a: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Evaluate fund performance with advanced metrics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144000" y="6858000"/>
            <a:ext cx="8412480" cy="694944"/>
            <a:chOff x="0" y="0"/>
            <a:chExt cx="11216640" cy="92659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216640" cy="926592"/>
            </a:xfrm>
            <a:custGeom>
              <a:avLst/>
              <a:gdLst/>
              <a:ahLst/>
              <a:cxnLst/>
              <a:rect r="r" b="b" t="t" l="l"/>
              <a:pathLst>
                <a:path h="9265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871" r="0" b="-185871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12166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0A5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6.  </a:t>
              </a: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Analyze investor demographics &amp; behavior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144000" y="7644384"/>
            <a:ext cx="8412480" cy="694944"/>
            <a:chOff x="0" y="0"/>
            <a:chExt cx="11216640" cy="92659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216640" cy="926592"/>
            </a:xfrm>
            <a:custGeom>
              <a:avLst/>
              <a:gdLst/>
              <a:ahLst/>
              <a:cxnLst/>
              <a:rect r="r" b="b" t="t" l="l"/>
              <a:pathLst>
                <a:path h="9265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871" r="0" b="-185871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12166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0A5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7.  </a:t>
              </a: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Develop risk analytics models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144000" y="8430768"/>
            <a:ext cx="8412480" cy="694944"/>
            <a:chOff x="0" y="0"/>
            <a:chExt cx="11216640" cy="92659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216640" cy="926592"/>
            </a:xfrm>
            <a:custGeom>
              <a:avLst/>
              <a:gdLst/>
              <a:ahLst/>
              <a:cxnLst/>
              <a:rect r="r" b="b" t="t" l="l"/>
              <a:pathLst>
                <a:path h="9265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871" r="0" b="-185871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12166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0A5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8.  </a:t>
              </a: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Create 4 interactive dashboards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945643"/>
            <a:chOff x="0" y="0"/>
            <a:chExt cx="24417871" cy="25941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594229"/>
            </a:xfrm>
            <a:custGeom>
              <a:avLst/>
              <a:gdLst/>
              <a:ahLst/>
              <a:cxnLst/>
              <a:rect r="r" b="b" t="t" l="l"/>
              <a:pathLst>
                <a:path h="25942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0A2540"/>
            </a:solidFill>
            <a:ln w="25400" cap="sq">
              <a:solidFill>
                <a:srgbClr val="0A254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19456"/>
            <a:ext cx="14630400" cy="914400"/>
            <a:chOff x="0" y="0"/>
            <a:chExt cx="195072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1950720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Architecture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133856"/>
            <a:ext cx="14630400" cy="512064"/>
            <a:chOff x="0" y="0"/>
            <a:chExt cx="1950720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0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9507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End-to-End Analytics Pipeline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44503" y="2547623"/>
            <a:ext cx="2494283" cy="2860043"/>
            <a:chOff x="0" y="0"/>
            <a:chExt cx="3325711" cy="38133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25749" cy="3813429"/>
            </a:xfrm>
            <a:custGeom>
              <a:avLst/>
              <a:gdLst/>
              <a:ahLst/>
              <a:cxnLst/>
              <a:rect r="r" b="b" t="t" l="l"/>
              <a:pathLst>
                <a:path h="3813429" w="3325749">
                  <a:moveTo>
                    <a:pt x="0" y="246380"/>
                  </a:moveTo>
                  <a:cubicBezTo>
                    <a:pt x="0" y="110236"/>
                    <a:pt x="110236" y="0"/>
                    <a:pt x="246380" y="0"/>
                  </a:cubicBezTo>
                  <a:lnTo>
                    <a:pt x="3079369" y="0"/>
                  </a:lnTo>
                  <a:cubicBezTo>
                    <a:pt x="3215386" y="0"/>
                    <a:pt x="3325749" y="110236"/>
                    <a:pt x="3325749" y="246380"/>
                  </a:cubicBezTo>
                  <a:lnTo>
                    <a:pt x="3325749" y="3567049"/>
                  </a:lnTo>
                  <a:cubicBezTo>
                    <a:pt x="3325749" y="3703066"/>
                    <a:pt x="3215513" y="3813429"/>
                    <a:pt x="3079369" y="3813429"/>
                  </a:cubicBezTo>
                  <a:lnTo>
                    <a:pt x="246380" y="3813429"/>
                  </a:lnTo>
                  <a:cubicBezTo>
                    <a:pt x="110363" y="3813429"/>
                    <a:pt x="0" y="3703193"/>
                    <a:pt x="0" y="3567049"/>
                  </a:cubicBezTo>
                  <a:close/>
                </a:path>
              </a:pathLst>
            </a:custGeom>
            <a:solidFill>
              <a:srgbClr val="1565C0"/>
            </a:solidFill>
            <a:ln w="254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457200" y="2743200"/>
            <a:ext cx="2468880" cy="914400"/>
            <a:chOff x="0" y="0"/>
            <a:chExt cx="3291840" cy="1219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91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9" r="0" b="-260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329184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📂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48640" y="3657600"/>
            <a:ext cx="2286000" cy="694944"/>
            <a:chOff x="0" y="0"/>
            <a:chExt cx="3048000" cy="9265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048000" cy="926592"/>
            </a:xfrm>
            <a:custGeom>
              <a:avLst/>
              <a:gdLst/>
              <a:ahLst/>
              <a:cxnLst/>
              <a:rect r="r" b="b" t="t" l="l"/>
              <a:pathLst>
                <a:path h="92659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95" r="0" b="-1409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0480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Raw Data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8640" y="4352544"/>
            <a:ext cx="2286000" cy="822960"/>
            <a:chOff x="0" y="0"/>
            <a:chExt cx="3048000" cy="1097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4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304800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CSV Datasets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949959" y="3791207"/>
            <a:ext cx="391163" cy="135131"/>
            <a:chOff x="0" y="0"/>
            <a:chExt cx="521551" cy="1801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1589" cy="180213"/>
            </a:xfrm>
            <a:custGeom>
              <a:avLst/>
              <a:gdLst/>
              <a:ahLst/>
              <a:cxnLst/>
              <a:rect r="r" b="b" t="t" l="l"/>
              <a:pathLst>
                <a:path h="180213" w="521589">
                  <a:moveTo>
                    <a:pt x="0" y="0"/>
                  </a:moveTo>
                  <a:lnTo>
                    <a:pt x="521589" y="0"/>
                  </a:lnTo>
                  <a:lnTo>
                    <a:pt x="521589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1565C0"/>
            </a:solidFill>
            <a:ln w="254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3255264" y="3657600"/>
            <a:ext cx="365760" cy="402336"/>
            <a:chOff x="0" y="0"/>
            <a:chExt cx="487680" cy="5364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768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48768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565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370583" y="2547623"/>
            <a:ext cx="2494283" cy="2860043"/>
            <a:chOff x="0" y="0"/>
            <a:chExt cx="3325711" cy="38133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325749" cy="3813429"/>
            </a:xfrm>
            <a:custGeom>
              <a:avLst/>
              <a:gdLst/>
              <a:ahLst/>
              <a:cxnLst/>
              <a:rect r="r" b="b" t="t" l="l"/>
              <a:pathLst>
                <a:path h="3813429" w="3325749">
                  <a:moveTo>
                    <a:pt x="0" y="246380"/>
                  </a:moveTo>
                  <a:cubicBezTo>
                    <a:pt x="0" y="110236"/>
                    <a:pt x="110236" y="0"/>
                    <a:pt x="246380" y="0"/>
                  </a:cubicBezTo>
                  <a:lnTo>
                    <a:pt x="3079369" y="0"/>
                  </a:lnTo>
                  <a:cubicBezTo>
                    <a:pt x="3215386" y="0"/>
                    <a:pt x="3325749" y="110236"/>
                    <a:pt x="3325749" y="246380"/>
                  </a:cubicBezTo>
                  <a:lnTo>
                    <a:pt x="3325749" y="3567049"/>
                  </a:lnTo>
                  <a:cubicBezTo>
                    <a:pt x="3325749" y="3703066"/>
                    <a:pt x="3215513" y="3813429"/>
                    <a:pt x="3079369" y="3813429"/>
                  </a:cubicBezTo>
                  <a:lnTo>
                    <a:pt x="246380" y="3813429"/>
                  </a:lnTo>
                  <a:cubicBezTo>
                    <a:pt x="110363" y="3813429"/>
                    <a:pt x="0" y="3703193"/>
                    <a:pt x="0" y="3567049"/>
                  </a:cubicBezTo>
                  <a:close/>
                </a:path>
              </a:pathLst>
            </a:custGeom>
            <a:solidFill>
              <a:srgbClr val="1A5276"/>
            </a:solidFill>
            <a:ln w="25400" cap="sq">
              <a:solidFill>
                <a:srgbClr val="1A5276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3383280" y="2743200"/>
            <a:ext cx="2468880" cy="914400"/>
            <a:chOff x="0" y="0"/>
            <a:chExt cx="3291840" cy="1219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91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9" r="0" b="-260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76200"/>
              <a:ext cx="329184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🔧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474720" y="3657600"/>
            <a:ext cx="2286000" cy="694944"/>
            <a:chOff x="0" y="0"/>
            <a:chExt cx="3048000" cy="9265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048000" cy="926592"/>
            </a:xfrm>
            <a:custGeom>
              <a:avLst/>
              <a:gdLst/>
              <a:ahLst/>
              <a:cxnLst/>
              <a:rect r="r" b="b" t="t" l="l"/>
              <a:pathLst>
                <a:path h="92659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95" r="0" b="-1409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0480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Cleaning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474720" y="4352544"/>
            <a:ext cx="2286000" cy="822960"/>
            <a:chOff x="0" y="0"/>
            <a:chExt cx="304800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04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304800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Preprocessing &amp; Validation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876039" y="3791207"/>
            <a:ext cx="391163" cy="135131"/>
            <a:chOff x="0" y="0"/>
            <a:chExt cx="521551" cy="18017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21589" cy="180213"/>
            </a:xfrm>
            <a:custGeom>
              <a:avLst/>
              <a:gdLst/>
              <a:ahLst/>
              <a:cxnLst/>
              <a:rect r="r" b="b" t="t" l="l"/>
              <a:pathLst>
                <a:path h="180213" w="521589">
                  <a:moveTo>
                    <a:pt x="0" y="0"/>
                  </a:moveTo>
                  <a:lnTo>
                    <a:pt x="521589" y="0"/>
                  </a:lnTo>
                  <a:lnTo>
                    <a:pt x="521589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1565C0"/>
            </a:solidFill>
            <a:ln w="254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6181344" y="3657600"/>
            <a:ext cx="365760" cy="402336"/>
            <a:chOff x="0" y="0"/>
            <a:chExt cx="487680" cy="53644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8768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48768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565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296663" y="2547623"/>
            <a:ext cx="2494283" cy="2860043"/>
            <a:chOff x="0" y="0"/>
            <a:chExt cx="3325711" cy="381339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325749" cy="3813429"/>
            </a:xfrm>
            <a:custGeom>
              <a:avLst/>
              <a:gdLst/>
              <a:ahLst/>
              <a:cxnLst/>
              <a:rect r="r" b="b" t="t" l="l"/>
              <a:pathLst>
                <a:path h="3813429" w="3325749">
                  <a:moveTo>
                    <a:pt x="0" y="246380"/>
                  </a:moveTo>
                  <a:cubicBezTo>
                    <a:pt x="0" y="110236"/>
                    <a:pt x="110236" y="0"/>
                    <a:pt x="246380" y="0"/>
                  </a:cubicBezTo>
                  <a:lnTo>
                    <a:pt x="3079369" y="0"/>
                  </a:lnTo>
                  <a:cubicBezTo>
                    <a:pt x="3215386" y="0"/>
                    <a:pt x="3325749" y="110236"/>
                    <a:pt x="3325749" y="246380"/>
                  </a:cubicBezTo>
                  <a:lnTo>
                    <a:pt x="3325749" y="3567049"/>
                  </a:lnTo>
                  <a:cubicBezTo>
                    <a:pt x="3325749" y="3703066"/>
                    <a:pt x="3215513" y="3813429"/>
                    <a:pt x="3079369" y="3813429"/>
                  </a:cubicBezTo>
                  <a:lnTo>
                    <a:pt x="246380" y="3813429"/>
                  </a:lnTo>
                  <a:cubicBezTo>
                    <a:pt x="110363" y="3813429"/>
                    <a:pt x="0" y="3703193"/>
                    <a:pt x="0" y="3567049"/>
                  </a:cubicBezTo>
                  <a:close/>
                </a:path>
              </a:pathLst>
            </a:custGeom>
            <a:solidFill>
              <a:srgbClr val="0A2540"/>
            </a:solidFill>
            <a:ln w="25400" cap="sq">
              <a:solidFill>
                <a:srgbClr val="0A2540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6309360" y="2743200"/>
            <a:ext cx="2468880" cy="914400"/>
            <a:chOff x="0" y="0"/>
            <a:chExt cx="3291840" cy="1219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291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9" r="0" b="-260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76200"/>
              <a:ext cx="329184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🗄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400800" y="3657600"/>
            <a:ext cx="2286000" cy="694944"/>
            <a:chOff x="0" y="0"/>
            <a:chExt cx="3048000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048000" cy="926592"/>
            </a:xfrm>
            <a:custGeom>
              <a:avLst/>
              <a:gdLst/>
              <a:ahLst/>
              <a:cxnLst/>
              <a:rect r="r" b="b" t="t" l="l"/>
              <a:pathLst>
                <a:path h="92659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95" r="0" b="-1409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30480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SQLite DB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400800" y="4352544"/>
            <a:ext cx="2286000" cy="822960"/>
            <a:chOff x="0" y="0"/>
            <a:chExt cx="3048000" cy="1097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04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304800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Star Schema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802119" y="3791207"/>
            <a:ext cx="391163" cy="135131"/>
            <a:chOff x="0" y="0"/>
            <a:chExt cx="521551" cy="18017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21589" cy="180213"/>
            </a:xfrm>
            <a:custGeom>
              <a:avLst/>
              <a:gdLst/>
              <a:ahLst/>
              <a:cxnLst/>
              <a:rect r="r" b="b" t="t" l="l"/>
              <a:pathLst>
                <a:path h="180213" w="521589">
                  <a:moveTo>
                    <a:pt x="0" y="0"/>
                  </a:moveTo>
                  <a:lnTo>
                    <a:pt x="521589" y="0"/>
                  </a:lnTo>
                  <a:lnTo>
                    <a:pt x="521589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1565C0"/>
            </a:solidFill>
            <a:ln w="254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107424" y="3657600"/>
            <a:ext cx="365760" cy="402336"/>
            <a:chOff x="0" y="0"/>
            <a:chExt cx="487680" cy="53644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8768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48768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565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222743" y="2547623"/>
            <a:ext cx="2494283" cy="2860043"/>
            <a:chOff x="0" y="0"/>
            <a:chExt cx="3325711" cy="381339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325749" cy="3813429"/>
            </a:xfrm>
            <a:custGeom>
              <a:avLst/>
              <a:gdLst/>
              <a:ahLst/>
              <a:cxnLst/>
              <a:rect r="r" b="b" t="t" l="l"/>
              <a:pathLst>
                <a:path h="3813429" w="3325749">
                  <a:moveTo>
                    <a:pt x="0" y="246380"/>
                  </a:moveTo>
                  <a:cubicBezTo>
                    <a:pt x="0" y="110236"/>
                    <a:pt x="110236" y="0"/>
                    <a:pt x="246380" y="0"/>
                  </a:cubicBezTo>
                  <a:lnTo>
                    <a:pt x="3079369" y="0"/>
                  </a:lnTo>
                  <a:cubicBezTo>
                    <a:pt x="3215386" y="0"/>
                    <a:pt x="3325749" y="110236"/>
                    <a:pt x="3325749" y="246380"/>
                  </a:cubicBezTo>
                  <a:lnTo>
                    <a:pt x="3325749" y="3567049"/>
                  </a:lnTo>
                  <a:cubicBezTo>
                    <a:pt x="3325749" y="3703066"/>
                    <a:pt x="3215513" y="3813429"/>
                    <a:pt x="3079369" y="3813429"/>
                  </a:cubicBezTo>
                  <a:lnTo>
                    <a:pt x="246380" y="3813429"/>
                  </a:lnTo>
                  <a:cubicBezTo>
                    <a:pt x="110363" y="3813429"/>
                    <a:pt x="0" y="3703193"/>
                    <a:pt x="0" y="3567049"/>
                  </a:cubicBezTo>
                  <a:close/>
                </a:path>
              </a:pathLst>
            </a:custGeom>
            <a:solidFill>
              <a:srgbClr val="1A7A4A"/>
            </a:solidFill>
            <a:ln w="25400" cap="sq">
              <a:solidFill>
                <a:srgbClr val="1A7A4A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9235440" y="2743200"/>
            <a:ext cx="2468880" cy="914400"/>
            <a:chOff x="0" y="0"/>
            <a:chExt cx="3291840" cy="12192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291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9" r="0" b="-2609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76200"/>
              <a:ext cx="329184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🔍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326880" y="3657600"/>
            <a:ext cx="2286000" cy="694944"/>
            <a:chOff x="0" y="0"/>
            <a:chExt cx="3048000" cy="92659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048000" cy="926592"/>
            </a:xfrm>
            <a:custGeom>
              <a:avLst/>
              <a:gdLst/>
              <a:ahLst/>
              <a:cxnLst/>
              <a:rect r="r" b="b" t="t" l="l"/>
              <a:pathLst>
                <a:path h="92659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95" r="0" b="-1409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30480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EDA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326880" y="4352544"/>
            <a:ext cx="2286000" cy="822960"/>
            <a:chOff x="0" y="0"/>
            <a:chExt cx="3048000" cy="10972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04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304800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Trends &amp; Patterns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1728199" y="3791207"/>
            <a:ext cx="391163" cy="135131"/>
            <a:chOff x="0" y="0"/>
            <a:chExt cx="521551" cy="18017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21589" cy="180213"/>
            </a:xfrm>
            <a:custGeom>
              <a:avLst/>
              <a:gdLst/>
              <a:ahLst/>
              <a:cxnLst/>
              <a:rect r="r" b="b" t="t" l="l"/>
              <a:pathLst>
                <a:path h="180213" w="521589">
                  <a:moveTo>
                    <a:pt x="0" y="0"/>
                  </a:moveTo>
                  <a:lnTo>
                    <a:pt x="521589" y="0"/>
                  </a:lnTo>
                  <a:lnTo>
                    <a:pt x="521589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1565C0"/>
            </a:solidFill>
            <a:ln w="254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2033504" y="3657600"/>
            <a:ext cx="365760" cy="402336"/>
            <a:chOff x="0" y="0"/>
            <a:chExt cx="487680" cy="53644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8768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48768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565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148823" y="2547623"/>
            <a:ext cx="2494283" cy="2860043"/>
            <a:chOff x="0" y="0"/>
            <a:chExt cx="3325711" cy="381339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325749" cy="3813429"/>
            </a:xfrm>
            <a:custGeom>
              <a:avLst/>
              <a:gdLst/>
              <a:ahLst/>
              <a:cxnLst/>
              <a:rect r="r" b="b" t="t" l="l"/>
              <a:pathLst>
                <a:path h="3813429" w="3325749">
                  <a:moveTo>
                    <a:pt x="0" y="246380"/>
                  </a:moveTo>
                  <a:cubicBezTo>
                    <a:pt x="0" y="110236"/>
                    <a:pt x="110236" y="0"/>
                    <a:pt x="246380" y="0"/>
                  </a:cubicBezTo>
                  <a:lnTo>
                    <a:pt x="3079369" y="0"/>
                  </a:lnTo>
                  <a:cubicBezTo>
                    <a:pt x="3215386" y="0"/>
                    <a:pt x="3325749" y="110236"/>
                    <a:pt x="3325749" y="246380"/>
                  </a:cubicBezTo>
                  <a:lnTo>
                    <a:pt x="3325749" y="3567049"/>
                  </a:lnTo>
                  <a:cubicBezTo>
                    <a:pt x="3325749" y="3703066"/>
                    <a:pt x="3215513" y="3813429"/>
                    <a:pt x="3079369" y="3813429"/>
                  </a:cubicBezTo>
                  <a:lnTo>
                    <a:pt x="246380" y="3813429"/>
                  </a:lnTo>
                  <a:cubicBezTo>
                    <a:pt x="110363" y="3813429"/>
                    <a:pt x="0" y="3703193"/>
                    <a:pt x="0" y="3567049"/>
                  </a:cubicBezTo>
                  <a:close/>
                </a:path>
              </a:pathLst>
            </a:custGeom>
            <a:solidFill>
              <a:srgbClr val="B7770D"/>
            </a:solidFill>
            <a:ln w="25400" cap="sq">
              <a:solidFill>
                <a:srgbClr val="B7770D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2161520" y="2743200"/>
            <a:ext cx="2468880" cy="914400"/>
            <a:chOff x="0" y="0"/>
            <a:chExt cx="3291840" cy="12192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291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9" r="0" b="-2609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76200"/>
              <a:ext cx="329184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📈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2252960" y="3657600"/>
            <a:ext cx="2286000" cy="694944"/>
            <a:chOff x="0" y="0"/>
            <a:chExt cx="3048000" cy="92659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048000" cy="926592"/>
            </a:xfrm>
            <a:custGeom>
              <a:avLst/>
              <a:gdLst/>
              <a:ahLst/>
              <a:cxnLst/>
              <a:rect r="r" b="b" t="t" l="l"/>
              <a:pathLst>
                <a:path h="92659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95" r="0" b="-14095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30480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Analytics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2252960" y="4352544"/>
            <a:ext cx="2286000" cy="822960"/>
            <a:chOff x="0" y="0"/>
            <a:chExt cx="3048000" cy="10972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04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304800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Performance &amp; Risk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4654279" y="3791207"/>
            <a:ext cx="391163" cy="135131"/>
            <a:chOff x="0" y="0"/>
            <a:chExt cx="521551" cy="180175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21589" cy="180213"/>
            </a:xfrm>
            <a:custGeom>
              <a:avLst/>
              <a:gdLst/>
              <a:ahLst/>
              <a:cxnLst/>
              <a:rect r="r" b="b" t="t" l="l"/>
              <a:pathLst>
                <a:path h="180213" w="521589">
                  <a:moveTo>
                    <a:pt x="0" y="0"/>
                  </a:moveTo>
                  <a:lnTo>
                    <a:pt x="521589" y="0"/>
                  </a:lnTo>
                  <a:lnTo>
                    <a:pt x="521589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1565C0"/>
            </a:solidFill>
            <a:ln w="254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4959584" y="3657600"/>
            <a:ext cx="365760" cy="402336"/>
            <a:chOff x="0" y="0"/>
            <a:chExt cx="487680" cy="53644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8768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47625"/>
              <a:ext cx="48768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565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5074903" y="2547623"/>
            <a:ext cx="2494283" cy="2860043"/>
            <a:chOff x="0" y="0"/>
            <a:chExt cx="3325711" cy="381339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325749" cy="3813429"/>
            </a:xfrm>
            <a:custGeom>
              <a:avLst/>
              <a:gdLst/>
              <a:ahLst/>
              <a:cxnLst/>
              <a:rect r="r" b="b" t="t" l="l"/>
              <a:pathLst>
                <a:path h="3813429" w="3325749">
                  <a:moveTo>
                    <a:pt x="0" y="246380"/>
                  </a:moveTo>
                  <a:cubicBezTo>
                    <a:pt x="0" y="110236"/>
                    <a:pt x="110236" y="0"/>
                    <a:pt x="246380" y="0"/>
                  </a:cubicBezTo>
                  <a:lnTo>
                    <a:pt x="3079369" y="0"/>
                  </a:lnTo>
                  <a:cubicBezTo>
                    <a:pt x="3215386" y="0"/>
                    <a:pt x="3325749" y="110236"/>
                    <a:pt x="3325749" y="246380"/>
                  </a:cubicBezTo>
                  <a:lnTo>
                    <a:pt x="3325749" y="3567049"/>
                  </a:lnTo>
                  <a:cubicBezTo>
                    <a:pt x="3325749" y="3703066"/>
                    <a:pt x="3215513" y="3813429"/>
                    <a:pt x="3079369" y="3813429"/>
                  </a:cubicBezTo>
                  <a:lnTo>
                    <a:pt x="246380" y="3813429"/>
                  </a:lnTo>
                  <a:cubicBezTo>
                    <a:pt x="110363" y="3813429"/>
                    <a:pt x="0" y="3703193"/>
                    <a:pt x="0" y="3567049"/>
                  </a:cubicBezTo>
                  <a:close/>
                </a:path>
              </a:pathLst>
            </a:custGeom>
            <a:solidFill>
              <a:srgbClr val="8B1A1A"/>
            </a:solidFill>
            <a:ln w="25400" cap="sq">
              <a:solidFill>
                <a:srgbClr val="8B1A1A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5087600" y="2743200"/>
            <a:ext cx="2468880" cy="914400"/>
            <a:chOff x="0" y="0"/>
            <a:chExt cx="3291840" cy="12192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291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9" r="0" b="-2609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76200"/>
              <a:ext cx="329184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📊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5179040" y="3657600"/>
            <a:ext cx="2286000" cy="694944"/>
            <a:chOff x="0" y="0"/>
            <a:chExt cx="3048000" cy="92659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048000" cy="926592"/>
            </a:xfrm>
            <a:custGeom>
              <a:avLst/>
              <a:gdLst/>
              <a:ahLst/>
              <a:cxnLst/>
              <a:rect r="r" b="b" t="t" l="l"/>
              <a:pathLst>
                <a:path h="92659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95" r="0" b="-1409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30480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Tableu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5179040" y="4352544"/>
            <a:ext cx="2286000" cy="822960"/>
            <a:chOff x="0" y="0"/>
            <a:chExt cx="3048000" cy="109728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04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28575"/>
              <a:ext cx="304800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Dashboards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5087600" y="5669280"/>
            <a:ext cx="2468880" cy="548640"/>
            <a:chOff x="0" y="0"/>
            <a:chExt cx="3291840" cy="73152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32918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8B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Insights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35943" y="5748023"/>
            <a:ext cx="17216123" cy="702059"/>
            <a:chOff x="0" y="0"/>
            <a:chExt cx="22954831" cy="936079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2954869" cy="936117"/>
            </a:xfrm>
            <a:custGeom>
              <a:avLst/>
              <a:gdLst/>
              <a:ahLst/>
              <a:cxnLst/>
              <a:rect r="r" b="b" t="t" l="l"/>
              <a:pathLst>
                <a:path h="936117" w="22954869">
                  <a:moveTo>
                    <a:pt x="0" y="126492"/>
                  </a:moveTo>
                  <a:cubicBezTo>
                    <a:pt x="0" y="56642"/>
                    <a:pt x="56642" y="0"/>
                    <a:pt x="126492" y="0"/>
                  </a:cubicBezTo>
                  <a:lnTo>
                    <a:pt x="22828377" y="0"/>
                  </a:lnTo>
                  <a:cubicBezTo>
                    <a:pt x="22898227" y="0"/>
                    <a:pt x="22954869" y="56642"/>
                    <a:pt x="22954869" y="126492"/>
                  </a:cubicBezTo>
                  <a:lnTo>
                    <a:pt x="22954869" y="809625"/>
                  </a:lnTo>
                  <a:cubicBezTo>
                    <a:pt x="22954869" y="879475"/>
                    <a:pt x="22898227" y="936117"/>
                    <a:pt x="22828377" y="936117"/>
                  </a:cubicBezTo>
                  <a:lnTo>
                    <a:pt x="126492" y="936117"/>
                  </a:lnTo>
                  <a:cubicBezTo>
                    <a:pt x="56642" y="936117"/>
                    <a:pt x="0" y="879475"/>
                    <a:pt x="0" y="809625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106" id="106"/>
          <p:cNvGrpSpPr/>
          <p:nvPr/>
        </p:nvGrpSpPr>
        <p:grpSpPr>
          <a:xfrm rot="0">
            <a:off x="914400" y="5815584"/>
            <a:ext cx="16459200" cy="548640"/>
            <a:chOff x="0" y="0"/>
            <a:chExt cx="21945600" cy="73152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Layer  </a:t>
              </a: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Raw CSVs: Fund Master, NAV, AUM, SIP, Benchmark, Transactions, Portfolio, Performance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535943" y="6552695"/>
            <a:ext cx="17216123" cy="702059"/>
            <a:chOff x="0" y="0"/>
            <a:chExt cx="22954831" cy="936079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2954869" cy="936117"/>
            </a:xfrm>
            <a:custGeom>
              <a:avLst/>
              <a:gdLst/>
              <a:ahLst/>
              <a:cxnLst/>
              <a:rect r="r" b="b" t="t" l="l"/>
              <a:pathLst>
                <a:path h="936117" w="22954869">
                  <a:moveTo>
                    <a:pt x="0" y="126492"/>
                  </a:moveTo>
                  <a:cubicBezTo>
                    <a:pt x="0" y="56642"/>
                    <a:pt x="56642" y="0"/>
                    <a:pt x="126492" y="0"/>
                  </a:cubicBezTo>
                  <a:lnTo>
                    <a:pt x="22828377" y="0"/>
                  </a:lnTo>
                  <a:cubicBezTo>
                    <a:pt x="22898227" y="0"/>
                    <a:pt x="22954869" y="56642"/>
                    <a:pt x="22954869" y="126492"/>
                  </a:cubicBezTo>
                  <a:lnTo>
                    <a:pt x="22954869" y="809625"/>
                  </a:lnTo>
                  <a:cubicBezTo>
                    <a:pt x="22954869" y="879475"/>
                    <a:pt x="22898227" y="936117"/>
                    <a:pt x="22828377" y="936117"/>
                  </a:cubicBezTo>
                  <a:lnTo>
                    <a:pt x="126492" y="936117"/>
                  </a:lnTo>
                  <a:cubicBezTo>
                    <a:pt x="56642" y="936117"/>
                    <a:pt x="0" y="879475"/>
                    <a:pt x="0" y="809625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111" id="111"/>
          <p:cNvGrpSpPr/>
          <p:nvPr/>
        </p:nvGrpSpPr>
        <p:grpSpPr>
          <a:xfrm rot="0">
            <a:off x="914400" y="6620256"/>
            <a:ext cx="16459200" cy="548640"/>
            <a:chOff x="0" y="0"/>
            <a:chExt cx="21945600" cy="73152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Engineering Layer  </a:t>
              </a: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Missing value treatment, date standardization, duplicate removal, feature engineering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535943" y="7357367"/>
            <a:ext cx="17216123" cy="702059"/>
            <a:chOff x="0" y="0"/>
            <a:chExt cx="22954831" cy="936079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2954869" cy="936117"/>
            </a:xfrm>
            <a:custGeom>
              <a:avLst/>
              <a:gdLst/>
              <a:ahLst/>
              <a:cxnLst/>
              <a:rect r="r" b="b" t="t" l="l"/>
              <a:pathLst>
                <a:path h="936117" w="22954869">
                  <a:moveTo>
                    <a:pt x="0" y="126492"/>
                  </a:moveTo>
                  <a:cubicBezTo>
                    <a:pt x="0" y="56642"/>
                    <a:pt x="56642" y="0"/>
                    <a:pt x="126492" y="0"/>
                  </a:cubicBezTo>
                  <a:lnTo>
                    <a:pt x="22828377" y="0"/>
                  </a:lnTo>
                  <a:cubicBezTo>
                    <a:pt x="22898227" y="0"/>
                    <a:pt x="22954869" y="56642"/>
                    <a:pt x="22954869" y="126492"/>
                  </a:cubicBezTo>
                  <a:lnTo>
                    <a:pt x="22954869" y="809625"/>
                  </a:lnTo>
                  <a:cubicBezTo>
                    <a:pt x="22954869" y="879475"/>
                    <a:pt x="22898227" y="936117"/>
                    <a:pt x="22828377" y="936117"/>
                  </a:cubicBezTo>
                  <a:lnTo>
                    <a:pt x="126492" y="936117"/>
                  </a:lnTo>
                  <a:cubicBezTo>
                    <a:pt x="56642" y="936117"/>
                    <a:pt x="0" y="879475"/>
                    <a:pt x="0" y="809625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116" id="116"/>
          <p:cNvGrpSpPr/>
          <p:nvPr/>
        </p:nvGrpSpPr>
        <p:grpSpPr>
          <a:xfrm rot="0">
            <a:off x="914400" y="7424928"/>
            <a:ext cx="16459200" cy="548640"/>
            <a:chOff x="0" y="0"/>
            <a:chExt cx="21945600" cy="73152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 Layer  </a:t>
              </a: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SQLite star-schema: dim_fund, dim_date, fact_nav, fact_aum, fact_transactions, fact_performance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535943" y="8162039"/>
            <a:ext cx="17216123" cy="702059"/>
            <a:chOff x="0" y="0"/>
            <a:chExt cx="22954831" cy="936079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2954869" cy="936117"/>
            </a:xfrm>
            <a:custGeom>
              <a:avLst/>
              <a:gdLst/>
              <a:ahLst/>
              <a:cxnLst/>
              <a:rect r="r" b="b" t="t" l="l"/>
              <a:pathLst>
                <a:path h="936117" w="22954869">
                  <a:moveTo>
                    <a:pt x="0" y="126492"/>
                  </a:moveTo>
                  <a:cubicBezTo>
                    <a:pt x="0" y="56642"/>
                    <a:pt x="56642" y="0"/>
                    <a:pt x="126492" y="0"/>
                  </a:cubicBezTo>
                  <a:lnTo>
                    <a:pt x="22828377" y="0"/>
                  </a:lnTo>
                  <a:cubicBezTo>
                    <a:pt x="22898227" y="0"/>
                    <a:pt x="22954869" y="56642"/>
                    <a:pt x="22954869" y="126492"/>
                  </a:cubicBezTo>
                  <a:lnTo>
                    <a:pt x="22954869" y="809625"/>
                  </a:lnTo>
                  <a:cubicBezTo>
                    <a:pt x="22954869" y="879475"/>
                    <a:pt x="22898227" y="936117"/>
                    <a:pt x="22828377" y="936117"/>
                  </a:cubicBezTo>
                  <a:lnTo>
                    <a:pt x="126492" y="936117"/>
                  </a:lnTo>
                  <a:cubicBezTo>
                    <a:pt x="56642" y="936117"/>
                    <a:pt x="0" y="879475"/>
                    <a:pt x="0" y="809625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121" id="121"/>
          <p:cNvGrpSpPr/>
          <p:nvPr/>
        </p:nvGrpSpPr>
        <p:grpSpPr>
          <a:xfrm rot="0">
            <a:off x="914400" y="8229600"/>
            <a:ext cx="16459200" cy="548640"/>
            <a:chOff x="0" y="0"/>
            <a:chExt cx="21945600" cy="73152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Analytics Layer  </a:t>
              </a: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Performance metrics, risk models, investor segmentation, cohort analysis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535943" y="8966711"/>
            <a:ext cx="17216123" cy="702059"/>
            <a:chOff x="0" y="0"/>
            <a:chExt cx="22954831" cy="936079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2954869" cy="936117"/>
            </a:xfrm>
            <a:custGeom>
              <a:avLst/>
              <a:gdLst/>
              <a:ahLst/>
              <a:cxnLst/>
              <a:rect r="r" b="b" t="t" l="l"/>
              <a:pathLst>
                <a:path h="936117" w="22954869">
                  <a:moveTo>
                    <a:pt x="0" y="126492"/>
                  </a:moveTo>
                  <a:cubicBezTo>
                    <a:pt x="0" y="56642"/>
                    <a:pt x="56642" y="0"/>
                    <a:pt x="126492" y="0"/>
                  </a:cubicBezTo>
                  <a:lnTo>
                    <a:pt x="22828377" y="0"/>
                  </a:lnTo>
                  <a:cubicBezTo>
                    <a:pt x="22898227" y="0"/>
                    <a:pt x="22954869" y="56642"/>
                    <a:pt x="22954869" y="126492"/>
                  </a:cubicBezTo>
                  <a:lnTo>
                    <a:pt x="22954869" y="809625"/>
                  </a:lnTo>
                  <a:cubicBezTo>
                    <a:pt x="22954869" y="879475"/>
                    <a:pt x="22898227" y="936117"/>
                    <a:pt x="22828377" y="936117"/>
                  </a:cubicBezTo>
                  <a:lnTo>
                    <a:pt x="126492" y="936117"/>
                  </a:lnTo>
                  <a:cubicBezTo>
                    <a:pt x="56642" y="936117"/>
                    <a:pt x="0" y="879475"/>
                    <a:pt x="0" y="809625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126" id="126"/>
          <p:cNvGrpSpPr/>
          <p:nvPr/>
        </p:nvGrpSpPr>
        <p:grpSpPr>
          <a:xfrm rot="0">
            <a:off x="914400" y="9034272"/>
            <a:ext cx="16459200" cy="548640"/>
            <a:chOff x="0" y="0"/>
            <a:chExt cx="21945600" cy="73152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Visualization Layer  </a:t>
              </a: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Tableu dashboards covering Industry, Performance, Investors, SIP &amp; Market Trends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945643"/>
            <a:chOff x="0" y="0"/>
            <a:chExt cx="24417871" cy="25941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594229"/>
            </a:xfrm>
            <a:custGeom>
              <a:avLst/>
              <a:gdLst/>
              <a:ahLst/>
              <a:cxnLst/>
              <a:rect r="r" b="b" t="t" l="l"/>
              <a:pathLst>
                <a:path h="25942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0D3461"/>
            </a:solidFill>
            <a:ln w="25400" cap="sq">
              <a:solidFill>
                <a:srgbClr val="0D346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19456"/>
            <a:ext cx="14630400" cy="914400"/>
            <a:chOff x="0" y="0"/>
            <a:chExt cx="195072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1950720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Overview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133856"/>
            <a:ext cx="14630400" cy="512064"/>
            <a:chOff x="0" y="0"/>
            <a:chExt cx="1950720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0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9507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10 Financial Datasets | 2022–2026 Coverage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2090423"/>
            <a:ext cx="3683003" cy="1579883"/>
            <a:chOff x="0" y="0"/>
            <a:chExt cx="4910671" cy="21065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10709" cy="2106549"/>
            </a:xfrm>
            <a:custGeom>
              <a:avLst/>
              <a:gdLst/>
              <a:ahLst/>
              <a:cxnLst/>
              <a:rect r="r" b="b" t="t" l="l"/>
              <a:pathLst>
                <a:path h="2106549" w="4910709">
                  <a:moveTo>
                    <a:pt x="0" y="198247"/>
                  </a:moveTo>
                  <a:cubicBezTo>
                    <a:pt x="0" y="88773"/>
                    <a:pt x="88773" y="0"/>
                    <a:pt x="198247" y="0"/>
                  </a:cubicBezTo>
                  <a:lnTo>
                    <a:pt x="4712462" y="0"/>
                  </a:lnTo>
                  <a:cubicBezTo>
                    <a:pt x="4821936" y="0"/>
                    <a:pt x="4910709" y="88773"/>
                    <a:pt x="4910709" y="198247"/>
                  </a:cubicBezTo>
                  <a:lnTo>
                    <a:pt x="4910709" y="1908302"/>
                  </a:lnTo>
                  <a:cubicBezTo>
                    <a:pt x="4910709" y="2017776"/>
                    <a:pt x="4821936" y="2106549"/>
                    <a:pt x="4712462" y="2106549"/>
                  </a:cubicBezTo>
                  <a:lnTo>
                    <a:pt x="198247" y="2106549"/>
                  </a:lnTo>
                  <a:cubicBezTo>
                    <a:pt x="88773" y="2106549"/>
                    <a:pt x="0" y="2017776"/>
                    <a:pt x="0" y="1908302"/>
                  </a:cubicBezTo>
                  <a:close/>
                </a:path>
              </a:pathLst>
            </a:custGeom>
            <a:solidFill>
              <a:srgbClr val="1565C0"/>
            </a:solidFill>
            <a:ln w="254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2139696"/>
            <a:ext cx="3657600" cy="822960"/>
            <a:chOff x="0" y="0"/>
            <a:chExt cx="487680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7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48768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2926080"/>
            <a:ext cx="3657600" cy="548640"/>
            <a:chOff x="0" y="0"/>
            <a:chExt cx="487680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7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876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071367" y="2090423"/>
            <a:ext cx="3683003" cy="1579883"/>
            <a:chOff x="0" y="0"/>
            <a:chExt cx="4910671" cy="21065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10709" cy="2106549"/>
            </a:xfrm>
            <a:custGeom>
              <a:avLst/>
              <a:gdLst/>
              <a:ahLst/>
              <a:cxnLst/>
              <a:rect r="r" b="b" t="t" l="l"/>
              <a:pathLst>
                <a:path h="2106549" w="4910709">
                  <a:moveTo>
                    <a:pt x="0" y="198247"/>
                  </a:moveTo>
                  <a:cubicBezTo>
                    <a:pt x="0" y="88773"/>
                    <a:pt x="88773" y="0"/>
                    <a:pt x="198247" y="0"/>
                  </a:cubicBezTo>
                  <a:lnTo>
                    <a:pt x="4712462" y="0"/>
                  </a:lnTo>
                  <a:cubicBezTo>
                    <a:pt x="4821936" y="0"/>
                    <a:pt x="4910709" y="88773"/>
                    <a:pt x="4910709" y="198247"/>
                  </a:cubicBezTo>
                  <a:lnTo>
                    <a:pt x="4910709" y="1908302"/>
                  </a:lnTo>
                  <a:cubicBezTo>
                    <a:pt x="4910709" y="2017776"/>
                    <a:pt x="4821936" y="2106549"/>
                    <a:pt x="4712462" y="2106549"/>
                  </a:cubicBezTo>
                  <a:lnTo>
                    <a:pt x="198247" y="2106549"/>
                  </a:lnTo>
                  <a:cubicBezTo>
                    <a:pt x="88773" y="2106549"/>
                    <a:pt x="0" y="2017776"/>
                    <a:pt x="0" y="1908302"/>
                  </a:cubicBezTo>
                  <a:close/>
                </a:path>
              </a:pathLst>
            </a:custGeom>
            <a:solidFill>
              <a:srgbClr val="1565C0"/>
            </a:solidFill>
            <a:ln w="254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5084064" y="2139696"/>
            <a:ext cx="3657600" cy="822960"/>
            <a:chOff x="0" y="0"/>
            <a:chExt cx="487680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7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48768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yrs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084064" y="2926080"/>
            <a:ext cx="3657600" cy="548640"/>
            <a:chOff x="0" y="0"/>
            <a:chExt cx="487680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7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876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Time Range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241031" y="2090423"/>
            <a:ext cx="3683003" cy="1579883"/>
            <a:chOff x="0" y="0"/>
            <a:chExt cx="4910671" cy="21065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10709" cy="2106549"/>
            </a:xfrm>
            <a:custGeom>
              <a:avLst/>
              <a:gdLst/>
              <a:ahLst/>
              <a:cxnLst/>
              <a:rect r="r" b="b" t="t" l="l"/>
              <a:pathLst>
                <a:path h="2106549" w="4910709">
                  <a:moveTo>
                    <a:pt x="0" y="198247"/>
                  </a:moveTo>
                  <a:cubicBezTo>
                    <a:pt x="0" y="88773"/>
                    <a:pt x="88773" y="0"/>
                    <a:pt x="198247" y="0"/>
                  </a:cubicBezTo>
                  <a:lnTo>
                    <a:pt x="4712462" y="0"/>
                  </a:lnTo>
                  <a:cubicBezTo>
                    <a:pt x="4821936" y="0"/>
                    <a:pt x="4910709" y="88773"/>
                    <a:pt x="4910709" y="198247"/>
                  </a:cubicBezTo>
                  <a:lnTo>
                    <a:pt x="4910709" y="1908302"/>
                  </a:lnTo>
                  <a:cubicBezTo>
                    <a:pt x="4910709" y="2017776"/>
                    <a:pt x="4821936" y="2106549"/>
                    <a:pt x="4712462" y="2106549"/>
                  </a:cubicBezTo>
                  <a:lnTo>
                    <a:pt x="198247" y="2106549"/>
                  </a:lnTo>
                  <a:cubicBezTo>
                    <a:pt x="88773" y="2106549"/>
                    <a:pt x="0" y="2017776"/>
                    <a:pt x="0" y="1908302"/>
                  </a:cubicBezTo>
                  <a:close/>
                </a:path>
              </a:pathLst>
            </a:custGeom>
            <a:solidFill>
              <a:srgbClr val="1565C0"/>
            </a:solidFill>
            <a:ln w="254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253728" y="2139696"/>
            <a:ext cx="3657600" cy="822960"/>
            <a:chOff x="0" y="0"/>
            <a:chExt cx="487680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87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76200"/>
              <a:ext cx="48768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253728" y="2926080"/>
            <a:ext cx="3657600" cy="548640"/>
            <a:chOff x="0" y="0"/>
            <a:chExt cx="487680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87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876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Dim/Fact Tables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410695" y="2090423"/>
            <a:ext cx="3683003" cy="1579883"/>
            <a:chOff x="0" y="0"/>
            <a:chExt cx="4910671" cy="210651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910709" cy="2106549"/>
            </a:xfrm>
            <a:custGeom>
              <a:avLst/>
              <a:gdLst/>
              <a:ahLst/>
              <a:cxnLst/>
              <a:rect r="r" b="b" t="t" l="l"/>
              <a:pathLst>
                <a:path h="2106549" w="4910709">
                  <a:moveTo>
                    <a:pt x="0" y="198247"/>
                  </a:moveTo>
                  <a:cubicBezTo>
                    <a:pt x="0" y="88773"/>
                    <a:pt x="88773" y="0"/>
                    <a:pt x="198247" y="0"/>
                  </a:cubicBezTo>
                  <a:lnTo>
                    <a:pt x="4712462" y="0"/>
                  </a:lnTo>
                  <a:cubicBezTo>
                    <a:pt x="4821936" y="0"/>
                    <a:pt x="4910709" y="88773"/>
                    <a:pt x="4910709" y="198247"/>
                  </a:cubicBezTo>
                  <a:lnTo>
                    <a:pt x="4910709" y="1908302"/>
                  </a:lnTo>
                  <a:cubicBezTo>
                    <a:pt x="4910709" y="2017776"/>
                    <a:pt x="4821936" y="2106549"/>
                    <a:pt x="4712462" y="2106549"/>
                  </a:cubicBezTo>
                  <a:lnTo>
                    <a:pt x="198247" y="2106549"/>
                  </a:lnTo>
                  <a:cubicBezTo>
                    <a:pt x="88773" y="2106549"/>
                    <a:pt x="0" y="2017776"/>
                    <a:pt x="0" y="1908302"/>
                  </a:cubicBezTo>
                  <a:close/>
                </a:path>
              </a:pathLst>
            </a:custGeom>
            <a:solidFill>
              <a:srgbClr val="1565C0"/>
            </a:solidFill>
            <a:ln w="254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3423392" y="2139696"/>
            <a:ext cx="3657600" cy="822960"/>
            <a:chOff x="0" y="0"/>
            <a:chExt cx="4876800" cy="1097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87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76200"/>
              <a:ext cx="48768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Star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423392" y="2926080"/>
            <a:ext cx="3657600" cy="548640"/>
            <a:chOff x="0" y="0"/>
            <a:chExt cx="487680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87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4876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Schema</a:t>
              </a:r>
            </a:p>
          </p:txBody>
        </p:sp>
      </p:grpSp>
      <p:graphicFrame>
        <p:nvGraphicFramePr>
          <p:cNvPr name="Table 42" id="42"/>
          <p:cNvGraphicFramePr>
            <a:graphicFrameLocks noGrp="true"/>
          </p:cNvGraphicFramePr>
          <p:nvPr/>
        </p:nvGraphicFramePr>
        <p:xfrm>
          <a:off x="548640" y="3840480"/>
          <a:ext cx="17170400" cy="5943600"/>
        </p:xfrm>
        <a:graphic>
          <a:graphicData uri="http://schemas.openxmlformats.org/drawingml/2006/table">
            <a:tbl>
              <a:tblPr/>
              <a:tblGrid>
                <a:gridCol w="2934982"/>
                <a:gridCol w="6390278"/>
                <a:gridCol w="7845140"/>
              </a:tblGrid>
              <a:tr h="660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Dataset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Description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Key Columns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Fund Master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Scheme info, categories, fund houses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AMFI Code, Fund House, Category, Plan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NAV History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Daily NAV for all schemes 2022–2026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Scheme ID, Date, NAV Value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AUM Data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Assets under management by fund house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Fund House, Month, AUM (₹ Crore)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SIP Dataset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Monthly SIP contributions &amp; inflows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Month, SIP Amount, Folios, Net Flows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Benchmark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Nifty 50 &amp; Nifty 100 index history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Date, Index, Close Value, Returns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Transactions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Investor-level transaction records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Investor ID, Scheme, Amount, Type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Portfolio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Sector allocation &amp; holdings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Scheme, Sector, Allocation %, Holdings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Performance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Returns, Sharpe, volatility metrics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Scheme ID, CAGR, Sharpe, Alpha, Beta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945643"/>
            <a:chOff x="0" y="0"/>
            <a:chExt cx="24417871" cy="25941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594229"/>
            </a:xfrm>
            <a:custGeom>
              <a:avLst/>
              <a:gdLst/>
              <a:ahLst/>
              <a:cxnLst/>
              <a:rect r="r" b="b" t="t" l="l"/>
              <a:pathLst>
                <a:path h="25942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0A2540"/>
            </a:solidFill>
            <a:ln w="25400" cap="sq">
              <a:solidFill>
                <a:srgbClr val="0A254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19456"/>
            <a:ext cx="14630400" cy="914400"/>
            <a:chOff x="0" y="0"/>
            <a:chExt cx="195072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1950720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Cleaning &amp; Database Design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133856"/>
            <a:ext cx="14630400" cy="512064"/>
            <a:chOff x="0" y="0"/>
            <a:chExt cx="1950720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0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9507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Preprocessing Pipeline &amp; Star Schema Architecture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1520" y="2103120"/>
            <a:ext cx="8229600" cy="640080"/>
            <a:chOff x="0" y="0"/>
            <a:chExt cx="10972800" cy="853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9728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Preprocessing Steps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18823" y="2821943"/>
            <a:ext cx="8072123" cy="1159259"/>
            <a:chOff x="0" y="0"/>
            <a:chExt cx="10762831" cy="15456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62742" cy="1545590"/>
            </a:xfrm>
            <a:custGeom>
              <a:avLst/>
              <a:gdLst/>
              <a:ahLst/>
              <a:cxnLst/>
              <a:rect r="r" b="b" t="t" l="l"/>
              <a:pathLst>
                <a:path h="1545590" w="10762742">
                  <a:moveTo>
                    <a:pt x="0" y="199390"/>
                  </a:moveTo>
                  <a:cubicBezTo>
                    <a:pt x="0" y="89281"/>
                    <a:pt x="89281" y="0"/>
                    <a:pt x="199390" y="0"/>
                  </a:cubicBezTo>
                  <a:lnTo>
                    <a:pt x="10563352" y="0"/>
                  </a:lnTo>
                  <a:cubicBezTo>
                    <a:pt x="10673461" y="0"/>
                    <a:pt x="10762742" y="89281"/>
                    <a:pt x="10762742" y="199390"/>
                  </a:cubicBezTo>
                  <a:lnTo>
                    <a:pt x="10762742" y="1346200"/>
                  </a:lnTo>
                  <a:cubicBezTo>
                    <a:pt x="10762742" y="1456309"/>
                    <a:pt x="10673461" y="1545590"/>
                    <a:pt x="10563352" y="1545590"/>
                  </a:cubicBezTo>
                  <a:lnTo>
                    <a:pt x="199390" y="1545590"/>
                  </a:lnTo>
                  <a:cubicBezTo>
                    <a:pt x="89281" y="1545717"/>
                    <a:pt x="0" y="1456436"/>
                    <a:pt x="0" y="1346200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97280" y="2907792"/>
            <a:ext cx="7132320" cy="512064"/>
            <a:chOff x="0" y="0"/>
            <a:chExt cx="9509760" cy="6827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09760" cy="682752"/>
            </a:xfrm>
            <a:custGeom>
              <a:avLst/>
              <a:gdLst/>
              <a:ahLst/>
              <a:cxnLst/>
              <a:rect r="r" b="b" t="t" l="l"/>
              <a:pathLst>
                <a:path h="68275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398" r="0" b="-22139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509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Missing Values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97280" y="3383280"/>
            <a:ext cx="7132320" cy="475488"/>
            <a:chOff x="0" y="0"/>
            <a:chExt cx="9509760" cy="6339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09760" cy="633984"/>
            </a:xfrm>
            <a:custGeom>
              <a:avLst/>
              <a:gdLst/>
              <a:ahLst/>
              <a:cxnLst/>
              <a:rect r="r" b="b" t="t" l="l"/>
              <a:pathLst>
                <a:path h="63398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509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Forward-fill for NAV; median for numerical fields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18823" y="4138679"/>
            <a:ext cx="8072123" cy="1159259"/>
            <a:chOff x="0" y="0"/>
            <a:chExt cx="10762831" cy="154567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62742" cy="1545590"/>
            </a:xfrm>
            <a:custGeom>
              <a:avLst/>
              <a:gdLst/>
              <a:ahLst/>
              <a:cxnLst/>
              <a:rect r="r" b="b" t="t" l="l"/>
              <a:pathLst>
                <a:path h="1545590" w="10762742">
                  <a:moveTo>
                    <a:pt x="0" y="199390"/>
                  </a:moveTo>
                  <a:cubicBezTo>
                    <a:pt x="0" y="89281"/>
                    <a:pt x="89281" y="0"/>
                    <a:pt x="199390" y="0"/>
                  </a:cubicBezTo>
                  <a:lnTo>
                    <a:pt x="10563352" y="0"/>
                  </a:lnTo>
                  <a:cubicBezTo>
                    <a:pt x="10673461" y="0"/>
                    <a:pt x="10762742" y="89281"/>
                    <a:pt x="10762742" y="199390"/>
                  </a:cubicBezTo>
                  <a:lnTo>
                    <a:pt x="10762742" y="1346200"/>
                  </a:lnTo>
                  <a:cubicBezTo>
                    <a:pt x="10762742" y="1456309"/>
                    <a:pt x="10673461" y="1545590"/>
                    <a:pt x="10563352" y="1545590"/>
                  </a:cubicBezTo>
                  <a:lnTo>
                    <a:pt x="199390" y="1545590"/>
                  </a:lnTo>
                  <a:cubicBezTo>
                    <a:pt x="89281" y="1545717"/>
                    <a:pt x="0" y="1456436"/>
                    <a:pt x="0" y="1346200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097280" y="4224528"/>
            <a:ext cx="7132320" cy="512064"/>
            <a:chOff x="0" y="0"/>
            <a:chExt cx="9509760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509760" cy="682752"/>
            </a:xfrm>
            <a:custGeom>
              <a:avLst/>
              <a:gdLst/>
              <a:ahLst/>
              <a:cxnLst/>
              <a:rect r="r" b="b" t="t" l="l"/>
              <a:pathLst>
                <a:path h="68275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398" r="0" b="-22139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509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Date Standardization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97280" y="4700016"/>
            <a:ext cx="7132320" cy="475488"/>
            <a:chOff x="0" y="0"/>
            <a:chExt cx="9509760" cy="6339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09760" cy="633984"/>
            </a:xfrm>
            <a:custGeom>
              <a:avLst/>
              <a:gdLst/>
              <a:ahLst/>
              <a:cxnLst/>
              <a:rect r="r" b="b" t="t" l="l"/>
              <a:pathLst>
                <a:path h="63398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509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date fields → datetime64 unified format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18823" y="5455415"/>
            <a:ext cx="8072123" cy="1159259"/>
            <a:chOff x="0" y="0"/>
            <a:chExt cx="10762831" cy="154567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62742" cy="1545590"/>
            </a:xfrm>
            <a:custGeom>
              <a:avLst/>
              <a:gdLst/>
              <a:ahLst/>
              <a:cxnLst/>
              <a:rect r="r" b="b" t="t" l="l"/>
              <a:pathLst>
                <a:path h="1545590" w="10762742">
                  <a:moveTo>
                    <a:pt x="0" y="199390"/>
                  </a:moveTo>
                  <a:cubicBezTo>
                    <a:pt x="0" y="89281"/>
                    <a:pt x="89281" y="0"/>
                    <a:pt x="199390" y="0"/>
                  </a:cubicBezTo>
                  <a:lnTo>
                    <a:pt x="10563352" y="0"/>
                  </a:lnTo>
                  <a:cubicBezTo>
                    <a:pt x="10673461" y="0"/>
                    <a:pt x="10762742" y="89281"/>
                    <a:pt x="10762742" y="199390"/>
                  </a:cubicBezTo>
                  <a:lnTo>
                    <a:pt x="10762742" y="1346200"/>
                  </a:lnTo>
                  <a:cubicBezTo>
                    <a:pt x="10762742" y="1456309"/>
                    <a:pt x="10673461" y="1545590"/>
                    <a:pt x="10563352" y="1545590"/>
                  </a:cubicBezTo>
                  <a:lnTo>
                    <a:pt x="199390" y="1545590"/>
                  </a:lnTo>
                  <a:cubicBezTo>
                    <a:pt x="89281" y="1545717"/>
                    <a:pt x="0" y="1456436"/>
                    <a:pt x="0" y="1346200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097280" y="5541264"/>
            <a:ext cx="7132320" cy="512064"/>
            <a:chOff x="0" y="0"/>
            <a:chExt cx="9509760" cy="6827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509760" cy="682752"/>
            </a:xfrm>
            <a:custGeom>
              <a:avLst/>
              <a:gdLst/>
              <a:ahLst/>
              <a:cxnLst/>
              <a:rect r="r" b="b" t="t" l="l"/>
              <a:pathLst>
                <a:path h="68275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398" r="0" b="-22139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9509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Duplicate Removal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97280" y="6016752"/>
            <a:ext cx="7132320" cy="475488"/>
            <a:chOff x="0" y="0"/>
            <a:chExt cx="9509760" cy="63398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509760" cy="633984"/>
            </a:xfrm>
            <a:custGeom>
              <a:avLst/>
              <a:gdLst/>
              <a:ahLst/>
              <a:cxnLst/>
              <a:rect r="r" b="b" t="t" l="l"/>
              <a:pathLst>
                <a:path h="63398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9509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Identified &amp; removed duplicate NAV &amp; transactions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18823" y="6772151"/>
            <a:ext cx="8072123" cy="1159259"/>
            <a:chOff x="0" y="0"/>
            <a:chExt cx="10762831" cy="154567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762742" cy="1545590"/>
            </a:xfrm>
            <a:custGeom>
              <a:avLst/>
              <a:gdLst/>
              <a:ahLst/>
              <a:cxnLst/>
              <a:rect r="r" b="b" t="t" l="l"/>
              <a:pathLst>
                <a:path h="1545590" w="10762742">
                  <a:moveTo>
                    <a:pt x="0" y="199390"/>
                  </a:moveTo>
                  <a:cubicBezTo>
                    <a:pt x="0" y="89281"/>
                    <a:pt x="89281" y="0"/>
                    <a:pt x="199390" y="0"/>
                  </a:cubicBezTo>
                  <a:lnTo>
                    <a:pt x="10563352" y="0"/>
                  </a:lnTo>
                  <a:cubicBezTo>
                    <a:pt x="10673461" y="0"/>
                    <a:pt x="10762742" y="89281"/>
                    <a:pt x="10762742" y="199390"/>
                  </a:cubicBezTo>
                  <a:lnTo>
                    <a:pt x="10762742" y="1346200"/>
                  </a:lnTo>
                  <a:cubicBezTo>
                    <a:pt x="10762742" y="1456309"/>
                    <a:pt x="10673461" y="1545590"/>
                    <a:pt x="10563352" y="1545590"/>
                  </a:cubicBezTo>
                  <a:lnTo>
                    <a:pt x="199390" y="1545590"/>
                  </a:lnTo>
                  <a:cubicBezTo>
                    <a:pt x="89281" y="1545717"/>
                    <a:pt x="0" y="1456436"/>
                    <a:pt x="0" y="1346200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097280" y="6858000"/>
            <a:ext cx="7132320" cy="512064"/>
            <a:chOff x="0" y="0"/>
            <a:chExt cx="9509760" cy="68275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509760" cy="682752"/>
            </a:xfrm>
            <a:custGeom>
              <a:avLst/>
              <a:gdLst/>
              <a:ahLst/>
              <a:cxnLst/>
              <a:rect r="r" b="b" t="t" l="l"/>
              <a:pathLst>
                <a:path h="68275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398" r="0" b="-22139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9509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Validation Checks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97280" y="7333488"/>
            <a:ext cx="7132320" cy="475488"/>
            <a:chOff x="0" y="0"/>
            <a:chExt cx="9509760" cy="63398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509760" cy="633984"/>
            </a:xfrm>
            <a:custGeom>
              <a:avLst/>
              <a:gdLst/>
              <a:ahLst/>
              <a:cxnLst/>
              <a:rect r="r" b="b" t="t" l="l"/>
              <a:pathLst>
                <a:path h="63398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9509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NAV &gt; 0 · Amount &gt; 0 · Valid AMFI codes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18823" y="8088887"/>
            <a:ext cx="8072123" cy="1159259"/>
            <a:chOff x="0" y="0"/>
            <a:chExt cx="10762831" cy="154567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762742" cy="1545590"/>
            </a:xfrm>
            <a:custGeom>
              <a:avLst/>
              <a:gdLst/>
              <a:ahLst/>
              <a:cxnLst/>
              <a:rect r="r" b="b" t="t" l="l"/>
              <a:pathLst>
                <a:path h="1545590" w="10762742">
                  <a:moveTo>
                    <a:pt x="0" y="199390"/>
                  </a:moveTo>
                  <a:cubicBezTo>
                    <a:pt x="0" y="89281"/>
                    <a:pt x="89281" y="0"/>
                    <a:pt x="199390" y="0"/>
                  </a:cubicBezTo>
                  <a:lnTo>
                    <a:pt x="10563352" y="0"/>
                  </a:lnTo>
                  <a:cubicBezTo>
                    <a:pt x="10673461" y="0"/>
                    <a:pt x="10762742" y="89281"/>
                    <a:pt x="10762742" y="199390"/>
                  </a:cubicBezTo>
                  <a:lnTo>
                    <a:pt x="10762742" y="1346200"/>
                  </a:lnTo>
                  <a:cubicBezTo>
                    <a:pt x="10762742" y="1456309"/>
                    <a:pt x="10673461" y="1545590"/>
                    <a:pt x="10563352" y="1545590"/>
                  </a:cubicBezTo>
                  <a:lnTo>
                    <a:pt x="199390" y="1545590"/>
                  </a:lnTo>
                  <a:cubicBezTo>
                    <a:pt x="89281" y="1545717"/>
                    <a:pt x="0" y="1456436"/>
                    <a:pt x="0" y="1346200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097280" y="8174736"/>
            <a:ext cx="7132320" cy="512064"/>
            <a:chOff x="0" y="0"/>
            <a:chExt cx="9509760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509760" cy="682752"/>
            </a:xfrm>
            <a:custGeom>
              <a:avLst/>
              <a:gdLst/>
              <a:ahLst/>
              <a:cxnLst/>
              <a:rect r="r" b="b" t="t" l="l"/>
              <a:pathLst>
                <a:path h="68275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398" r="0" b="-22139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9509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Engineering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97280" y="8650224"/>
            <a:ext cx="7132320" cy="475488"/>
            <a:chOff x="0" y="0"/>
            <a:chExt cx="9509760" cy="63398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509760" cy="633984"/>
            </a:xfrm>
            <a:custGeom>
              <a:avLst/>
              <a:gdLst/>
              <a:ahLst/>
              <a:cxnLst/>
              <a:rect r="r" b="b" t="t" l="l"/>
              <a:pathLst>
                <a:path h="63398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9509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Daily Returns, CAGR, Fund Scores, Age Groups, Cohorts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144000" y="2103120"/>
            <a:ext cx="8412480" cy="640080"/>
            <a:chOff x="0" y="0"/>
            <a:chExt cx="11216640" cy="8534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216640" cy="853440"/>
            </a:xfrm>
            <a:custGeom>
              <a:avLst/>
              <a:gdLst/>
              <a:ahLst/>
              <a:cxnLst/>
              <a:rect r="r" b="b" t="t" l="l"/>
              <a:pathLst>
                <a:path h="8534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12166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SQLite Star Schema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874498" y="4815330"/>
            <a:ext cx="3865883" cy="1854203"/>
            <a:chOff x="0" y="0"/>
            <a:chExt cx="5154511" cy="247227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154549" cy="2472309"/>
            </a:xfrm>
            <a:custGeom>
              <a:avLst/>
              <a:gdLst/>
              <a:ahLst/>
              <a:cxnLst/>
              <a:rect r="r" b="b" t="t" l="l"/>
              <a:pathLst>
                <a:path h="2472309" w="5154549">
                  <a:moveTo>
                    <a:pt x="0" y="247269"/>
                  </a:moveTo>
                  <a:cubicBezTo>
                    <a:pt x="0" y="110744"/>
                    <a:pt x="110744" y="0"/>
                    <a:pt x="247269" y="0"/>
                  </a:cubicBezTo>
                  <a:lnTo>
                    <a:pt x="4907280" y="0"/>
                  </a:lnTo>
                  <a:cubicBezTo>
                    <a:pt x="5043805" y="0"/>
                    <a:pt x="5154549" y="110744"/>
                    <a:pt x="5154549" y="247269"/>
                  </a:cubicBezTo>
                  <a:lnTo>
                    <a:pt x="5154549" y="2225040"/>
                  </a:lnTo>
                  <a:cubicBezTo>
                    <a:pt x="5154549" y="2361565"/>
                    <a:pt x="5043805" y="2472309"/>
                    <a:pt x="4907280" y="2472309"/>
                  </a:cubicBezTo>
                  <a:lnTo>
                    <a:pt x="247269" y="2472309"/>
                  </a:lnTo>
                  <a:cubicBezTo>
                    <a:pt x="110744" y="2472309"/>
                    <a:pt x="0" y="2361565"/>
                    <a:pt x="0" y="2225040"/>
                  </a:cubicBezTo>
                  <a:close/>
                </a:path>
              </a:pathLst>
            </a:custGeom>
            <a:solidFill>
              <a:srgbClr val="0A2540"/>
            </a:solidFill>
            <a:ln w="254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1874498" y="4869180"/>
            <a:ext cx="3840480" cy="548640"/>
            <a:chOff x="0" y="0"/>
            <a:chExt cx="5120640" cy="7315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5120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0A5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FACT TABLES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887195" y="5468107"/>
            <a:ext cx="3840480" cy="1097280"/>
            <a:chOff x="0" y="0"/>
            <a:chExt cx="5120640" cy="14630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1206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512064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fact_nav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fact_aum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fact_transactions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fact_performance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131303" y="2913383"/>
            <a:ext cx="3317243" cy="1525019"/>
            <a:chOff x="0" y="0"/>
            <a:chExt cx="4422991" cy="203335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423029" cy="2033397"/>
            </a:xfrm>
            <a:custGeom>
              <a:avLst/>
              <a:gdLst/>
              <a:ahLst/>
              <a:cxnLst/>
              <a:rect r="r" b="b" t="t" l="l"/>
              <a:pathLst>
                <a:path h="2033397" w="4423029">
                  <a:moveTo>
                    <a:pt x="0" y="198374"/>
                  </a:moveTo>
                  <a:cubicBezTo>
                    <a:pt x="0" y="88773"/>
                    <a:pt x="88773" y="0"/>
                    <a:pt x="198374" y="0"/>
                  </a:cubicBezTo>
                  <a:lnTo>
                    <a:pt x="4224655" y="0"/>
                  </a:lnTo>
                  <a:cubicBezTo>
                    <a:pt x="4334256" y="0"/>
                    <a:pt x="4423029" y="88773"/>
                    <a:pt x="4423029" y="198374"/>
                  </a:cubicBezTo>
                  <a:lnTo>
                    <a:pt x="4423029" y="1835023"/>
                  </a:lnTo>
                  <a:cubicBezTo>
                    <a:pt x="4423029" y="1944624"/>
                    <a:pt x="4334256" y="2033397"/>
                    <a:pt x="4224655" y="2033397"/>
                  </a:cubicBezTo>
                  <a:lnTo>
                    <a:pt x="198374" y="2033397"/>
                  </a:lnTo>
                  <a:cubicBezTo>
                    <a:pt x="88773" y="2033397"/>
                    <a:pt x="0" y="1944497"/>
                    <a:pt x="0" y="1835023"/>
                  </a:cubicBezTo>
                  <a:close/>
                </a:path>
              </a:pathLst>
            </a:custGeom>
            <a:solidFill>
              <a:srgbClr val="1A5276"/>
            </a:solidFill>
            <a:ln w="25400" cap="sq">
              <a:solidFill>
                <a:srgbClr val="5B9BD5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9235440" y="3017520"/>
            <a:ext cx="3108960" cy="512064"/>
            <a:chOff x="0" y="0"/>
            <a:chExt cx="4145280" cy="68275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145280" cy="682752"/>
            </a:xfrm>
            <a:custGeom>
              <a:avLst/>
              <a:gdLst/>
              <a:ahLst/>
              <a:cxnLst/>
              <a:rect r="r" b="b" t="t" l="l"/>
              <a:pathLst>
                <a:path h="6827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4145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dim_fund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235440" y="3511296"/>
            <a:ext cx="3108960" cy="768096"/>
            <a:chOff x="0" y="0"/>
            <a:chExt cx="4145280" cy="102412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145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68" r="0" b="-28868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4145280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Fund master, category,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fund house, plan type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4434823" y="2913383"/>
            <a:ext cx="3317243" cy="1525019"/>
            <a:chOff x="0" y="0"/>
            <a:chExt cx="4422991" cy="203335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423029" cy="2033397"/>
            </a:xfrm>
            <a:custGeom>
              <a:avLst/>
              <a:gdLst/>
              <a:ahLst/>
              <a:cxnLst/>
              <a:rect r="r" b="b" t="t" l="l"/>
              <a:pathLst>
                <a:path h="2033397" w="4423029">
                  <a:moveTo>
                    <a:pt x="0" y="198374"/>
                  </a:moveTo>
                  <a:cubicBezTo>
                    <a:pt x="0" y="88773"/>
                    <a:pt x="88773" y="0"/>
                    <a:pt x="198374" y="0"/>
                  </a:cubicBezTo>
                  <a:lnTo>
                    <a:pt x="4224655" y="0"/>
                  </a:lnTo>
                  <a:cubicBezTo>
                    <a:pt x="4334256" y="0"/>
                    <a:pt x="4423029" y="88773"/>
                    <a:pt x="4423029" y="198374"/>
                  </a:cubicBezTo>
                  <a:lnTo>
                    <a:pt x="4423029" y="1835023"/>
                  </a:lnTo>
                  <a:cubicBezTo>
                    <a:pt x="4423029" y="1944624"/>
                    <a:pt x="4334256" y="2033397"/>
                    <a:pt x="4224655" y="2033397"/>
                  </a:cubicBezTo>
                  <a:lnTo>
                    <a:pt x="198374" y="2033397"/>
                  </a:lnTo>
                  <a:cubicBezTo>
                    <a:pt x="88773" y="2033397"/>
                    <a:pt x="0" y="1944497"/>
                    <a:pt x="0" y="1835023"/>
                  </a:cubicBezTo>
                  <a:close/>
                </a:path>
              </a:pathLst>
            </a:custGeom>
            <a:solidFill>
              <a:srgbClr val="1A5276"/>
            </a:solidFill>
            <a:ln w="25400" cap="sq">
              <a:solidFill>
                <a:srgbClr val="5B9BD5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4538960" y="3017520"/>
            <a:ext cx="3108960" cy="512064"/>
            <a:chOff x="0" y="0"/>
            <a:chExt cx="4145280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145280" cy="682752"/>
            </a:xfrm>
            <a:custGeom>
              <a:avLst/>
              <a:gdLst/>
              <a:ahLst/>
              <a:cxnLst/>
              <a:rect r="r" b="b" t="t" l="l"/>
              <a:pathLst>
                <a:path h="6827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145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dim_date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4538960" y="3511296"/>
            <a:ext cx="3108960" cy="768096"/>
            <a:chOff x="0" y="0"/>
            <a:chExt cx="4145280" cy="102412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145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68" r="0" b="-28868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4145280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Date hierarchy: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Year, Quarter, Month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131303" y="7004304"/>
            <a:ext cx="3317243" cy="1525019"/>
            <a:chOff x="0" y="0"/>
            <a:chExt cx="4422991" cy="203335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423029" cy="2033397"/>
            </a:xfrm>
            <a:custGeom>
              <a:avLst/>
              <a:gdLst/>
              <a:ahLst/>
              <a:cxnLst/>
              <a:rect r="r" b="b" t="t" l="l"/>
              <a:pathLst>
                <a:path h="2033397" w="4423029">
                  <a:moveTo>
                    <a:pt x="0" y="198374"/>
                  </a:moveTo>
                  <a:cubicBezTo>
                    <a:pt x="0" y="88773"/>
                    <a:pt x="88773" y="0"/>
                    <a:pt x="198374" y="0"/>
                  </a:cubicBezTo>
                  <a:lnTo>
                    <a:pt x="4224655" y="0"/>
                  </a:lnTo>
                  <a:cubicBezTo>
                    <a:pt x="4334256" y="0"/>
                    <a:pt x="4423029" y="88773"/>
                    <a:pt x="4423029" y="198374"/>
                  </a:cubicBezTo>
                  <a:lnTo>
                    <a:pt x="4423029" y="1835023"/>
                  </a:lnTo>
                  <a:cubicBezTo>
                    <a:pt x="4423029" y="1944624"/>
                    <a:pt x="4334256" y="2033397"/>
                    <a:pt x="4224655" y="2033397"/>
                  </a:cubicBezTo>
                  <a:lnTo>
                    <a:pt x="198374" y="2033397"/>
                  </a:lnTo>
                  <a:cubicBezTo>
                    <a:pt x="88773" y="2033397"/>
                    <a:pt x="0" y="1944497"/>
                    <a:pt x="0" y="1835023"/>
                  </a:cubicBezTo>
                  <a:close/>
                </a:path>
              </a:pathLst>
            </a:custGeom>
            <a:solidFill>
              <a:srgbClr val="1A5276"/>
            </a:solidFill>
            <a:ln w="25400" cap="sq">
              <a:solidFill>
                <a:srgbClr val="5B9BD5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9235440" y="7108441"/>
            <a:ext cx="3108960" cy="512064"/>
            <a:chOff x="0" y="0"/>
            <a:chExt cx="4145280" cy="68275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145280" cy="682752"/>
            </a:xfrm>
            <a:custGeom>
              <a:avLst/>
              <a:gdLst/>
              <a:ahLst/>
              <a:cxnLst/>
              <a:rect r="r" b="b" t="t" l="l"/>
              <a:pathLst>
                <a:path h="6827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4145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dim_investor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235440" y="7602217"/>
            <a:ext cx="3108960" cy="768096"/>
            <a:chOff x="0" y="0"/>
            <a:chExt cx="4145280" cy="102412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145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68" r="0" b="-28868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4145280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Demographics,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city tier, age group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4538960" y="7004304"/>
            <a:ext cx="3317243" cy="1525019"/>
            <a:chOff x="0" y="0"/>
            <a:chExt cx="4422991" cy="2033359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423029" cy="2033397"/>
            </a:xfrm>
            <a:custGeom>
              <a:avLst/>
              <a:gdLst/>
              <a:ahLst/>
              <a:cxnLst/>
              <a:rect r="r" b="b" t="t" l="l"/>
              <a:pathLst>
                <a:path h="2033397" w="4423029">
                  <a:moveTo>
                    <a:pt x="0" y="198374"/>
                  </a:moveTo>
                  <a:cubicBezTo>
                    <a:pt x="0" y="88773"/>
                    <a:pt x="88773" y="0"/>
                    <a:pt x="198374" y="0"/>
                  </a:cubicBezTo>
                  <a:lnTo>
                    <a:pt x="4224655" y="0"/>
                  </a:lnTo>
                  <a:cubicBezTo>
                    <a:pt x="4334256" y="0"/>
                    <a:pt x="4423029" y="88773"/>
                    <a:pt x="4423029" y="198374"/>
                  </a:cubicBezTo>
                  <a:lnTo>
                    <a:pt x="4423029" y="1835023"/>
                  </a:lnTo>
                  <a:cubicBezTo>
                    <a:pt x="4423029" y="1944624"/>
                    <a:pt x="4334256" y="2033397"/>
                    <a:pt x="4224655" y="2033397"/>
                  </a:cubicBezTo>
                  <a:lnTo>
                    <a:pt x="198374" y="2033397"/>
                  </a:lnTo>
                  <a:cubicBezTo>
                    <a:pt x="88773" y="2033397"/>
                    <a:pt x="0" y="1944497"/>
                    <a:pt x="0" y="1835023"/>
                  </a:cubicBezTo>
                  <a:close/>
                </a:path>
              </a:pathLst>
            </a:custGeom>
            <a:solidFill>
              <a:srgbClr val="1A5276"/>
            </a:solidFill>
            <a:ln w="25400" cap="sq">
              <a:solidFill>
                <a:srgbClr val="5B9BD5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4643097" y="7108441"/>
            <a:ext cx="3108960" cy="512064"/>
            <a:chOff x="0" y="0"/>
            <a:chExt cx="4145280" cy="68275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145280" cy="682752"/>
            </a:xfrm>
            <a:custGeom>
              <a:avLst/>
              <a:gdLst/>
              <a:ahLst/>
              <a:cxnLst/>
              <a:rect r="r" b="b" t="t" l="l"/>
              <a:pathLst>
                <a:path h="6827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4145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dim_benchmark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4643097" y="7602217"/>
            <a:ext cx="3108960" cy="768096"/>
            <a:chOff x="0" y="0"/>
            <a:chExt cx="4145280" cy="102412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145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68" r="0" b="-28868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28575"/>
              <a:ext cx="4145280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Nifty 50 / 100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index values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0770870" y="3821430"/>
            <a:ext cx="1135380" cy="495300"/>
            <a:chOff x="0" y="0"/>
            <a:chExt cx="1513840" cy="6604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513840" cy="660400"/>
            </a:xfrm>
            <a:custGeom>
              <a:avLst/>
              <a:gdLst/>
              <a:ahLst/>
              <a:cxnLst/>
              <a:rect r="r" b="b" t="t" l="l"/>
              <a:pathLst>
                <a:path h="660400" w="1513840">
                  <a:moveTo>
                    <a:pt x="0" y="0"/>
                  </a:moveTo>
                  <a:lnTo>
                    <a:pt x="1513840" y="660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5971" t="0" r="-5971" b="0"/>
              </a:stretch>
            </a:blipFill>
            <a:ln w="38100" cap="sq">
              <a:solidFill>
                <a:srgbClr val="5B9BD5"/>
              </a:solidFill>
              <a:prstDash val="dash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9144000" y="9235440"/>
            <a:ext cx="8412480" cy="585216"/>
            <a:chOff x="0" y="0"/>
            <a:chExt cx="11216640" cy="78028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1216640" cy="780288"/>
            </a:xfrm>
            <a:custGeom>
              <a:avLst/>
              <a:gdLst/>
              <a:ahLst/>
              <a:cxnLst/>
              <a:rect r="r" b="b" t="t" l="l"/>
              <a:pathLst>
                <a:path h="78028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097" r="0" b="-230097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12166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Benefits: Faster aggregation  ·  Simplified dashboard integration  ·  Improved scalability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945643"/>
            <a:chOff x="0" y="0"/>
            <a:chExt cx="24417871" cy="25941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594229"/>
            </a:xfrm>
            <a:custGeom>
              <a:avLst/>
              <a:gdLst/>
              <a:ahLst/>
              <a:cxnLst/>
              <a:rect r="r" b="b" t="t" l="l"/>
              <a:pathLst>
                <a:path h="25942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0D3461"/>
            </a:solidFill>
            <a:ln w="25400" cap="sq">
              <a:solidFill>
                <a:srgbClr val="0D346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19456"/>
            <a:ext cx="14630400" cy="914400"/>
            <a:chOff x="0" y="0"/>
            <a:chExt cx="195072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1950720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Exploratory Data Analysis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133856"/>
            <a:ext cx="14630400" cy="512064"/>
            <a:chOff x="0" y="0"/>
            <a:chExt cx="1950720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0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9507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Patterns, Trends &amp; Business Insights from the Data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8640" y="2103120"/>
            <a:ext cx="10058400" cy="585216"/>
            <a:chOff x="0" y="0"/>
            <a:chExt cx="13411200" cy="7802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411200" cy="780288"/>
            </a:xfrm>
            <a:custGeom>
              <a:avLst/>
              <a:gdLst/>
              <a:ahLst/>
              <a:cxnLst/>
              <a:rect r="r" b="b" t="t" l="l"/>
              <a:pathLst>
                <a:path h="780288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899" r="0" b="-28489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34112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AUM Growth 2022–2025 (₹ Lakh Crore)</a:t>
              </a:r>
            </a:p>
          </p:txBody>
        </p:sp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329184" y="1773936"/>
            <a:ext cx="10533888" cy="6144768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 rot="0">
            <a:off x="9509760" y="2103120"/>
            <a:ext cx="8046720" cy="585216"/>
            <a:chOff x="0" y="0"/>
            <a:chExt cx="10728960" cy="7802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28960" cy="780288"/>
            </a:xfrm>
            <a:custGeom>
              <a:avLst/>
              <a:gdLst/>
              <a:ahLst/>
              <a:cxnLst/>
              <a:rect r="r" b="b" t="t" l="l"/>
              <a:pathLst>
                <a:path h="78028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72896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Category Inflows Distribution</a:t>
              </a:r>
            </a:p>
          </p:txBody>
        </p:sp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705088" y="2706624"/>
            <a:ext cx="9656064" cy="5998464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 rot="0">
            <a:off x="548640" y="7315200"/>
            <a:ext cx="17190720" cy="585216"/>
            <a:chOff x="0" y="0"/>
            <a:chExt cx="22920960" cy="7802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920961" cy="780288"/>
            </a:xfrm>
            <a:custGeom>
              <a:avLst/>
              <a:gdLst/>
              <a:ahLst/>
              <a:cxnLst/>
              <a:rect r="r" b="b" t="t" l="l"/>
              <a:pathLst>
                <a:path h="78028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373" r="0" b="-52237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292096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0A5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Observations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40080" y="7962900"/>
            <a:ext cx="17007840" cy="1958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5B9BD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►  </a:t>
            </a: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SBI Mutual Fund emerged as industry leader with ~₹12.5 lakh crore AUM by 2025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5B9BD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►  </a:t>
            </a: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Liquid funds received largest category inflows — reflecting preference for liquidity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5B9BD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►  </a:t>
            </a: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Age group 26–35 constitutes the largest investor segment (young professionals)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5B9BD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►  </a:t>
            </a: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T30 metropolitan cities contribute the majority of total investment volumes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945643"/>
            <a:chOff x="0" y="0"/>
            <a:chExt cx="24417871" cy="25941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594229"/>
            </a:xfrm>
            <a:custGeom>
              <a:avLst/>
              <a:gdLst/>
              <a:ahLst/>
              <a:cxnLst/>
              <a:rect r="r" b="b" t="t" l="l"/>
              <a:pathLst>
                <a:path h="25942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0A2540"/>
            </a:solidFill>
            <a:ln w="25400" cap="sq">
              <a:solidFill>
                <a:srgbClr val="0A254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19456"/>
            <a:ext cx="14630400" cy="914400"/>
            <a:chOff x="0" y="0"/>
            <a:chExt cx="195072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1950720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Performance Analytics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133856"/>
            <a:ext cx="14630400" cy="512064"/>
            <a:chOff x="0" y="0"/>
            <a:chExt cx="1950720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0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9507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Risk-Adjusted Return Metrics &amp; Fund Scoring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27383" y="2181863"/>
            <a:ext cx="3865883" cy="2183387"/>
            <a:chOff x="0" y="0"/>
            <a:chExt cx="5154511" cy="29111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54549" cy="2911221"/>
            </a:xfrm>
            <a:custGeom>
              <a:avLst/>
              <a:gdLst/>
              <a:ahLst/>
              <a:cxnLst/>
              <a:rect r="r" b="b" t="t" l="l"/>
              <a:pathLst>
                <a:path h="2911221" w="5154549">
                  <a:moveTo>
                    <a:pt x="0" y="246761"/>
                  </a:moveTo>
                  <a:cubicBezTo>
                    <a:pt x="0" y="110490"/>
                    <a:pt x="110490" y="0"/>
                    <a:pt x="246761" y="0"/>
                  </a:cubicBezTo>
                  <a:lnTo>
                    <a:pt x="4907788" y="0"/>
                  </a:lnTo>
                  <a:cubicBezTo>
                    <a:pt x="5044059" y="0"/>
                    <a:pt x="5154549" y="110490"/>
                    <a:pt x="5154549" y="246761"/>
                  </a:cubicBezTo>
                  <a:lnTo>
                    <a:pt x="5154549" y="2664460"/>
                  </a:lnTo>
                  <a:cubicBezTo>
                    <a:pt x="5154549" y="2800731"/>
                    <a:pt x="5044059" y="2911221"/>
                    <a:pt x="4907788" y="2911221"/>
                  </a:cubicBezTo>
                  <a:lnTo>
                    <a:pt x="246761" y="2911221"/>
                  </a:lnTo>
                  <a:cubicBezTo>
                    <a:pt x="110490" y="2911221"/>
                    <a:pt x="0" y="2800731"/>
                    <a:pt x="0" y="2664460"/>
                  </a:cubicBezTo>
                  <a:close/>
                </a:path>
              </a:pathLst>
            </a:custGeom>
            <a:solidFill>
              <a:srgbClr val="1565C0"/>
            </a:solidFill>
            <a:ln w="254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2304288"/>
            <a:ext cx="3474720" cy="548640"/>
            <a:chOff x="0" y="0"/>
            <a:chExt cx="463296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32960" cy="731520"/>
            </a:xfrm>
            <a:custGeom>
              <a:avLst/>
              <a:gdLst/>
              <a:ahLst/>
              <a:cxnLst/>
              <a:rect r="r" b="b" t="t" l="l"/>
              <a:pathLst>
                <a:path h="7315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632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CAGR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40080" y="2779776"/>
            <a:ext cx="3840480" cy="950976"/>
            <a:chOff x="0" y="0"/>
            <a:chExt cx="5120640" cy="12679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206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5120640" cy="1353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12.4%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3749040"/>
            <a:ext cx="3474720" cy="493776"/>
            <a:chOff x="0" y="0"/>
            <a:chExt cx="4632960" cy="6583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32960" cy="658368"/>
            </a:xfrm>
            <a:custGeom>
              <a:avLst/>
              <a:gdLst/>
              <a:ahLst/>
              <a:cxnLst/>
              <a:rect r="r" b="b" t="t" l="l"/>
              <a:pathLst>
                <a:path h="65836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116" r="0" b="-8711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463296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3-Year Average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925063" y="2181863"/>
            <a:ext cx="3865883" cy="2183387"/>
            <a:chOff x="0" y="0"/>
            <a:chExt cx="5154511" cy="291118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54549" cy="2911221"/>
            </a:xfrm>
            <a:custGeom>
              <a:avLst/>
              <a:gdLst/>
              <a:ahLst/>
              <a:cxnLst/>
              <a:rect r="r" b="b" t="t" l="l"/>
              <a:pathLst>
                <a:path h="2911221" w="5154549">
                  <a:moveTo>
                    <a:pt x="0" y="246761"/>
                  </a:moveTo>
                  <a:cubicBezTo>
                    <a:pt x="0" y="110490"/>
                    <a:pt x="110490" y="0"/>
                    <a:pt x="246761" y="0"/>
                  </a:cubicBezTo>
                  <a:lnTo>
                    <a:pt x="4907788" y="0"/>
                  </a:lnTo>
                  <a:cubicBezTo>
                    <a:pt x="5044059" y="0"/>
                    <a:pt x="5154549" y="110490"/>
                    <a:pt x="5154549" y="246761"/>
                  </a:cubicBezTo>
                  <a:lnTo>
                    <a:pt x="5154549" y="2664460"/>
                  </a:lnTo>
                  <a:cubicBezTo>
                    <a:pt x="5154549" y="2800731"/>
                    <a:pt x="5044059" y="2911221"/>
                    <a:pt x="4907788" y="2911221"/>
                  </a:cubicBezTo>
                  <a:lnTo>
                    <a:pt x="246761" y="2911221"/>
                  </a:lnTo>
                  <a:cubicBezTo>
                    <a:pt x="110490" y="2911221"/>
                    <a:pt x="0" y="2800731"/>
                    <a:pt x="0" y="2664460"/>
                  </a:cubicBezTo>
                  <a:close/>
                </a:path>
              </a:pathLst>
            </a:custGeom>
            <a:solidFill>
              <a:srgbClr val="1A7A4A"/>
            </a:solidFill>
            <a:ln w="25400" cap="sq">
              <a:solidFill>
                <a:srgbClr val="1A7A4A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5120640" y="2304288"/>
            <a:ext cx="3474720" cy="548640"/>
            <a:chOff x="0" y="0"/>
            <a:chExt cx="463296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632960" cy="731520"/>
            </a:xfrm>
            <a:custGeom>
              <a:avLst/>
              <a:gdLst/>
              <a:ahLst/>
              <a:cxnLst/>
              <a:rect r="r" b="b" t="t" l="l"/>
              <a:pathLst>
                <a:path h="7315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632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Sharpe Ratio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937760" y="2779776"/>
            <a:ext cx="3840480" cy="950976"/>
            <a:chOff x="0" y="0"/>
            <a:chExt cx="5120640" cy="12679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206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5120640" cy="1353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1.42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120640" y="3749040"/>
            <a:ext cx="3474720" cy="493776"/>
            <a:chOff x="0" y="0"/>
            <a:chExt cx="4632960" cy="65836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632960" cy="658368"/>
            </a:xfrm>
            <a:custGeom>
              <a:avLst/>
              <a:gdLst/>
              <a:ahLst/>
              <a:cxnLst/>
              <a:rect r="r" b="b" t="t" l="l"/>
              <a:pathLst>
                <a:path h="65836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116" r="0" b="-8711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463296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Risk-Adj. Return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222743" y="2181863"/>
            <a:ext cx="3865883" cy="2183387"/>
            <a:chOff x="0" y="0"/>
            <a:chExt cx="5154511" cy="291118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54549" cy="2911221"/>
            </a:xfrm>
            <a:custGeom>
              <a:avLst/>
              <a:gdLst/>
              <a:ahLst/>
              <a:cxnLst/>
              <a:rect r="r" b="b" t="t" l="l"/>
              <a:pathLst>
                <a:path h="2911221" w="5154549">
                  <a:moveTo>
                    <a:pt x="0" y="246761"/>
                  </a:moveTo>
                  <a:cubicBezTo>
                    <a:pt x="0" y="110490"/>
                    <a:pt x="110490" y="0"/>
                    <a:pt x="246761" y="0"/>
                  </a:cubicBezTo>
                  <a:lnTo>
                    <a:pt x="4907788" y="0"/>
                  </a:lnTo>
                  <a:cubicBezTo>
                    <a:pt x="5044059" y="0"/>
                    <a:pt x="5154549" y="110490"/>
                    <a:pt x="5154549" y="246761"/>
                  </a:cubicBezTo>
                  <a:lnTo>
                    <a:pt x="5154549" y="2664460"/>
                  </a:lnTo>
                  <a:cubicBezTo>
                    <a:pt x="5154549" y="2800731"/>
                    <a:pt x="5044059" y="2911221"/>
                    <a:pt x="4907788" y="2911221"/>
                  </a:cubicBezTo>
                  <a:lnTo>
                    <a:pt x="246761" y="2911221"/>
                  </a:lnTo>
                  <a:cubicBezTo>
                    <a:pt x="110490" y="2911221"/>
                    <a:pt x="0" y="2800731"/>
                    <a:pt x="0" y="2664460"/>
                  </a:cubicBezTo>
                  <a:close/>
                </a:path>
              </a:pathLst>
            </a:custGeom>
            <a:solidFill>
              <a:srgbClr val="7B3A9E"/>
            </a:solidFill>
            <a:ln w="25400" cap="sq">
              <a:solidFill>
                <a:srgbClr val="7B3A9E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418320" y="2304288"/>
            <a:ext cx="3474720" cy="548640"/>
            <a:chOff x="0" y="0"/>
            <a:chExt cx="463296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632960" cy="731520"/>
            </a:xfrm>
            <a:custGeom>
              <a:avLst/>
              <a:gdLst/>
              <a:ahLst/>
              <a:cxnLst/>
              <a:rect r="r" b="b" t="t" l="l"/>
              <a:pathLst>
                <a:path h="7315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4632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Sortino Ratio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235440" y="2779776"/>
            <a:ext cx="3840480" cy="950976"/>
            <a:chOff x="0" y="0"/>
            <a:chExt cx="5120640" cy="126796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206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85725"/>
              <a:ext cx="5120640" cy="1353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1.86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418320" y="3749040"/>
            <a:ext cx="3474720" cy="493776"/>
            <a:chOff x="0" y="0"/>
            <a:chExt cx="4632960" cy="65836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632960" cy="658368"/>
            </a:xfrm>
            <a:custGeom>
              <a:avLst/>
              <a:gdLst/>
              <a:ahLst/>
              <a:cxnLst/>
              <a:rect r="r" b="b" t="t" l="l"/>
              <a:pathLst>
                <a:path h="65836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116" r="0" b="-8711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463296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Downside Focus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520423" y="2181863"/>
            <a:ext cx="3865883" cy="2183387"/>
            <a:chOff x="0" y="0"/>
            <a:chExt cx="5154511" cy="291118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154549" cy="2911221"/>
            </a:xfrm>
            <a:custGeom>
              <a:avLst/>
              <a:gdLst/>
              <a:ahLst/>
              <a:cxnLst/>
              <a:rect r="r" b="b" t="t" l="l"/>
              <a:pathLst>
                <a:path h="2911221" w="5154549">
                  <a:moveTo>
                    <a:pt x="0" y="246761"/>
                  </a:moveTo>
                  <a:cubicBezTo>
                    <a:pt x="0" y="110490"/>
                    <a:pt x="110490" y="0"/>
                    <a:pt x="246761" y="0"/>
                  </a:cubicBezTo>
                  <a:lnTo>
                    <a:pt x="4907788" y="0"/>
                  </a:lnTo>
                  <a:cubicBezTo>
                    <a:pt x="5044059" y="0"/>
                    <a:pt x="5154549" y="110490"/>
                    <a:pt x="5154549" y="246761"/>
                  </a:cubicBezTo>
                  <a:lnTo>
                    <a:pt x="5154549" y="2664460"/>
                  </a:lnTo>
                  <a:cubicBezTo>
                    <a:pt x="5154549" y="2800731"/>
                    <a:pt x="5044059" y="2911221"/>
                    <a:pt x="4907788" y="2911221"/>
                  </a:cubicBezTo>
                  <a:lnTo>
                    <a:pt x="246761" y="2911221"/>
                  </a:lnTo>
                  <a:cubicBezTo>
                    <a:pt x="110490" y="2911221"/>
                    <a:pt x="0" y="2800731"/>
                    <a:pt x="0" y="2664460"/>
                  </a:cubicBezTo>
                  <a:close/>
                </a:path>
              </a:pathLst>
            </a:custGeom>
            <a:solidFill>
              <a:srgbClr val="B7770D"/>
            </a:solidFill>
            <a:ln w="25400" cap="sq">
              <a:solidFill>
                <a:srgbClr val="B7770D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3716000" y="2304288"/>
            <a:ext cx="3474720" cy="548640"/>
            <a:chOff x="0" y="0"/>
            <a:chExt cx="463296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632960" cy="731520"/>
            </a:xfrm>
            <a:custGeom>
              <a:avLst/>
              <a:gdLst/>
              <a:ahLst/>
              <a:cxnLst/>
              <a:rect r="r" b="b" t="t" l="l"/>
              <a:pathLst>
                <a:path h="7315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4632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Alpha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533120" y="2779776"/>
            <a:ext cx="3840480" cy="950976"/>
            <a:chOff x="0" y="0"/>
            <a:chExt cx="5120640" cy="126796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1206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85725"/>
              <a:ext cx="5120640" cy="1353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+2.3%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716000" y="3749040"/>
            <a:ext cx="3474720" cy="493776"/>
            <a:chOff x="0" y="0"/>
            <a:chExt cx="4632960" cy="65836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632960" cy="658368"/>
            </a:xfrm>
            <a:custGeom>
              <a:avLst/>
              <a:gdLst/>
              <a:ahLst/>
              <a:cxnLst/>
              <a:rect r="r" b="b" t="t" l="l"/>
              <a:pathLst>
                <a:path h="65836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116" r="0" b="-8711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463296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Excess Return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27383" y="4650743"/>
            <a:ext cx="3865883" cy="2183387"/>
            <a:chOff x="0" y="0"/>
            <a:chExt cx="5154511" cy="291118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154549" cy="2911221"/>
            </a:xfrm>
            <a:custGeom>
              <a:avLst/>
              <a:gdLst/>
              <a:ahLst/>
              <a:cxnLst/>
              <a:rect r="r" b="b" t="t" l="l"/>
              <a:pathLst>
                <a:path h="2911221" w="5154549">
                  <a:moveTo>
                    <a:pt x="0" y="246761"/>
                  </a:moveTo>
                  <a:cubicBezTo>
                    <a:pt x="0" y="110490"/>
                    <a:pt x="110490" y="0"/>
                    <a:pt x="246761" y="0"/>
                  </a:cubicBezTo>
                  <a:lnTo>
                    <a:pt x="4907788" y="0"/>
                  </a:lnTo>
                  <a:cubicBezTo>
                    <a:pt x="5044059" y="0"/>
                    <a:pt x="5154549" y="110490"/>
                    <a:pt x="5154549" y="246761"/>
                  </a:cubicBezTo>
                  <a:lnTo>
                    <a:pt x="5154549" y="2664460"/>
                  </a:lnTo>
                  <a:cubicBezTo>
                    <a:pt x="5154549" y="2800731"/>
                    <a:pt x="5044059" y="2911221"/>
                    <a:pt x="4907788" y="2911221"/>
                  </a:cubicBezTo>
                  <a:lnTo>
                    <a:pt x="246761" y="2911221"/>
                  </a:lnTo>
                  <a:cubicBezTo>
                    <a:pt x="110490" y="2911221"/>
                    <a:pt x="0" y="2800731"/>
                    <a:pt x="0" y="2664460"/>
                  </a:cubicBezTo>
                  <a:close/>
                </a:path>
              </a:pathLst>
            </a:custGeom>
            <a:solidFill>
              <a:srgbClr val="1A5276"/>
            </a:solidFill>
            <a:ln w="25400" cap="sq">
              <a:solidFill>
                <a:srgbClr val="1A5276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822960" y="4773168"/>
            <a:ext cx="3474720" cy="548640"/>
            <a:chOff x="0" y="0"/>
            <a:chExt cx="463296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632960" cy="731520"/>
            </a:xfrm>
            <a:custGeom>
              <a:avLst/>
              <a:gdLst/>
              <a:ahLst/>
              <a:cxnLst/>
              <a:rect r="r" b="b" t="t" l="l"/>
              <a:pathLst>
                <a:path h="7315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632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Beta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40080" y="5248656"/>
            <a:ext cx="3840480" cy="950976"/>
            <a:chOff x="0" y="0"/>
            <a:chExt cx="5120640" cy="126796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1206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85725"/>
              <a:ext cx="5120640" cy="1353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0.87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22960" y="6217920"/>
            <a:ext cx="3474720" cy="493776"/>
            <a:chOff x="0" y="0"/>
            <a:chExt cx="4632960" cy="65836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632960" cy="658368"/>
            </a:xfrm>
            <a:custGeom>
              <a:avLst/>
              <a:gdLst/>
              <a:ahLst/>
              <a:cxnLst/>
              <a:rect r="r" b="b" t="t" l="l"/>
              <a:pathLst>
                <a:path h="65836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116" r="0" b="-8711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463296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Market Sensitivity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4925063" y="4650743"/>
            <a:ext cx="3865883" cy="2183387"/>
            <a:chOff x="0" y="0"/>
            <a:chExt cx="5154511" cy="291118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154549" cy="2911221"/>
            </a:xfrm>
            <a:custGeom>
              <a:avLst/>
              <a:gdLst/>
              <a:ahLst/>
              <a:cxnLst/>
              <a:rect r="r" b="b" t="t" l="l"/>
              <a:pathLst>
                <a:path h="2911221" w="5154549">
                  <a:moveTo>
                    <a:pt x="0" y="246761"/>
                  </a:moveTo>
                  <a:cubicBezTo>
                    <a:pt x="0" y="110490"/>
                    <a:pt x="110490" y="0"/>
                    <a:pt x="246761" y="0"/>
                  </a:cubicBezTo>
                  <a:lnTo>
                    <a:pt x="4907788" y="0"/>
                  </a:lnTo>
                  <a:cubicBezTo>
                    <a:pt x="5044059" y="0"/>
                    <a:pt x="5154549" y="110490"/>
                    <a:pt x="5154549" y="246761"/>
                  </a:cubicBezTo>
                  <a:lnTo>
                    <a:pt x="5154549" y="2664460"/>
                  </a:lnTo>
                  <a:cubicBezTo>
                    <a:pt x="5154549" y="2800731"/>
                    <a:pt x="5044059" y="2911221"/>
                    <a:pt x="4907788" y="2911221"/>
                  </a:cubicBezTo>
                  <a:lnTo>
                    <a:pt x="246761" y="2911221"/>
                  </a:lnTo>
                  <a:cubicBezTo>
                    <a:pt x="110490" y="2911221"/>
                    <a:pt x="0" y="2800731"/>
                    <a:pt x="0" y="2664460"/>
                  </a:cubicBezTo>
                  <a:close/>
                </a:path>
              </a:pathLst>
            </a:custGeom>
            <a:solidFill>
              <a:srgbClr val="8B1A1A"/>
            </a:solidFill>
            <a:ln w="25400" cap="sq">
              <a:solidFill>
                <a:srgbClr val="8B1A1A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5120640" y="4773168"/>
            <a:ext cx="3474720" cy="548640"/>
            <a:chOff x="0" y="0"/>
            <a:chExt cx="4632960" cy="7315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632960" cy="731520"/>
            </a:xfrm>
            <a:custGeom>
              <a:avLst/>
              <a:gdLst/>
              <a:ahLst/>
              <a:cxnLst/>
              <a:rect r="r" b="b" t="t" l="l"/>
              <a:pathLst>
                <a:path h="7315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4632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Max Drawdown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4937760" y="5248656"/>
            <a:ext cx="3840480" cy="950976"/>
            <a:chOff x="0" y="0"/>
            <a:chExt cx="5120640" cy="126796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1206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85725"/>
              <a:ext cx="5120640" cy="1353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-18.5%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5120640" y="6217920"/>
            <a:ext cx="3474720" cy="493776"/>
            <a:chOff x="0" y="0"/>
            <a:chExt cx="4632960" cy="65836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632960" cy="658368"/>
            </a:xfrm>
            <a:custGeom>
              <a:avLst/>
              <a:gdLst/>
              <a:ahLst/>
              <a:cxnLst/>
              <a:rect r="r" b="b" t="t" l="l"/>
              <a:pathLst>
                <a:path h="65836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116" r="0" b="-87116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463296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Peak-to-Trough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222743" y="4650743"/>
            <a:ext cx="3865883" cy="2183387"/>
            <a:chOff x="0" y="0"/>
            <a:chExt cx="5154511" cy="2911183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154549" cy="2911221"/>
            </a:xfrm>
            <a:custGeom>
              <a:avLst/>
              <a:gdLst/>
              <a:ahLst/>
              <a:cxnLst/>
              <a:rect r="r" b="b" t="t" l="l"/>
              <a:pathLst>
                <a:path h="2911221" w="5154549">
                  <a:moveTo>
                    <a:pt x="0" y="246761"/>
                  </a:moveTo>
                  <a:cubicBezTo>
                    <a:pt x="0" y="110490"/>
                    <a:pt x="110490" y="0"/>
                    <a:pt x="246761" y="0"/>
                  </a:cubicBezTo>
                  <a:lnTo>
                    <a:pt x="4907788" y="0"/>
                  </a:lnTo>
                  <a:cubicBezTo>
                    <a:pt x="5044059" y="0"/>
                    <a:pt x="5154549" y="110490"/>
                    <a:pt x="5154549" y="246761"/>
                  </a:cubicBezTo>
                  <a:lnTo>
                    <a:pt x="5154549" y="2664460"/>
                  </a:lnTo>
                  <a:cubicBezTo>
                    <a:pt x="5154549" y="2800731"/>
                    <a:pt x="5044059" y="2911221"/>
                    <a:pt x="4907788" y="2911221"/>
                  </a:cubicBezTo>
                  <a:lnTo>
                    <a:pt x="246761" y="2911221"/>
                  </a:lnTo>
                  <a:cubicBezTo>
                    <a:pt x="110490" y="2911221"/>
                    <a:pt x="0" y="2800731"/>
                    <a:pt x="0" y="2664460"/>
                  </a:cubicBezTo>
                  <a:close/>
                </a:path>
              </a:pathLst>
            </a:custGeom>
            <a:solidFill>
              <a:srgbClr val="2A6A5A"/>
            </a:solidFill>
            <a:ln w="25400" cap="sq">
              <a:solidFill>
                <a:srgbClr val="2A6A5A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9418320" y="4773168"/>
            <a:ext cx="3474720" cy="548640"/>
            <a:chOff x="0" y="0"/>
            <a:chExt cx="4632960" cy="7315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632960" cy="731520"/>
            </a:xfrm>
            <a:custGeom>
              <a:avLst/>
              <a:gdLst/>
              <a:ahLst/>
              <a:cxnLst/>
              <a:rect r="r" b="b" t="t" l="l"/>
              <a:pathLst>
                <a:path h="7315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4632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Tracking Error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235440" y="5248656"/>
            <a:ext cx="3840480" cy="950976"/>
            <a:chOff x="0" y="0"/>
            <a:chExt cx="5120640" cy="126796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1206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85725"/>
              <a:ext cx="5120640" cy="1353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3.2%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418320" y="6217920"/>
            <a:ext cx="3474720" cy="493776"/>
            <a:chOff x="0" y="0"/>
            <a:chExt cx="4632960" cy="65836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632960" cy="658368"/>
            </a:xfrm>
            <a:custGeom>
              <a:avLst/>
              <a:gdLst/>
              <a:ahLst/>
              <a:cxnLst/>
              <a:rect r="r" b="b" t="t" l="l"/>
              <a:pathLst>
                <a:path h="65836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116" r="0" b="-87116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28575"/>
              <a:ext cx="463296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Benchmark Dev.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3520423" y="4650743"/>
            <a:ext cx="3865883" cy="2183387"/>
            <a:chOff x="0" y="0"/>
            <a:chExt cx="5154511" cy="2911183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154549" cy="2911221"/>
            </a:xfrm>
            <a:custGeom>
              <a:avLst/>
              <a:gdLst/>
              <a:ahLst/>
              <a:cxnLst/>
              <a:rect r="r" b="b" t="t" l="l"/>
              <a:pathLst>
                <a:path h="2911221" w="5154549">
                  <a:moveTo>
                    <a:pt x="0" y="246761"/>
                  </a:moveTo>
                  <a:cubicBezTo>
                    <a:pt x="0" y="110490"/>
                    <a:pt x="110490" y="0"/>
                    <a:pt x="246761" y="0"/>
                  </a:cubicBezTo>
                  <a:lnTo>
                    <a:pt x="4907788" y="0"/>
                  </a:lnTo>
                  <a:cubicBezTo>
                    <a:pt x="5044059" y="0"/>
                    <a:pt x="5154549" y="110490"/>
                    <a:pt x="5154549" y="246761"/>
                  </a:cubicBezTo>
                  <a:lnTo>
                    <a:pt x="5154549" y="2664460"/>
                  </a:lnTo>
                  <a:cubicBezTo>
                    <a:pt x="5154549" y="2800731"/>
                    <a:pt x="5044059" y="2911221"/>
                    <a:pt x="4907788" y="2911221"/>
                  </a:cubicBezTo>
                  <a:lnTo>
                    <a:pt x="246761" y="2911221"/>
                  </a:lnTo>
                  <a:cubicBezTo>
                    <a:pt x="110490" y="2911221"/>
                    <a:pt x="0" y="2800731"/>
                    <a:pt x="0" y="2664460"/>
                  </a:cubicBezTo>
                  <a:close/>
                </a:path>
              </a:pathLst>
            </a:custGeom>
            <a:solidFill>
              <a:srgbClr val="1565C0"/>
            </a:solidFill>
            <a:ln w="254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13716000" y="4773168"/>
            <a:ext cx="3474720" cy="548640"/>
            <a:chOff x="0" y="0"/>
            <a:chExt cx="4632960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632960" cy="731520"/>
            </a:xfrm>
            <a:custGeom>
              <a:avLst/>
              <a:gdLst/>
              <a:ahLst/>
              <a:cxnLst/>
              <a:rect r="r" b="b" t="t" l="l"/>
              <a:pathLst>
                <a:path h="7315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4632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Fund Score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3533120" y="5248656"/>
            <a:ext cx="3840480" cy="950976"/>
            <a:chOff x="0" y="0"/>
            <a:chExt cx="5120640" cy="126796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1206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85725"/>
              <a:ext cx="5120640" cy="1353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78/100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716000" y="6217920"/>
            <a:ext cx="3474720" cy="493776"/>
            <a:chOff x="0" y="0"/>
            <a:chExt cx="4632960" cy="65836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632960" cy="658368"/>
            </a:xfrm>
            <a:custGeom>
              <a:avLst/>
              <a:gdLst/>
              <a:ahLst/>
              <a:cxnLst/>
              <a:rect r="r" b="b" t="t" l="l"/>
              <a:pathLst>
                <a:path h="65836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116" r="0" b="-87116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463296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Composite Score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640080" y="7223760"/>
            <a:ext cx="17007840" cy="585216"/>
            <a:chOff x="0" y="0"/>
            <a:chExt cx="22677120" cy="78028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2677120" cy="780288"/>
            </a:xfrm>
            <a:custGeom>
              <a:avLst/>
              <a:gdLst/>
              <a:ahLst/>
              <a:cxnLst/>
              <a:rect r="r" b="b" t="t" l="l"/>
              <a:pathLst>
                <a:path h="78028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6283" r="0" b="-516283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22677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Composite Fund Score Weights</a:t>
              </a:r>
            </a:p>
          </p:txBody>
        </p:sp>
      </p:grpSp>
      <p:pic>
        <p:nvPicPr>
          <p:cNvPr name="Picture 101" id="10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060704" y="6163056"/>
            <a:ext cx="20409408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945643"/>
            <a:chOff x="0" y="0"/>
            <a:chExt cx="24417871" cy="25941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594229"/>
            </a:xfrm>
            <a:custGeom>
              <a:avLst/>
              <a:gdLst/>
              <a:ahLst/>
              <a:cxnLst/>
              <a:rect r="r" b="b" t="t" l="l"/>
              <a:pathLst>
                <a:path h="25942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0D3461"/>
            </a:solidFill>
            <a:ln w="25400" cap="sq">
              <a:solidFill>
                <a:srgbClr val="0D346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19456"/>
            <a:ext cx="14630400" cy="914400"/>
            <a:chOff x="0" y="0"/>
            <a:chExt cx="195072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1950720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 Analytics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133856"/>
            <a:ext cx="14630400" cy="512064"/>
            <a:chOff x="0" y="0"/>
            <a:chExt cx="1950720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0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9507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Portfolio Risk Assessment &amp; Investor Behavior Analysis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35943" y="2090423"/>
            <a:ext cx="3865883" cy="2585723"/>
            <a:chOff x="0" y="0"/>
            <a:chExt cx="5154511" cy="34476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54549" cy="3447669"/>
            </a:xfrm>
            <a:custGeom>
              <a:avLst/>
              <a:gdLst/>
              <a:ahLst/>
              <a:cxnLst/>
              <a:rect r="r" b="b" t="t" l="l"/>
              <a:pathLst>
                <a:path h="3447669" w="5154549">
                  <a:moveTo>
                    <a:pt x="0" y="246253"/>
                  </a:moveTo>
                  <a:cubicBezTo>
                    <a:pt x="0" y="110236"/>
                    <a:pt x="110236" y="0"/>
                    <a:pt x="246253" y="0"/>
                  </a:cubicBezTo>
                  <a:lnTo>
                    <a:pt x="4908296" y="0"/>
                  </a:lnTo>
                  <a:cubicBezTo>
                    <a:pt x="5044313" y="0"/>
                    <a:pt x="5154549" y="110236"/>
                    <a:pt x="5154549" y="246253"/>
                  </a:cubicBezTo>
                  <a:lnTo>
                    <a:pt x="5154549" y="3201416"/>
                  </a:lnTo>
                  <a:cubicBezTo>
                    <a:pt x="5154549" y="3337433"/>
                    <a:pt x="5044313" y="3447669"/>
                    <a:pt x="4908296" y="3447669"/>
                  </a:cubicBezTo>
                  <a:lnTo>
                    <a:pt x="246253" y="3447669"/>
                  </a:lnTo>
                  <a:cubicBezTo>
                    <a:pt x="110236" y="3447669"/>
                    <a:pt x="0" y="3337433"/>
                    <a:pt x="0" y="3201416"/>
                  </a:cubicBezTo>
                  <a:close/>
                </a:path>
              </a:pathLst>
            </a:custGeom>
            <a:solidFill>
              <a:srgbClr val="8B1A1A"/>
            </a:solidFill>
            <a:ln w="25400" cap="sq">
              <a:solidFill>
                <a:srgbClr val="8B1A1A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31520" y="2194560"/>
            <a:ext cx="3474720" cy="914400"/>
            <a:chOff x="0" y="0"/>
            <a:chExt cx="4632960" cy="1219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63296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Value at Risk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(VaR)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31520" y="3145536"/>
            <a:ext cx="3474720" cy="1371600"/>
            <a:chOff x="0" y="0"/>
            <a:chExt cx="4632960" cy="182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32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6" t="0" r="-646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63296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95% confidence: Max daily loss at -2.3%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833623" y="2090423"/>
            <a:ext cx="3865883" cy="2585723"/>
            <a:chOff x="0" y="0"/>
            <a:chExt cx="5154511" cy="34476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54549" cy="3447669"/>
            </a:xfrm>
            <a:custGeom>
              <a:avLst/>
              <a:gdLst/>
              <a:ahLst/>
              <a:cxnLst/>
              <a:rect r="r" b="b" t="t" l="l"/>
              <a:pathLst>
                <a:path h="3447669" w="5154549">
                  <a:moveTo>
                    <a:pt x="0" y="246253"/>
                  </a:moveTo>
                  <a:cubicBezTo>
                    <a:pt x="0" y="110236"/>
                    <a:pt x="110236" y="0"/>
                    <a:pt x="246253" y="0"/>
                  </a:cubicBezTo>
                  <a:lnTo>
                    <a:pt x="4908296" y="0"/>
                  </a:lnTo>
                  <a:cubicBezTo>
                    <a:pt x="5044313" y="0"/>
                    <a:pt x="5154549" y="110236"/>
                    <a:pt x="5154549" y="246253"/>
                  </a:cubicBezTo>
                  <a:lnTo>
                    <a:pt x="5154549" y="3201416"/>
                  </a:lnTo>
                  <a:cubicBezTo>
                    <a:pt x="5154549" y="3337433"/>
                    <a:pt x="5044313" y="3447669"/>
                    <a:pt x="4908296" y="3447669"/>
                  </a:cubicBezTo>
                  <a:lnTo>
                    <a:pt x="246253" y="3447669"/>
                  </a:lnTo>
                  <a:cubicBezTo>
                    <a:pt x="110236" y="3447669"/>
                    <a:pt x="0" y="3337433"/>
                    <a:pt x="0" y="3201416"/>
                  </a:cubicBezTo>
                  <a:close/>
                </a:path>
              </a:pathLst>
            </a:custGeom>
            <a:solidFill>
              <a:srgbClr val="9B2D1A"/>
            </a:solidFill>
            <a:ln w="25400" cap="sq">
              <a:solidFill>
                <a:srgbClr val="9B2D1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5029200" y="2194560"/>
            <a:ext cx="3474720" cy="914400"/>
            <a:chOff x="0" y="0"/>
            <a:chExt cx="4632960" cy="121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63296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CVaR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(Expected Shortfall)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029200" y="3145536"/>
            <a:ext cx="3474720" cy="1371600"/>
            <a:chOff x="0" y="0"/>
            <a:chExt cx="4632960" cy="1828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632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6" t="0" r="-646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63296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Expected loss beyond VaR threshold: -3.7%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31303" y="2090423"/>
            <a:ext cx="3865883" cy="2585723"/>
            <a:chOff x="0" y="0"/>
            <a:chExt cx="5154511" cy="344763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54549" cy="3447669"/>
            </a:xfrm>
            <a:custGeom>
              <a:avLst/>
              <a:gdLst/>
              <a:ahLst/>
              <a:cxnLst/>
              <a:rect r="r" b="b" t="t" l="l"/>
              <a:pathLst>
                <a:path h="3447669" w="5154549">
                  <a:moveTo>
                    <a:pt x="0" y="246253"/>
                  </a:moveTo>
                  <a:cubicBezTo>
                    <a:pt x="0" y="110236"/>
                    <a:pt x="110236" y="0"/>
                    <a:pt x="246253" y="0"/>
                  </a:cubicBezTo>
                  <a:lnTo>
                    <a:pt x="4908296" y="0"/>
                  </a:lnTo>
                  <a:cubicBezTo>
                    <a:pt x="5044313" y="0"/>
                    <a:pt x="5154549" y="110236"/>
                    <a:pt x="5154549" y="246253"/>
                  </a:cubicBezTo>
                  <a:lnTo>
                    <a:pt x="5154549" y="3201416"/>
                  </a:lnTo>
                  <a:cubicBezTo>
                    <a:pt x="5154549" y="3337433"/>
                    <a:pt x="5044313" y="3447669"/>
                    <a:pt x="4908296" y="3447669"/>
                  </a:cubicBezTo>
                  <a:lnTo>
                    <a:pt x="246253" y="3447669"/>
                  </a:lnTo>
                  <a:cubicBezTo>
                    <a:pt x="110236" y="3447669"/>
                    <a:pt x="0" y="3337433"/>
                    <a:pt x="0" y="3201416"/>
                  </a:cubicBezTo>
                  <a:close/>
                </a:path>
              </a:pathLst>
            </a:custGeom>
            <a:solidFill>
              <a:srgbClr val="1A5276"/>
            </a:solidFill>
            <a:ln w="25400" cap="sq">
              <a:solidFill>
                <a:srgbClr val="1A5276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326880" y="2194560"/>
            <a:ext cx="3474720" cy="914400"/>
            <a:chOff x="0" y="0"/>
            <a:chExt cx="4632960" cy="1219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63296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Rolling Sharpe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(90-day)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326880" y="3145536"/>
            <a:ext cx="3474720" cy="1371600"/>
            <a:chOff x="0" y="0"/>
            <a:chExt cx="4632960" cy="1828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632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6" t="0" r="-646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63296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Dynamic risk-adjusted performance monitoring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428983" y="2090423"/>
            <a:ext cx="3865883" cy="2585723"/>
            <a:chOff x="0" y="0"/>
            <a:chExt cx="5154511" cy="344763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54549" cy="3447669"/>
            </a:xfrm>
            <a:custGeom>
              <a:avLst/>
              <a:gdLst/>
              <a:ahLst/>
              <a:cxnLst/>
              <a:rect r="r" b="b" t="t" l="l"/>
              <a:pathLst>
                <a:path h="3447669" w="5154549">
                  <a:moveTo>
                    <a:pt x="0" y="246253"/>
                  </a:moveTo>
                  <a:cubicBezTo>
                    <a:pt x="0" y="110236"/>
                    <a:pt x="110236" y="0"/>
                    <a:pt x="246253" y="0"/>
                  </a:cubicBezTo>
                  <a:lnTo>
                    <a:pt x="4908296" y="0"/>
                  </a:lnTo>
                  <a:cubicBezTo>
                    <a:pt x="5044313" y="0"/>
                    <a:pt x="5154549" y="110236"/>
                    <a:pt x="5154549" y="246253"/>
                  </a:cubicBezTo>
                  <a:lnTo>
                    <a:pt x="5154549" y="3201416"/>
                  </a:lnTo>
                  <a:cubicBezTo>
                    <a:pt x="5154549" y="3337433"/>
                    <a:pt x="5044313" y="3447669"/>
                    <a:pt x="4908296" y="3447669"/>
                  </a:cubicBezTo>
                  <a:lnTo>
                    <a:pt x="246253" y="3447669"/>
                  </a:lnTo>
                  <a:cubicBezTo>
                    <a:pt x="110236" y="3447669"/>
                    <a:pt x="0" y="3337433"/>
                    <a:pt x="0" y="3201416"/>
                  </a:cubicBezTo>
                  <a:close/>
                </a:path>
              </a:pathLst>
            </a:custGeom>
            <a:solidFill>
              <a:srgbClr val="1A7A4A"/>
            </a:solidFill>
            <a:ln w="25400" cap="sq">
              <a:solidFill>
                <a:srgbClr val="1A7A4A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3624560" y="2194560"/>
            <a:ext cx="3474720" cy="914400"/>
            <a:chOff x="0" y="0"/>
            <a:chExt cx="4632960" cy="1219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463296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HHI Concentration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Index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624560" y="3145536"/>
            <a:ext cx="3474720" cy="1371600"/>
            <a:chOff x="0" y="0"/>
            <a:chExt cx="4632960" cy="1828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632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6" t="0" r="-646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463296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Portfolio concentration risk via Herfindahl-Hirschman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48640" y="4937760"/>
            <a:ext cx="9509760" cy="585216"/>
            <a:chOff x="0" y="0"/>
            <a:chExt cx="12679680" cy="78028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679680" cy="780288"/>
            </a:xfrm>
            <a:custGeom>
              <a:avLst/>
              <a:gdLst/>
              <a:ahLst/>
              <a:cxnLst/>
              <a:rect r="r" b="b" t="t" l="l"/>
              <a:pathLst>
                <a:path h="780288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26796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0A5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Correlation Matrix — Diversification Opportunities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48640" y="5760720"/>
            <a:ext cx="1316736" cy="640080"/>
            <a:chOff x="0" y="0"/>
            <a:chExt cx="1755648" cy="8534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755648" cy="853440"/>
            </a:xfrm>
            <a:custGeom>
              <a:avLst/>
              <a:gdLst/>
              <a:ahLst/>
              <a:cxnLst/>
              <a:rect r="r" b="b" t="t" l="l"/>
              <a:pathLst>
                <a:path h="853440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369" t="0" r="-12369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75564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Equity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048256" y="5577840"/>
            <a:ext cx="1188720" cy="548640"/>
            <a:chOff x="0" y="0"/>
            <a:chExt cx="1584960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58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584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Equity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548640" y="6455664"/>
            <a:ext cx="1316736" cy="640080"/>
            <a:chOff x="0" y="0"/>
            <a:chExt cx="1755648" cy="8534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755648" cy="853440"/>
            </a:xfrm>
            <a:custGeom>
              <a:avLst/>
              <a:gdLst/>
              <a:ahLst/>
              <a:cxnLst/>
              <a:rect r="r" b="b" t="t" l="l"/>
              <a:pathLst>
                <a:path h="853440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369" t="0" r="-12369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75564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Debt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3328416" y="5577840"/>
            <a:ext cx="1188720" cy="548640"/>
            <a:chOff x="0" y="0"/>
            <a:chExt cx="1584960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58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584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Debt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48640" y="7150608"/>
            <a:ext cx="1316736" cy="640080"/>
            <a:chOff x="0" y="0"/>
            <a:chExt cx="1755648" cy="8534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755648" cy="853440"/>
            </a:xfrm>
            <a:custGeom>
              <a:avLst/>
              <a:gdLst/>
              <a:ahLst/>
              <a:cxnLst/>
              <a:rect r="r" b="b" t="t" l="l"/>
              <a:pathLst>
                <a:path h="853440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369" t="0" r="-12369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75564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Liquid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4608576" y="5577840"/>
            <a:ext cx="1188720" cy="548640"/>
            <a:chOff x="0" y="0"/>
            <a:chExt cx="1584960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58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584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Liquid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548640" y="7845552"/>
            <a:ext cx="1316736" cy="640080"/>
            <a:chOff x="0" y="0"/>
            <a:chExt cx="1755648" cy="8534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755648" cy="853440"/>
            </a:xfrm>
            <a:custGeom>
              <a:avLst/>
              <a:gdLst/>
              <a:ahLst/>
              <a:cxnLst/>
              <a:rect r="r" b="b" t="t" l="l"/>
              <a:pathLst>
                <a:path h="853440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369" t="0" r="-12369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75564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Hybrid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5888736" y="5577840"/>
            <a:ext cx="1188720" cy="548640"/>
            <a:chOff x="0" y="0"/>
            <a:chExt cx="1584960" cy="7315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58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584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Hybrid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548640" y="8540496"/>
            <a:ext cx="1316736" cy="640080"/>
            <a:chOff x="0" y="0"/>
            <a:chExt cx="1755648" cy="8534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755648" cy="853440"/>
            </a:xfrm>
            <a:custGeom>
              <a:avLst/>
              <a:gdLst/>
              <a:ahLst/>
              <a:cxnLst/>
              <a:rect r="r" b="b" t="t" l="l"/>
              <a:pathLst>
                <a:path h="853440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369" t="0" r="-12369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175564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ELSS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168896" y="5577840"/>
            <a:ext cx="1188720" cy="548640"/>
            <a:chOff x="0" y="0"/>
            <a:chExt cx="1584960" cy="7315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58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1584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ELSS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2035559" y="5693159"/>
            <a:ext cx="1159259" cy="610619"/>
            <a:chOff x="0" y="0"/>
            <a:chExt cx="1545679" cy="81415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545717" cy="814197"/>
            </a:xfrm>
            <a:custGeom>
              <a:avLst/>
              <a:gdLst/>
              <a:ahLst/>
              <a:cxnLst/>
              <a:rect r="r" b="b" t="t" l="l"/>
              <a:pathLst>
                <a:path h="814197" w="1545717">
                  <a:moveTo>
                    <a:pt x="0" y="76327"/>
                  </a:moveTo>
                  <a:cubicBezTo>
                    <a:pt x="0" y="34163"/>
                    <a:pt x="34163" y="0"/>
                    <a:pt x="76327" y="0"/>
                  </a:cubicBezTo>
                  <a:lnTo>
                    <a:pt x="1469390" y="0"/>
                  </a:lnTo>
                  <a:cubicBezTo>
                    <a:pt x="1511554" y="0"/>
                    <a:pt x="1545717" y="34163"/>
                    <a:pt x="1545717" y="76327"/>
                  </a:cubicBezTo>
                  <a:lnTo>
                    <a:pt x="1545717" y="737870"/>
                  </a:lnTo>
                  <a:cubicBezTo>
                    <a:pt x="1545717" y="780034"/>
                    <a:pt x="1511554" y="814197"/>
                    <a:pt x="1469390" y="814197"/>
                  </a:cubicBezTo>
                  <a:lnTo>
                    <a:pt x="76327" y="814197"/>
                  </a:lnTo>
                  <a:cubicBezTo>
                    <a:pt x="34163" y="814197"/>
                    <a:pt x="0" y="780034"/>
                    <a:pt x="0" y="737870"/>
                  </a:cubicBezTo>
                  <a:close/>
                </a:path>
              </a:pathLst>
            </a:custGeom>
            <a:solidFill>
              <a:srgbClr val="8B1A1A"/>
            </a:solidFill>
            <a:ln w="25400" cap="sq">
              <a:solidFill>
                <a:srgbClr val="8B1A1A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2048256" y="5705856"/>
            <a:ext cx="1133856" cy="585216"/>
            <a:chOff x="0" y="0"/>
            <a:chExt cx="1511808" cy="78028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511808" cy="780288"/>
            </a:xfrm>
            <a:custGeom>
              <a:avLst/>
              <a:gdLst/>
              <a:ahLst/>
              <a:cxnLst/>
              <a:rect r="r" b="b" t="t" l="l"/>
              <a:pathLst>
                <a:path h="78028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221" t="0" r="-16221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151180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1.0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3315719" y="5693159"/>
            <a:ext cx="1159259" cy="610619"/>
            <a:chOff x="0" y="0"/>
            <a:chExt cx="1545679" cy="81415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545717" cy="814197"/>
            </a:xfrm>
            <a:custGeom>
              <a:avLst/>
              <a:gdLst/>
              <a:ahLst/>
              <a:cxnLst/>
              <a:rect r="r" b="b" t="t" l="l"/>
              <a:pathLst>
                <a:path h="814197" w="1545717">
                  <a:moveTo>
                    <a:pt x="0" y="76327"/>
                  </a:moveTo>
                  <a:cubicBezTo>
                    <a:pt x="0" y="34163"/>
                    <a:pt x="34163" y="0"/>
                    <a:pt x="76327" y="0"/>
                  </a:cubicBezTo>
                  <a:lnTo>
                    <a:pt x="1469390" y="0"/>
                  </a:lnTo>
                  <a:cubicBezTo>
                    <a:pt x="1511554" y="0"/>
                    <a:pt x="1545717" y="34163"/>
                    <a:pt x="1545717" y="76327"/>
                  </a:cubicBezTo>
                  <a:lnTo>
                    <a:pt x="1545717" y="737870"/>
                  </a:lnTo>
                  <a:cubicBezTo>
                    <a:pt x="1545717" y="780034"/>
                    <a:pt x="1511554" y="814197"/>
                    <a:pt x="1469390" y="814197"/>
                  </a:cubicBezTo>
                  <a:lnTo>
                    <a:pt x="76327" y="814197"/>
                  </a:lnTo>
                  <a:cubicBezTo>
                    <a:pt x="34163" y="814197"/>
                    <a:pt x="0" y="780034"/>
                    <a:pt x="0" y="737870"/>
                  </a:cubicBezTo>
                  <a:close/>
                </a:path>
              </a:pathLst>
            </a:custGeom>
            <a:solidFill>
              <a:srgbClr val="1A7A4A"/>
            </a:solidFill>
            <a:ln w="25400" cap="sq">
              <a:solidFill>
                <a:srgbClr val="1A7A4A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3328416" y="5705856"/>
            <a:ext cx="1133856" cy="585216"/>
            <a:chOff x="0" y="0"/>
            <a:chExt cx="1511808" cy="78028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511808" cy="780288"/>
            </a:xfrm>
            <a:custGeom>
              <a:avLst/>
              <a:gdLst/>
              <a:ahLst/>
              <a:cxnLst/>
              <a:rect r="r" b="b" t="t" l="l"/>
              <a:pathLst>
                <a:path h="78028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221" t="0" r="-16221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151180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-0.3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4595879" y="5693159"/>
            <a:ext cx="1159259" cy="610619"/>
            <a:chOff x="0" y="0"/>
            <a:chExt cx="1545679" cy="814159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545717" cy="814197"/>
            </a:xfrm>
            <a:custGeom>
              <a:avLst/>
              <a:gdLst/>
              <a:ahLst/>
              <a:cxnLst/>
              <a:rect r="r" b="b" t="t" l="l"/>
              <a:pathLst>
                <a:path h="814197" w="1545717">
                  <a:moveTo>
                    <a:pt x="0" y="76327"/>
                  </a:moveTo>
                  <a:cubicBezTo>
                    <a:pt x="0" y="34163"/>
                    <a:pt x="34163" y="0"/>
                    <a:pt x="76327" y="0"/>
                  </a:cubicBezTo>
                  <a:lnTo>
                    <a:pt x="1469390" y="0"/>
                  </a:lnTo>
                  <a:cubicBezTo>
                    <a:pt x="1511554" y="0"/>
                    <a:pt x="1545717" y="34163"/>
                    <a:pt x="1545717" y="76327"/>
                  </a:cubicBezTo>
                  <a:lnTo>
                    <a:pt x="1545717" y="737870"/>
                  </a:lnTo>
                  <a:cubicBezTo>
                    <a:pt x="1545717" y="780034"/>
                    <a:pt x="1511554" y="814197"/>
                    <a:pt x="1469390" y="814197"/>
                  </a:cubicBezTo>
                  <a:lnTo>
                    <a:pt x="76327" y="814197"/>
                  </a:lnTo>
                  <a:cubicBezTo>
                    <a:pt x="34163" y="814197"/>
                    <a:pt x="0" y="780034"/>
                    <a:pt x="0" y="737870"/>
                  </a:cubicBezTo>
                  <a:close/>
                </a:path>
              </a:pathLst>
            </a:custGeom>
            <a:solidFill>
              <a:srgbClr val="1A7A4A"/>
            </a:solidFill>
            <a:ln w="25400" cap="sq">
              <a:solidFill>
                <a:srgbClr val="1A7A4A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4608576" y="5705856"/>
            <a:ext cx="1133856" cy="585216"/>
            <a:chOff x="0" y="0"/>
            <a:chExt cx="1511808" cy="78028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511808" cy="780288"/>
            </a:xfrm>
            <a:custGeom>
              <a:avLst/>
              <a:gdLst/>
              <a:ahLst/>
              <a:cxnLst/>
              <a:rect r="r" b="b" t="t" l="l"/>
              <a:pathLst>
                <a:path h="78028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221" t="0" r="-16221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28575"/>
              <a:ext cx="151180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-0.4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5876039" y="5693159"/>
            <a:ext cx="1159259" cy="610619"/>
            <a:chOff x="0" y="0"/>
            <a:chExt cx="1545679" cy="814159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545717" cy="814197"/>
            </a:xfrm>
            <a:custGeom>
              <a:avLst/>
              <a:gdLst/>
              <a:ahLst/>
              <a:cxnLst/>
              <a:rect r="r" b="b" t="t" l="l"/>
              <a:pathLst>
                <a:path h="814197" w="1545717">
                  <a:moveTo>
                    <a:pt x="0" y="76327"/>
                  </a:moveTo>
                  <a:cubicBezTo>
                    <a:pt x="0" y="34163"/>
                    <a:pt x="34163" y="0"/>
                    <a:pt x="76327" y="0"/>
                  </a:cubicBezTo>
                  <a:lnTo>
                    <a:pt x="1469390" y="0"/>
                  </a:lnTo>
                  <a:cubicBezTo>
                    <a:pt x="1511554" y="0"/>
                    <a:pt x="1545717" y="34163"/>
                    <a:pt x="1545717" y="76327"/>
                  </a:cubicBezTo>
                  <a:lnTo>
                    <a:pt x="1545717" y="737870"/>
                  </a:lnTo>
                  <a:cubicBezTo>
                    <a:pt x="1545717" y="780034"/>
                    <a:pt x="1511554" y="814197"/>
                    <a:pt x="1469390" y="814197"/>
                  </a:cubicBezTo>
                  <a:lnTo>
                    <a:pt x="76327" y="814197"/>
                  </a:lnTo>
                  <a:cubicBezTo>
                    <a:pt x="34163" y="814197"/>
                    <a:pt x="0" y="780034"/>
                    <a:pt x="0" y="737870"/>
                  </a:cubicBezTo>
                  <a:close/>
                </a:path>
              </a:pathLst>
            </a:custGeom>
            <a:solidFill>
              <a:srgbClr val="1565C0"/>
            </a:solidFill>
            <a:ln w="254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5888736" y="5705856"/>
            <a:ext cx="1133856" cy="585216"/>
            <a:chOff x="0" y="0"/>
            <a:chExt cx="1511808" cy="78028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511808" cy="780288"/>
            </a:xfrm>
            <a:custGeom>
              <a:avLst/>
              <a:gdLst/>
              <a:ahLst/>
              <a:cxnLst/>
              <a:rect r="r" b="b" t="t" l="l"/>
              <a:pathLst>
                <a:path h="78028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221" t="0" r="-16221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151180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0.6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7156199" y="5693159"/>
            <a:ext cx="1159259" cy="610619"/>
            <a:chOff x="0" y="0"/>
            <a:chExt cx="1545679" cy="814159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545717" cy="814197"/>
            </a:xfrm>
            <a:custGeom>
              <a:avLst/>
              <a:gdLst/>
              <a:ahLst/>
              <a:cxnLst/>
              <a:rect r="r" b="b" t="t" l="l"/>
              <a:pathLst>
                <a:path h="814197" w="1545717">
                  <a:moveTo>
                    <a:pt x="0" y="76327"/>
                  </a:moveTo>
                  <a:cubicBezTo>
                    <a:pt x="0" y="34163"/>
                    <a:pt x="34163" y="0"/>
                    <a:pt x="76327" y="0"/>
                  </a:cubicBezTo>
                  <a:lnTo>
                    <a:pt x="1469390" y="0"/>
                  </a:lnTo>
                  <a:cubicBezTo>
                    <a:pt x="1511554" y="0"/>
                    <a:pt x="1545717" y="34163"/>
                    <a:pt x="1545717" y="76327"/>
                  </a:cubicBezTo>
                  <a:lnTo>
                    <a:pt x="1545717" y="737870"/>
                  </a:lnTo>
                  <a:cubicBezTo>
                    <a:pt x="1545717" y="780034"/>
                    <a:pt x="1511554" y="814197"/>
                    <a:pt x="1469390" y="814197"/>
                  </a:cubicBezTo>
                  <a:lnTo>
                    <a:pt x="76327" y="814197"/>
                  </a:lnTo>
                  <a:cubicBezTo>
                    <a:pt x="34163" y="814197"/>
                    <a:pt x="0" y="780034"/>
                    <a:pt x="0" y="737870"/>
                  </a:cubicBezTo>
                  <a:close/>
                </a:path>
              </a:pathLst>
            </a:custGeom>
            <a:solidFill>
              <a:srgbClr val="8B1A1A"/>
            </a:solidFill>
            <a:ln w="25400" cap="sq">
              <a:solidFill>
                <a:srgbClr val="8B1A1A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7168896" y="5705856"/>
            <a:ext cx="1133856" cy="585216"/>
            <a:chOff x="0" y="0"/>
            <a:chExt cx="1511808" cy="78028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511808" cy="780288"/>
            </a:xfrm>
            <a:custGeom>
              <a:avLst/>
              <a:gdLst/>
              <a:ahLst/>
              <a:cxnLst/>
              <a:rect r="r" b="b" t="t" l="l"/>
              <a:pathLst>
                <a:path h="78028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221" t="0" r="-16221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28575"/>
              <a:ext cx="151180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0.8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2035559" y="6388103"/>
            <a:ext cx="1159259" cy="610619"/>
            <a:chOff x="0" y="0"/>
            <a:chExt cx="1545679" cy="814159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545717" cy="814197"/>
            </a:xfrm>
            <a:custGeom>
              <a:avLst/>
              <a:gdLst/>
              <a:ahLst/>
              <a:cxnLst/>
              <a:rect r="r" b="b" t="t" l="l"/>
              <a:pathLst>
                <a:path h="814197" w="1545717">
                  <a:moveTo>
                    <a:pt x="0" y="76327"/>
                  </a:moveTo>
                  <a:cubicBezTo>
                    <a:pt x="0" y="34163"/>
                    <a:pt x="34163" y="0"/>
                    <a:pt x="76327" y="0"/>
                  </a:cubicBezTo>
                  <a:lnTo>
                    <a:pt x="1469390" y="0"/>
                  </a:lnTo>
                  <a:cubicBezTo>
                    <a:pt x="1511554" y="0"/>
                    <a:pt x="1545717" y="34163"/>
                    <a:pt x="1545717" y="76327"/>
                  </a:cubicBezTo>
                  <a:lnTo>
                    <a:pt x="1545717" y="737870"/>
                  </a:lnTo>
                  <a:cubicBezTo>
                    <a:pt x="1545717" y="780034"/>
                    <a:pt x="1511554" y="814197"/>
                    <a:pt x="1469390" y="814197"/>
                  </a:cubicBezTo>
                  <a:lnTo>
                    <a:pt x="76327" y="814197"/>
                  </a:lnTo>
                  <a:cubicBezTo>
                    <a:pt x="34163" y="814197"/>
                    <a:pt x="0" y="780034"/>
                    <a:pt x="0" y="737870"/>
                  </a:cubicBezTo>
                  <a:close/>
                </a:path>
              </a:pathLst>
            </a:custGeom>
            <a:solidFill>
              <a:srgbClr val="1A7A4A"/>
            </a:solidFill>
            <a:ln w="25400" cap="sq">
              <a:solidFill>
                <a:srgbClr val="1A7A4A"/>
              </a:solidFill>
              <a:prstDash val="solid"/>
              <a:miter/>
            </a:ln>
          </p:spPr>
        </p:sp>
      </p:grpSp>
      <p:grpSp>
        <p:nvGrpSpPr>
          <p:cNvPr name="Group 102" id="102"/>
          <p:cNvGrpSpPr/>
          <p:nvPr/>
        </p:nvGrpSpPr>
        <p:grpSpPr>
          <a:xfrm rot="0">
            <a:off x="2048256" y="6400800"/>
            <a:ext cx="1133856" cy="585216"/>
            <a:chOff x="0" y="0"/>
            <a:chExt cx="1511808" cy="78028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511808" cy="780288"/>
            </a:xfrm>
            <a:custGeom>
              <a:avLst/>
              <a:gdLst/>
              <a:ahLst/>
              <a:cxnLst/>
              <a:rect r="r" b="b" t="t" l="l"/>
              <a:pathLst>
                <a:path h="78028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221" t="0" r="-16221" b="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28575"/>
              <a:ext cx="151180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-0.3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3315719" y="6388103"/>
            <a:ext cx="1159259" cy="610619"/>
            <a:chOff x="0" y="0"/>
            <a:chExt cx="1545679" cy="814159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545717" cy="814197"/>
            </a:xfrm>
            <a:custGeom>
              <a:avLst/>
              <a:gdLst/>
              <a:ahLst/>
              <a:cxnLst/>
              <a:rect r="r" b="b" t="t" l="l"/>
              <a:pathLst>
                <a:path h="814197" w="1545717">
                  <a:moveTo>
                    <a:pt x="0" y="76327"/>
                  </a:moveTo>
                  <a:cubicBezTo>
                    <a:pt x="0" y="34163"/>
                    <a:pt x="34163" y="0"/>
                    <a:pt x="76327" y="0"/>
                  </a:cubicBezTo>
                  <a:lnTo>
                    <a:pt x="1469390" y="0"/>
                  </a:lnTo>
                  <a:cubicBezTo>
                    <a:pt x="1511554" y="0"/>
                    <a:pt x="1545717" y="34163"/>
                    <a:pt x="1545717" y="76327"/>
                  </a:cubicBezTo>
                  <a:lnTo>
                    <a:pt x="1545717" y="737870"/>
                  </a:lnTo>
                  <a:cubicBezTo>
                    <a:pt x="1545717" y="780034"/>
                    <a:pt x="1511554" y="814197"/>
                    <a:pt x="1469390" y="814197"/>
                  </a:cubicBezTo>
                  <a:lnTo>
                    <a:pt x="76327" y="814197"/>
                  </a:lnTo>
                  <a:cubicBezTo>
                    <a:pt x="34163" y="814197"/>
                    <a:pt x="0" y="780034"/>
                    <a:pt x="0" y="737870"/>
                  </a:cubicBezTo>
                  <a:close/>
                </a:path>
              </a:pathLst>
            </a:custGeom>
            <a:solidFill>
              <a:srgbClr val="8B1A1A"/>
            </a:solidFill>
            <a:ln w="25400" cap="sq">
              <a:solidFill>
                <a:srgbClr val="8B1A1A"/>
              </a:solidFill>
              <a:prstDash val="solid"/>
              <a:miter/>
            </a:ln>
          </p:spPr>
        </p:sp>
      </p:grpSp>
      <p:grpSp>
        <p:nvGrpSpPr>
          <p:cNvPr name="Group 107" id="107"/>
          <p:cNvGrpSpPr/>
          <p:nvPr/>
        </p:nvGrpSpPr>
        <p:grpSpPr>
          <a:xfrm rot="0">
            <a:off x="3328416" y="6400800"/>
            <a:ext cx="1133856" cy="585216"/>
            <a:chOff x="0" y="0"/>
            <a:chExt cx="1511808" cy="78028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511808" cy="780288"/>
            </a:xfrm>
            <a:custGeom>
              <a:avLst/>
              <a:gdLst/>
              <a:ahLst/>
              <a:cxnLst/>
              <a:rect r="r" b="b" t="t" l="l"/>
              <a:pathLst>
                <a:path h="78028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221" t="0" r="-16221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28575"/>
              <a:ext cx="151180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1.0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4595879" y="6388103"/>
            <a:ext cx="1159259" cy="610619"/>
            <a:chOff x="0" y="0"/>
            <a:chExt cx="1545679" cy="814159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545717" cy="814197"/>
            </a:xfrm>
            <a:custGeom>
              <a:avLst/>
              <a:gdLst/>
              <a:ahLst/>
              <a:cxnLst/>
              <a:rect r="r" b="b" t="t" l="l"/>
              <a:pathLst>
                <a:path h="814197" w="1545717">
                  <a:moveTo>
                    <a:pt x="0" y="76327"/>
                  </a:moveTo>
                  <a:cubicBezTo>
                    <a:pt x="0" y="34163"/>
                    <a:pt x="34163" y="0"/>
                    <a:pt x="76327" y="0"/>
                  </a:cubicBezTo>
                  <a:lnTo>
                    <a:pt x="1469390" y="0"/>
                  </a:lnTo>
                  <a:cubicBezTo>
                    <a:pt x="1511554" y="0"/>
                    <a:pt x="1545717" y="34163"/>
                    <a:pt x="1545717" y="76327"/>
                  </a:cubicBezTo>
                  <a:lnTo>
                    <a:pt x="1545717" y="737870"/>
                  </a:lnTo>
                  <a:cubicBezTo>
                    <a:pt x="1545717" y="780034"/>
                    <a:pt x="1511554" y="814197"/>
                    <a:pt x="1469390" y="814197"/>
                  </a:cubicBezTo>
                  <a:lnTo>
                    <a:pt x="76327" y="814197"/>
                  </a:lnTo>
                  <a:cubicBezTo>
                    <a:pt x="34163" y="814197"/>
                    <a:pt x="0" y="780034"/>
                    <a:pt x="0" y="737870"/>
                  </a:cubicBezTo>
                  <a:close/>
                </a:path>
              </a:pathLst>
            </a:custGeom>
            <a:solidFill>
              <a:srgbClr val="1565C0"/>
            </a:solidFill>
            <a:ln w="254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112" id="112"/>
          <p:cNvGrpSpPr/>
          <p:nvPr/>
        </p:nvGrpSpPr>
        <p:grpSpPr>
          <a:xfrm rot="0">
            <a:off x="4608576" y="6400800"/>
            <a:ext cx="1133856" cy="585216"/>
            <a:chOff x="0" y="0"/>
            <a:chExt cx="1511808" cy="78028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511808" cy="780288"/>
            </a:xfrm>
            <a:custGeom>
              <a:avLst/>
              <a:gdLst/>
              <a:ahLst/>
              <a:cxnLst/>
              <a:rect r="r" b="b" t="t" l="l"/>
              <a:pathLst>
                <a:path h="78028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221" t="0" r="-16221" b="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28575"/>
              <a:ext cx="151180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0.5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5876039" y="6388103"/>
            <a:ext cx="1159259" cy="610619"/>
            <a:chOff x="0" y="0"/>
            <a:chExt cx="1545679" cy="814159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545717" cy="814197"/>
            </a:xfrm>
            <a:custGeom>
              <a:avLst/>
              <a:gdLst/>
              <a:ahLst/>
              <a:cxnLst/>
              <a:rect r="r" b="b" t="t" l="l"/>
              <a:pathLst>
                <a:path h="814197" w="1545717">
                  <a:moveTo>
                    <a:pt x="0" y="76327"/>
                  </a:moveTo>
                  <a:cubicBezTo>
                    <a:pt x="0" y="34163"/>
                    <a:pt x="34163" y="0"/>
                    <a:pt x="76327" y="0"/>
                  </a:cubicBezTo>
                  <a:lnTo>
                    <a:pt x="1469390" y="0"/>
                  </a:lnTo>
                  <a:cubicBezTo>
                    <a:pt x="1511554" y="0"/>
                    <a:pt x="1545717" y="34163"/>
                    <a:pt x="1545717" y="76327"/>
                  </a:cubicBezTo>
                  <a:lnTo>
                    <a:pt x="1545717" y="737870"/>
                  </a:lnTo>
                  <a:cubicBezTo>
                    <a:pt x="1545717" y="780034"/>
                    <a:pt x="1511554" y="814197"/>
                    <a:pt x="1469390" y="814197"/>
                  </a:cubicBezTo>
                  <a:lnTo>
                    <a:pt x="76327" y="814197"/>
                  </a:lnTo>
                  <a:cubicBezTo>
                    <a:pt x="34163" y="814197"/>
                    <a:pt x="0" y="780034"/>
                    <a:pt x="0" y="737870"/>
                  </a:cubicBezTo>
                  <a:close/>
                </a:path>
              </a:pathLst>
            </a:custGeom>
            <a:solidFill>
              <a:srgbClr val="1A5276"/>
            </a:solidFill>
            <a:ln w="25400" cap="sq">
              <a:solidFill>
                <a:srgbClr val="1A5276"/>
              </a:solidFill>
              <a:prstDash val="solid"/>
              <a:miter/>
            </a:ln>
          </p:spPr>
        </p:sp>
      </p:grpSp>
      <p:grpSp>
        <p:nvGrpSpPr>
          <p:cNvPr name="Group 117" id="117"/>
          <p:cNvGrpSpPr/>
          <p:nvPr/>
        </p:nvGrpSpPr>
        <p:grpSpPr>
          <a:xfrm rot="0">
            <a:off x="5888736" y="6400800"/>
            <a:ext cx="1133856" cy="585216"/>
            <a:chOff x="0" y="0"/>
            <a:chExt cx="1511808" cy="780288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511808" cy="780288"/>
            </a:xfrm>
            <a:custGeom>
              <a:avLst/>
              <a:gdLst/>
              <a:ahLst/>
              <a:cxnLst/>
              <a:rect r="r" b="b" t="t" l="l"/>
              <a:pathLst>
                <a:path h="78028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221" t="0" r="-16221" b="0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28575"/>
              <a:ext cx="151180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0.2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7156199" y="6388103"/>
            <a:ext cx="1159259" cy="610619"/>
            <a:chOff x="0" y="0"/>
            <a:chExt cx="1545679" cy="814159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545717" cy="814197"/>
            </a:xfrm>
            <a:custGeom>
              <a:avLst/>
              <a:gdLst/>
              <a:ahLst/>
              <a:cxnLst/>
              <a:rect r="r" b="b" t="t" l="l"/>
              <a:pathLst>
                <a:path h="814197" w="1545717">
                  <a:moveTo>
                    <a:pt x="0" y="76327"/>
                  </a:moveTo>
                  <a:cubicBezTo>
                    <a:pt x="0" y="34163"/>
                    <a:pt x="34163" y="0"/>
                    <a:pt x="76327" y="0"/>
                  </a:cubicBezTo>
                  <a:lnTo>
                    <a:pt x="1469390" y="0"/>
                  </a:lnTo>
                  <a:cubicBezTo>
                    <a:pt x="1511554" y="0"/>
                    <a:pt x="1545717" y="34163"/>
                    <a:pt x="1545717" y="76327"/>
                  </a:cubicBezTo>
                  <a:lnTo>
                    <a:pt x="1545717" y="737870"/>
                  </a:lnTo>
                  <a:cubicBezTo>
                    <a:pt x="1545717" y="780034"/>
                    <a:pt x="1511554" y="814197"/>
                    <a:pt x="1469390" y="814197"/>
                  </a:cubicBezTo>
                  <a:lnTo>
                    <a:pt x="76327" y="814197"/>
                  </a:lnTo>
                  <a:cubicBezTo>
                    <a:pt x="34163" y="814197"/>
                    <a:pt x="0" y="780034"/>
                    <a:pt x="0" y="737870"/>
                  </a:cubicBezTo>
                  <a:close/>
                </a:path>
              </a:pathLst>
            </a:custGeom>
            <a:solidFill>
              <a:srgbClr val="1A7A4A"/>
            </a:solidFill>
            <a:ln w="25400" cap="sq">
              <a:solidFill>
                <a:srgbClr val="1A7A4A"/>
              </a:solidFill>
              <a:prstDash val="solid"/>
              <a:miter/>
            </a:ln>
          </p:spPr>
        </p:sp>
      </p:grpSp>
      <p:grpSp>
        <p:nvGrpSpPr>
          <p:cNvPr name="Group 122" id="122"/>
          <p:cNvGrpSpPr/>
          <p:nvPr/>
        </p:nvGrpSpPr>
        <p:grpSpPr>
          <a:xfrm rot="0">
            <a:off x="7168896" y="6400800"/>
            <a:ext cx="1133856" cy="585216"/>
            <a:chOff x="0" y="0"/>
            <a:chExt cx="1511808" cy="78028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511808" cy="780288"/>
            </a:xfrm>
            <a:custGeom>
              <a:avLst/>
              <a:gdLst/>
              <a:ahLst/>
              <a:cxnLst/>
              <a:rect r="r" b="b" t="t" l="l"/>
              <a:pathLst>
                <a:path h="78028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221" t="0" r="-16221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28575"/>
              <a:ext cx="151180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-0.2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2035559" y="7083047"/>
            <a:ext cx="1159259" cy="610619"/>
            <a:chOff x="0" y="0"/>
            <a:chExt cx="1545679" cy="814159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545717" cy="814197"/>
            </a:xfrm>
            <a:custGeom>
              <a:avLst/>
              <a:gdLst/>
              <a:ahLst/>
              <a:cxnLst/>
              <a:rect r="r" b="b" t="t" l="l"/>
              <a:pathLst>
                <a:path h="814197" w="1545717">
                  <a:moveTo>
                    <a:pt x="0" y="76327"/>
                  </a:moveTo>
                  <a:cubicBezTo>
                    <a:pt x="0" y="34163"/>
                    <a:pt x="34163" y="0"/>
                    <a:pt x="76327" y="0"/>
                  </a:cubicBezTo>
                  <a:lnTo>
                    <a:pt x="1469390" y="0"/>
                  </a:lnTo>
                  <a:cubicBezTo>
                    <a:pt x="1511554" y="0"/>
                    <a:pt x="1545717" y="34163"/>
                    <a:pt x="1545717" y="76327"/>
                  </a:cubicBezTo>
                  <a:lnTo>
                    <a:pt x="1545717" y="737870"/>
                  </a:lnTo>
                  <a:cubicBezTo>
                    <a:pt x="1545717" y="780034"/>
                    <a:pt x="1511554" y="814197"/>
                    <a:pt x="1469390" y="814197"/>
                  </a:cubicBezTo>
                  <a:lnTo>
                    <a:pt x="76327" y="814197"/>
                  </a:lnTo>
                  <a:cubicBezTo>
                    <a:pt x="34163" y="814197"/>
                    <a:pt x="0" y="780034"/>
                    <a:pt x="0" y="737870"/>
                  </a:cubicBezTo>
                  <a:close/>
                </a:path>
              </a:pathLst>
            </a:custGeom>
            <a:solidFill>
              <a:srgbClr val="1A7A4A"/>
            </a:solidFill>
            <a:ln w="25400" cap="sq">
              <a:solidFill>
                <a:srgbClr val="1A7A4A"/>
              </a:solidFill>
              <a:prstDash val="solid"/>
              <a:miter/>
            </a:ln>
          </p:spPr>
        </p:sp>
      </p:grpSp>
      <p:grpSp>
        <p:nvGrpSpPr>
          <p:cNvPr name="Group 127" id="127"/>
          <p:cNvGrpSpPr/>
          <p:nvPr/>
        </p:nvGrpSpPr>
        <p:grpSpPr>
          <a:xfrm rot="0">
            <a:off x="2048256" y="7095744"/>
            <a:ext cx="1133856" cy="585216"/>
            <a:chOff x="0" y="0"/>
            <a:chExt cx="1511808" cy="780288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511808" cy="780288"/>
            </a:xfrm>
            <a:custGeom>
              <a:avLst/>
              <a:gdLst/>
              <a:ahLst/>
              <a:cxnLst/>
              <a:rect r="r" b="b" t="t" l="l"/>
              <a:pathLst>
                <a:path h="78028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221" t="0" r="-16221" b="0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28575"/>
              <a:ext cx="151180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-0.4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3315719" y="7083047"/>
            <a:ext cx="1159259" cy="610619"/>
            <a:chOff x="0" y="0"/>
            <a:chExt cx="1545679" cy="814159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1545717" cy="814197"/>
            </a:xfrm>
            <a:custGeom>
              <a:avLst/>
              <a:gdLst/>
              <a:ahLst/>
              <a:cxnLst/>
              <a:rect r="r" b="b" t="t" l="l"/>
              <a:pathLst>
                <a:path h="814197" w="1545717">
                  <a:moveTo>
                    <a:pt x="0" y="76327"/>
                  </a:moveTo>
                  <a:cubicBezTo>
                    <a:pt x="0" y="34163"/>
                    <a:pt x="34163" y="0"/>
                    <a:pt x="76327" y="0"/>
                  </a:cubicBezTo>
                  <a:lnTo>
                    <a:pt x="1469390" y="0"/>
                  </a:lnTo>
                  <a:cubicBezTo>
                    <a:pt x="1511554" y="0"/>
                    <a:pt x="1545717" y="34163"/>
                    <a:pt x="1545717" y="76327"/>
                  </a:cubicBezTo>
                  <a:lnTo>
                    <a:pt x="1545717" y="737870"/>
                  </a:lnTo>
                  <a:cubicBezTo>
                    <a:pt x="1545717" y="780034"/>
                    <a:pt x="1511554" y="814197"/>
                    <a:pt x="1469390" y="814197"/>
                  </a:cubicBezTo>
                  <a:lnTo>
                    <a:pt x="76327" y="814197"/>
                  </a:lnTo>
                  <a:cubicBezTo>
                    <a:pt x="34163" y="814197"/>
                    <a:pt x="0" y="780034"/>
                    <a:pt x="0" y="737870"/>
                  </a:cubicBezTo>
                  <a:close/>
                </a:path>
              </a:pathLst>
            </a:custGeom>
            <a:solidFill>
              <a:srgbClr val="1565C0"/>
            </a:solidFill>
            <a:ln w="254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132" id="132"/>
          <p:cNvGrpSpPr/>
          <p:nvPr/>
        </p:nvGrpSpPr>
        <p:grpSpPr>
          <a:xfrm rot="0">
            <a:off x="3328416" y="7095744"/>
            <a:ext cx="1133856" cy="585216"/>
            <a:chOff x="0" y="0"/>
            <a:chExt cx="1511808" cy="780288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511808" cy="780288"/>
            </a:xfrm>
            <a:custGeom>
              <a:avLst/>
              <a:gdLst/>
              <a:ahLst/>
              <a:cxnLst/>
              <a:rect r="r" b="b" t="t" l="l"/>
              <a:pathLst>
                <a:path h="78028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221" t="0" r="-16221" b="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28575"/>
              <a:ext cx="151180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0.5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4595879" y="7083047"/>
            <a:ext cx="1159259" cy="610619"/>
            <a:chOff x="0" y="0"/>
            <a:chExt cx="1545679" cy="814159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545717" cy="814197"/>
            </a:xfrm>
            <a:custGeom>
              <a:avLst/>
              <a:gdLst/>
              <a:ahLst/>
              <a:cxnLst/>
              <a:rect r="r" b="b" t="t" l="l"/>
              <a:pathLst>
                <a:path h="814197" w="1545717">
                  <a:moveTo>
                    <a:pt x="0" y="76327"/>
                  </a:moveTo>
                  <a:cubicBezTo>
                    <a:pt x="0" y="34163"/>
                    <a:pt x="34163" y="0"/>
                    <a:pt x="76327" y="0"/>
                  </a:cubicBezTo>
                  <a:lnTo>
                    <a:pt x="1469390" y="0"/>
                  </a:lnTo>
                  <a:cubicBezTo>
                    <a:pt x="1511554" y="0"/>
                    <a:pt x="1545717" y="34163"/>
                    <a:pt x="1545717" y="76327"/>
                  </a:cubicBezTo>
                  <a:lnTo>
                    <a:pt x="1545717" y="737870"/>
                  </a:lnTo>
                  <a:cubicBezTo>
                    <a:pt x="1545717" y="780034"/>
                    <a:pt x="1511554" y="814197"/>
                    <a:pt x="1469390" y="814197"/>
                  </a:cubicBezTo>
                  <a:lnTo>
                    <a:pt x="76327" y="814197"/>
                  </a:lnTo>
                  <a:cubicBezTo>
                    <a:pt x="34163" y="814197"/>
                    <a:pt x="0" y="780034"/>
                    <a:pt x="0" y="737870"/>
                  </a:cubicBezTo>
                  <a:close/>
                </a:path>
              </a:pathLst>
            </a:custGeom>
            <a:solidFill>
              <a:srgbClr val="8B1A1A"/>
            </a:solidFill>
            <a:ln w="25400" cap="sq">
              <a:solidFill>
                <a:srgbClr val="8B1A1A"/>
              </a:solidFill>
              <a:prstDash val="solid"/>
              <a:miter/>
            </a:ln>
          </p:spPr>
        </p:sp>
      </p:grpSp>
      <p:grpSp>
        <p:nvGrpSpPr>
          <p:cNvPr name="Group 137" id="137"/>
          <p:cNvGrpSpPr/>
          <p:nvPr/>
        </p:nvGrpSpPr>
        <p:grpSpPr>
          <a:xfrm rot="0">
            <a:off x="4608576" y="7095744"/>
            <a:ext cx="1133856" cy="585216"/>
            <a:chOff x="0" y="0"/>
            <a:chExt cx="1511808" cy="780288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511808" cy="780288"/>
            </a:xfrm>
            <a:custGeom>
              <a:avLst/>
              <a:gdLst/>
              <a:ahLst/>
              <a:cxnLst/>
              <a:rect r="r" b="b" t="t" l="l"/>
              <a:pathLst>
                <a:path h="78028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221" t="0" r="-16221" b="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28575"/>
              <a:ext cx="151180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1.0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5876039" y="7083047"/>
            <a:ext cx="1159259" cy="610619"/>
            <a:chOff x="0" y="0"/>
            <a:chExt cx="1545679" cy="814159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545717" cy="814197"/>
            </a:xfrm>
            <a:custGeom>
              <a:avLst/>
              <a:gdLst/>
              <a:ahLst/>
              <a:cxnLst/>
              <a:rect r="r" b="b" t="t" l="l"/>
              <a:pathLst>
                <a:path h="814197" w="1545717">
                  <a:moveTo>
                    <a:pt x="0" y="76327"/>
                  </a:moveTo>
                  <a:cubicBezTo>
                    <a:pt x="0" y="34163"/>
                    <a:pt x="34163" y="0"/>
                    <a:pt x="76327" y="0"/>
                  </a:cubicBezTo>
                  <a:lnTo>
                    <a:pt x="1469390" y="0"/>
                  </a:lnTo>
                  <a:cubicBezTo>
                    <a:pt x="1511554" y="0"/>
                    <a:pt x="1545717" y="34163"/>
                    <a:pt x="1545717" y="76327"/>
                  </a:cubicBezTo>
                  <a:lnTo>
                    <a:pt x="1545717" y="737870"/>
                  </a:lnTo>
                  <a:cubicBezTo>
                    <a:pt x="1545717" y="780034"/>
                    <a:pt x="1511554" y="814197"/>
                    <a:pt x="1469390" y="814197"/>
                  </a:cubicBezTo>
                  <a:lnTo>
                    <a:pt x="76327" y="814197"/>
                  </a:lnTo>
                  <a:cubicBezTo>
                    <a:pt x="34163" y="814197"/>
                    <a:pt x="0" y="780034"/>
                    <a:pt x="0" y="737870"/>
                  </a:cubicBezTo>
                  <a:close/>
                </a:path>
              </a:pathLst>
            </a:custGeom>
            <a:solidFill>
              <a:srgbClr val="1A5276"/>
            </a:solidFill>
            <a:ln w="25400" cap="sq">
              <a:solidFill>
                <a:srgbClr val="1A5276"/>
              </a:solidFill>
              <a:prstDash val="solid"/>
              <a:miter/>
            </a:ln>
          </p:spPr>
        </p:sp>
      </p:grpSp>
      <p:grpSp>
        <p:nvGrpSpPr>
          <p:cNvPr name="Group 142" id="142"/>
          <p:cNvGrpSpPr/>
          <p:nvPr/>
        </p:nvGrpSpPr>
        <p:grpSpPr>
          <a:xfrm rot="0">
            <a:off x="5888736" y="7095744"/>
            <a:ext cx="1133856" cy="585216"/>
            <a:chOff x="0" y="0"/>
            <a:chExt cx="1511808" cy="780288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1511808" cy="780288"/>
            </a:xfrm>
            <a:custGeom>
              <a:avLst/>
              <a:gdLst/>
              <a:ahLst/>
              <a:cxnLst/>
              <a:rect r="r" b="b" t="t" l="l"/>
              <a:pathLst>
                <a:path h="78028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221" t="0" r="-16221" b="0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28575"/>
              <a:ext cx="151180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0.1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7156199" y="7083047"/>
            <a:ext cx="1159259" cy="610619"/>
            <a:chOff x="0" y="0"/>
            <a:chExt cx="1545679" cy="814159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1545717" cy="814197"/>
            </a:xfrm>
            <a:custGeom>
              <a:avLst/>
              <a:gdLst/>
              <a:ahLst/>
              <a:cxnLst/>
              <a:rect r="r" b="b" t="t" l="l"/>
              <a:pathLst>
                <a:path h="814197" w="1545717">
                  <a:moveTo>
                    <a:pt x="0" y="76327"/>
                  </a:moveTo>
                  <a:cubicBezTo>
                    <a:pt x="0" y="34163"/>
                    <a:pt x="34163" y="0"/>
                    <a:pt x="76327" y="0"/>
                  </a:cubicBezTo>
                  <a:lnTo>
                    <a:pt x="1469390" y="0"/>
                  </a:lnTo>
                  <a:cubicBezTo>
                    <a:pt x="1511554" y="0"/>
                    <a:pt x="1545717" y="34163"/>
                    <a:pt x="1545717" y="76327"/>
                  </a:cubicBezTo>
                  <a:lnTo>
                    <a:pt x="1545717" y="737870"/>
                  </a:lnTo>
                  <a:cubicBezTo>
                    <a:pt x="1545717" y="780034"/>
                    <a:pt x="1511554" y="814197"/>
                    <a:pt x="1469390" y="814197"/>
                  </a:cubicBezTo>
                  <a:lnTo>
                    <a:pt x="76327" y="814197"/>
                  </a:lnTo>
                  <a:cubicBezTo>
                    <a:pt x="34163" y="814197"/>
                    <a:pt x="0" y="780034"/>
                    <a:pt x="0" y="737870"/>
                  </a:cubicBezTo>
                  <a:close/>
                </a:path>
              </a:pathLst>
            </a:custGeom>
            <a:solidFill>
              <a:srgbClr val="1A7A4A"/>
            </a:solidFill>
            <a:ln w="25400" cap="sq">
              <a:solidFill>
                <a:srgbClr val="1A7A4A"/>
              </a:solidFill>
              <a:prstDash val="solid"/>
              <a:miter/>
            </a:ln>
          </p:spPr>
        </p:sp>
      </p:grpSp>
      <p:grpSp>
        <p:nvGrpSpPr>
          <p:cNvPr name="Group 147" id="147"/>
          <p:cNvGrpSpPr/>
          <p:nvPr/>
        </p:nvGrpSpPr>
        <p:grpSpPr>
          <a:xfrm rot="0">
            <a:off x="7168896" y="7095744"/>
            <a:ext cx="1133856" cy="585216"/>
            <a:chOff x="0" y="0"/>
            <a:chExt cx="1511808" cy="780288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511808" cy="780288"/>
            </a:xfrm>
            <a:custGeom>
              <a:avLst/>
              <a:gdLst/>
              <a:ahLst/>
              <a:cxnLst/>
              <a:rect r="r" b="b" t="t" l="l"/>
              <a:pathLst>
                <a:path h="78028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221" t="0" r="-16221" b="0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28575"/>
              <a:ext cx="151180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-0.3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2035559" y="7777991"/>
            <a:ext cx="1159259" cy="610619"/>
            <a:chOff x="0" y="0"/>
            <a:chExt cx="1545679" cy="814159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545717" cy="814197"/>
            </a:xfrm>
            <a:custGeom>
              <a:avLst/>
              <a:gdLst/>
              <a:ahLst/>
              <a:cxnLst/>
              <a:rect r="r" b="b" t="t" l="l"/>
              <a:pathLst>
                <a:path h="814197" w="1545717">
                  <a:moveTo>
                    <a:pt x="0" y="76327"/>
                  </a:moveTo>
                  <a:cubicBezTo>
                    <a:pt x="0" y="34163"/>
                    <a:pt x="34163" y="0"/>
                    <a:pt x="76327" y="0"/>
                  </a:cubicBezTo>
                  <a:lnTo>
                    <a:pt x="1469390" y="0"/>
                  </a:lnTo>
                  <a:cubicBezTo>
                    <a:pt x="1511554" y="0"/>
                    <a:pt x="1545717" y="34163"/>
                    <a:pt x="1545717" y="76327"/>
                  </a:cubicBezTo>
                  <a:lnTo>
                    <a:pt x="1545717" y="737870"/>
                  </a:lnTo>
                  <a:cubicBezTo>
                    <a:pt x="1545717" y="780034"/>
                    <a:pt x="1511554" y="814197"/>
                    <a:pt x="1469390" y="814197"/>
                  </a:cubicBezTo>
                  <a:lnTo>
                    <a:pt x="76327" y="814197"/>
                  </a:lnTo>
                  <a:cubicBezTo>
                    <a:pt x="34163" y="814197"/>
                    <a:pt x="0" y="780034"/>
                    <a:pt x="0" y="737870"/>
                  </a:cubicBezTo>
                  <a:close/>
                </a:path>
              </a:pathLst>
            </a:custGeom>
            <a:solidFill>
              <a:srgbClr val="1565C0"/>
            </a:solidFill>
            <a:ln w="254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152" id="152"/>
          <p:cNvGrpSpPr/>
          <p:nvPr/>
        </p:nvGrpSpPr>
        <p:grpSpPr>
          <a:xfrm rot="0">
            <a:off x="2048256" y="7790688"/>
            <a:ext cx="1133856" cy="585216"/>
            <a:chOff x="0" y="0"/>
            <a:chExt cx="1511808" cy="780288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1511808" cy="780288"/>
            </a:xfrm>
            <a:custGeom>
              <a:avLst/>
              <a:gdLst/>
              <a:ahLst/>
              <a:cxnLst/>
              <a:rect r="r" b="b" t="t" l="l"/>
              <a:pathLst>
                <a:path h="78028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221" t="0" r="-16221" b="0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28575"/>
              <a:ext cx="151180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0.6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3315719" y="7777991"/>
            <a:ext cx="1159259" cy="610619"/>
            <a:chOff x="0" y="0"/>
            <a:chExt cx="1545679" cy="814159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545717" cy="814197"/>
            </a:xfrm>
            <a:custGeom>
              <a:avLst/>
              <a:gdLst/>
              <a:ahLst/>
              <a:cxnLst/>
              <a:rect r="r" b="b" t="t" l="l"/>
              <a:pathLst>
                <a:path h="814197" w="1545717">
                  <a:moveTo>
                    <a:pt x="0" y="76327"/>
                  </a:moveTo>
                  <a:cubicBezTo>
                    <a:pt x="0" y="34163"/>
                    <a:pt x="34163" y="0"/>
                    <a:pt x="76327" y="0"/>
                  </a:cubicBezTo>
                  <a:lnTo>
                    <a:pt x="1469390" y="0"/>
                  </a:lnTo>
                  <a:cubicBezTo>
                    <a:pt x="1511554" y="0"/>
                    <a:pt x="1545717" y="34163"/>
                    <a:pt x="1545717" y="76327"/>
                  </a:cubicBezTo>
                  <a:lnTo>
                    <a:pt x="1545717" y="737870"/>
                  </a:lnTo>
                  <a:cubicBezTo>
                    <a:pt x="1545717" y="780034"/>
                    <a:pt x="1511554" y="814197"/>
                    <a:pt x="1469390" y="814197"/>
                  </a:cubicBezTo>
                  <a:lnTo>
                    <a:pt x="76327" y="814197"/>
                  </a:lnTo>
                  <a:cubicBezTo>
                    <a:pt x="34163" y="814197"/>
                    <a:pt x="0" y="780034"/>
                    <a:pt x="0" y="737870"/>
                  </a:cubicBezTo>
                  <a:close/>
                </a:path>
              </a:pathLst>
            </a:custGeom>
            <a:solidFill>
              <a:srgbClr val="1A5276"/>
            </a:solidFill>
            <a:ln w="25400" cap="sq">
              <a:solidFill>
                <a:srgbClr val="1A5276"/>
              </a:solidFill>
              <a:prstDash val="solid"/>
              <a:miter/>
            </a:ln>
          </p:spPr>
        </p:sp>
      </p:grpSp>
      <p:grpSp>
        <p:nvGrpSpPr>
          <p:cNvPr name="Group 157" id="157"/>
          <p:cNvGrpSpPr/>
          <p:nvPr/>
        </p:nvGrpSpPr>
        <p:grpSpPr>
          <a:xfrm rot="0">
            <a:off x="3328416" y="7790688"/>
            <a:ext cx="1133856" cy="585216"/>
            <a:chOff x="0" y="0"/>
            <a:chExt cx="1511808" cy="780288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1511808" cy="780288"/>
            </a:xfrm>
            <a:custGeom>
              <a:avLst/>
              <a:gdLst/>
              <a:ahLst/>
              <a:cxnLst/>
              <a:rect r="r" b="b" t="t" l="l"/>
              <a:pathLst>
                <a:path h="78028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221" t="0" r="-16221" b="0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28575"/>
              <a:ext cx="151180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0.2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4595879" y="7777991"/>
            <a:ext cx="1159259" cy="610619"/>
            <a:chOff x="0" y="0"/>
            <a:chExt cx="1545679" cy="814159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1545717" cy="814197"/>
            </a:xfrm>
            <a:custGeom>
              <a:avLst/>
              <a:gdLst/>
              <a:ahLst/>
              <a:cxnLst/>
              <a:rect r="r" b="b" t="t" l="l"/>
              <a:pathLst>
                <a:path h="814197" w="1545717">
                  <a:moveTo>
                    <a:pt x="0" y="76327"/>
                  </a:moveTo>
                  <a:cubicBezTo>
                    <a:pt x="0" y="34163"/>
                    <a:pt x="34163" y="0"/>
                    <a:pt x="76327" y="0"/>
                  </a:cubicBezTo>
                  <a:lnTo>
                    <a:pt x="1469390" y="0"/>
                  </a:lnTo>
                  <a:cubicBezTo>
                    <a:pt x="1511554" y="0"/>
                    <a:pt x="1545717" y="34163"/>
                    <a:pt x="1545717" y="76327"/>
                  </a:cubicBezTo>
                  <a:lnTo>
                    <a:pt x="1545717" y="737870"/>
                  </a:lnTo>
                  <a:cubicBezTo>
                    <a:pt x="1545717" y="780034"/>
                    <a:pt x="1511554" y="814197"/>
                    <a:pt x="1469390" y="814197"/>
                  </a:cubicBezTo>
                  <a:lnTo>
                    <a:pt x="76327" y="814197"/>
                  </a:lnTo>
                  <a:cubicBezTo>
                    <a:pt x="34163" y="814197"/>
                    <a:pt x="0" y="780034"/>
                    <a:pt x="0" y="737870"/>
                  </a:cubicBezTo>
                  <a:close/>
                </a:path>
              </a:pathLst>
            </a:custGeom>
            <a:solidFill>
              <a:srgbClr val="1A5276"/>
            </a:solidFill>
            <a:ln w="25400" cap="sq">
              <a:solidFill>
                <a:srgbClr val="1A5276"/>
              </a:solidFill>
              <a:prstDash val="solid"/>
              <a:miter/>
            </a:ln>
          </p:spPr>
        </p:sp>
      </p:grpSp>
      <p:grpSp>
        <p:nvGrpSpPr>
          <p:cNvPr name="Group 162" id="162"/>
          <p:cNvGrpSpPr/>
          <p:nvPr/>
        </p:nvGrpSpPr>
        <p:grpSpPr>
          <a:xfrm rot="0">
            <a:off x="4608576" y="7790688"/>
            <a:ext cx="1133856" cy="585216"/>
            <a:chOff x="0" y="0"/>
            <a:chExt cx="1511808" cy="780288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1511808" cy="780288"/>
            </a:xfrm>
            <a:custGeom>
              <a:avLst/>
              <a:gdLst/>
              <a:ahLst/>
              <a:cxnLst/>
              <a:rect r="r" b="b" t="t" l="l"/>
              <a:pathLst>
                <a:path h="78028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221" t="0" r="-16221" b="0"/>
              </a:stretch>
            </a:blip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-28575"/>
              <a:ext cx="151180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0.1</a:t>
              </a:r>
            </a:p>
          </p:txBody>
        </p:sp>
      </p:grpSp>
      <p:grpSp>
        <p:nvGrpSpPr>
          <p:cNvPr name="Group 165" id="165"/>
          <p:cNvGrpSpPr/>
          <p:nvPr/>
        </p:nvGrpSpPr>
        <p:grpSpPr>
          <a:xfrm rot="0">
            <a:off x="5876039" y="7777991"/>
            <a:ext cx="1159259" cy="610619"/>
            <a:chOff x="0" y="0"/>
            <a:chExt cx="1545679" cy="814159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1545717" cy="814197"/>
            </a:xfrm>
            <a:custGeom>
              <a:avLst/>
              <a:gdLst/>
              <a:ahLst/>
              <a:cxnLst/>
              <a:rect r="r" b="b" t="t" l="l"/>
              <a:pathLst>
                <a:path h="814197" w="1545717">
                  <a:moveTo>
                    <a:pt x="0" y="76327"/>
                  </a:moveTo>
                  <a:cubicBezTo>
                    <a:pt x="0" y="34163"/>
                    <a:pt x="34163" y="0"/>
                    <a:pt x="76327" y="0"/>
                  </a:cubicBezTo>
                  <a:lnTo>
                    <a:pt x="1469390" y="0"/>
                  </a:lnTo>
                  <a:cubicBezTo>
                    <a:pt x="1511554" y="0"/>
                    <a:pt x="1545717" y="34163"/>
                    <a:pt x="1545717" y="76327"/>
                  </a:cubicBezTo>
                  <a:lnTo>
                    <a:pt x="1545717" y="737870"/>
                  </a:lnTo>
                  <a:cubicBezTo>
                    <a:pt x="1545717" y="780034"/>
                    <a:pt x="1511554" y="814197"/>
                    <a:pt x="1469390" y="814197"/>
                  </a:cubicBezTo>
                  <a:lnTo>
                    <a:pt x="76327" y="814197"/>
                  </a:lnTo>
                  <a:cubicBezTo>
                    <a:pt x="34163" y="814197"/>
                    <a:pt x="0" y="780034"/>
                    <a:pt x="0" y="737870"/>
                  </a:cubicBezTo>
                  <a:close/>
                </a:path>
              </a:pathLst>
            </a:custGeom>
            <a:solidFill>
              <a:srgbClr val="8B1A1A"/>
            </a:solidFill>
            <a:ln w="25400" cap="sq">
              <a:solidFill>
                <a:srgbClr val="8B1A1A"/>
              </a:solidFill>
              <a:prstDash val="solid"/>
              <a:miter/>
            </a:ln>
          </p:spPr>
        </p:sp>
      </p:grpSp>
      <p:grpSp>
        <p:nvGrpSpPr>
          <p:cNvPr name="Group 167" id="167"/>
          <p:cNvGrpSpPr/>
          <p:nvPr/>
        </p:nvGrpSpPr>
        <p:grpSpPr>
          <a:xfrm rot="0">
            <a:off x="5888736" y="7790688"/>
            <a:ext cx="1133856" cy="585216"/>
            <a:chOff x="0" y="0"/>
            <a:chExt cx="1511808" cy="780288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1511808" cy="780288"/>
            </a:xfrm>
            <a:custGeom>
              <a:avLst/>
              <a:gdLst/>
              <a:ahLst/>
              <a:cxnLst/>
              <a:rect r="r" b="b" t="t" l="l"/>
              <a:pathLst>
                <a:path h="78028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221" t="0" r="-16221" b="0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28575"/>
              <a:ext cx="151180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1.0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7156199" y="7777991"/>
            <a:ext cx="1159259" cy="610619"/>
            <a:chOff x="0" y="0"/>
            <a:chExt cx="1545679" cy="814159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1545717" cy="814197"/>
            </a:xfrm>
            <a:custGeom>
              <a:avLst/>
              <a:gdLst/>
              <a:ahLst/>
              <a:cxnLst/>
              <a:rect r="r" b="b" t="t" l="l"/>
              <a:pathLst>
                <a:path h="814197" w="1545717">
                  <a:moveTo>
                    <a:pt x="0" y="76327"/>
                  </a:moveTo>
                  <a:cubicBezTo>
                    <a:pt x="0" y="34163"/>
                    <a:pt x="34163" y="0"/>
                    <a:pt x="76327" y="0"/>
                  </a:cubicBezTo>
                  <a:lnTo>
                    <a:pt x="1469390" y="0"/>
                  </a:lnTo>
                  <a:cubicBezTo>
                    <a:pt x="1511554" y="0"/>
                    <a:pt x="1545717" y="34163"/>
                    <a:pt x="1545717" y="76327"/>
                  </a:cubicBezTo>
                  <a:lnTo>
                    <a:pt x="1545717" y="737870"/>
                  </a:lnTo>
                  <a:cubicBezTo>
                    <a:pt x="1545717" y="780034"/>
                    <a:pt x="1511554" y="814197"/>
                    <a:pt x="1469390" y="814197"/>
                  </a:cubicBezTo>
                  <a:lnTo>
                    <a:pt x="76327" y="814197"/>
                  </a:lnTo>
                  <a:cubicBezTo>
                    <a:pt x="34163" y="814197"/>
                    <a:pt x="0" y="780034"/>
                    <a:pt x="0" y="737870"/>
                  </a:cubicBezTo>
                  <a:close/>
                </a:path>
              </a:pathLst>
            </a:custGeom>
            <a:solidFill>
              <a:srgbClr val="1565C0"/>
            </a:solidFill>
            <a:ln w="254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172" id="172"/>
          <p:cNvGrpSpPr/>
          <p:nvPr/>
        </p:nvGrpSpPr>
        <p:grpSpPr>
          <a:xfrm rot="0">
            <a:off x="7168896" y="7790688"/>
            <a:ext cx="1133856" cy="585216"/>
            <a:chOff x="0" y="0"/>
            <a:chExt cx="1511808" cy="780288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1511808" cy="780288"/>
            </a:xfrm>
            <a:custGeom>
              <a:avLst/>
              <a:gdLst/>
              <a:ahLst/>
              <a:cxnLst/>
              <a:rect r="r" b="b" t="t" l="l"/>
              <a:pathLst>
                <a:path h="78028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221" t="0" r="-16221" b="0"/>
              </a:stretch>
            </a:blipFill>
          </p:spPr>
        </p:sp>
        <p:sp>
          <p:nvSpPr>
            <p:cNvPr name="TextBox 174" id="174"/>
            <p:cNvSpPr txBox="true"/>
            <p:nvPr/>
          </p:nvSpPr>
          <p:spPr>
            <a:xfrm>
              <a:off x="0" y="-28575"/>
              <a:ext cx="151180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0.5</a:t>
              </a:r>
            </a:p>
          </p:txBody>
        </p:sp>
      </p:grpSp>
      <p:grpSp>
        <p:nvGrpSpPr>
          <p:cNvPr name="Group 175" id="175"/>
          <p:cNvGrpSpPr/>
          <p:nvPr/>
        </p:nvGrpSpPr>
        <p:grpSpPr>
          <a:xfrm rot="0">
            <a:off x="2035559" y="8472935"/>
            <a:ext cx="1159259" cy="610619"/>
            <a:chOff x="0" y="0"/>
            <a:chExt cx="1545679" cy="814159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1545717" cy="814197"/>
            </a:xfrm>
            <a:custGeom>
              <a:avLst/>
              <a:gdLst/>
              <a:ahLst/>
              <a:cxnLst/>
              <a:rect r="r" b="b" t="t" l="l"/>
              <a:pathLst>
                <a:path h="814197" w="1545717">
                  <a:moveTo>
                    <a:pt x="0" y="76327"/>
                  </a:moveTo>
                  <a:cubicBezTo>
                    <a:pt x="0" y="34163"/>
                    <a:pt x="34163" y="0"/>
                    <a:pt x="76327" y="0"/>
                  </a:cubicBezTo>
                  <a:lnTo>
                    <a:pt x="1469390" y="0"/>
                  </a:lnTo>
                  <a:cubicBezTo>
                    <a:pt x="1511554" y="0"/>
                    <a:pt x="1545717" y="34163"/>
                    <a:pt x="1545717" y="76327"/>
                  </a:cubicBezTo>
                  <a:lnTo>
                    <a:pt x="1545717" y="737870"/>
                  </a:lnTo>
                  <a:cubicBezTo>
                    <a:pt x="1545717" y="780034"/>
                    <a:pt x="1511554" y="814197"/>
                    <a:pt x="1469390" y="814197"/>
                  </a:cubicBezTo>
                  <a:lnTo>
                    <a:pt x="76327" y="814197"/>
                  </a:lnTo>
                  <a:cubicBezTo>
                    <a:pt x="34163" y="814197"/>
                    <a:pt x="0" y="780034"/>
                    <a:pt x="0" y="737870"/>
                  </a:cubicBezTo>
                  <a:close/>
                </a:path>
              </a:pathLst>
            </a:custGeom>
            <a:solidFill>
              <a:srgbClr val="8B1A1A"/>
            </a:solidFill>
            <a:ln w="25400" cap="sq">
              <a:solidFill>
                <a:srgbClr val="8B1A1A"/>
              </a:solidFill>
              <a:prstDash val="solid"/>
              <a:miter/>
            </a:ln>
          </p:spPr>
        </p:sp>
      </p:grpSp>
      <p:grpSp>
        <p:nvGrpSpPr>
          <p:cNvPr name="Group 177" id="177"/>
          <p:cNvGrpSpPr/>
          <p:nvPr/>
        </p:nvGrpSpPr>
        <p:grpSpPr>
          <a:xfrm rot="0">
            <a:off x="2048256" y="8485632"/>
            <a:ext cx="1133856" cy="585216"/>
            <a:chOff x="0" y="0"/>
            <a:chExt cx="1511808" cy="780288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1511808" cy="780288"/>
            </a:xfrm>
            <a:custGeom>
              <a:avLst/>
              <a:gdLst/>
              <a:ahLst/>
              <a:cxnLst/>
              <a:rect r="r" b="b" t="t" l="l"/>
              <a:pathLst>
                <a:path h="78028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221" t="0" r="-16221" b="0"/>
              </a:stretch>
            </a:blipFill>
          </p:spPr>
        </p:sp>
        <p:sp>
          <p:nvSpPr>
            <p:cNvPr name="TextBox 179" id="179"/>
            <p:cNvSpPr txBox="true"/>
            <p:nvPr/>
          </p:nvSpPr>
          <p:spPr>
            <a:xfrm>
              <a:off x="0" y="-28575"/>
              <a:ext cx="151180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0.8</a:t>
              </a:r>
            </a:p>
          </p:txBody>
        </p:sp>
      </p:grpSp>
      <p:grpSp>
        <p:nvGrpSpPr>
          <p:cNvPr name="Group 180" id="180"/>
          <p:cNvGrpSpPr/>
          <p:nvPr/>
        </p:nvGrpSpPr>
        <p:grpSpPr>
          <a:xfrm rot="0">
            <a:off x="3315719" y="8472935"/>
            <a:ext cx="1159259" cy="610619"/>
            <a:chOff x="0" y="0"/>
            <a:chExt cx="1545679" cy="814159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1545717" cy="814197"/>
            </a:xfrm>
            <a:custGeom>
              <a:avLst/>
              <a:gdLst/>
              <a:ahLst/>
              <a:cxnLst/>
              <a:rect r="r" b="b" t="t" l="l"/>
              <a:pathLst>
                <a:path h="814197" w="1545717">
                  <a:moveTo>
                    <a:pt x="0" y="76327"/>
                  </a:moveTo>
                  <a:cubicBezTo>
                    <a:pt x="0" y="34163"/>
                    <a:pt x="34163" y="0"/>
                    <a:pt x="76327" y="0"/>
                  </a:cubicBezTo>
                  <a:lnTo>
                    <a:pt x="1469390" y="0"/>
                  </a:lnTo>
                  <a:cubicBezTo>
                    <a:pt x="1511554" y="0"/>
                    <a:pt x="1545717" y="34163"/>
                    <a:pt x="1545717" y="76327"/>
                  </a:cubicBezTo>
                  <a:lnTo>
                    <a:pt x="1545717" y="737870"/>
                  </a:lnTo>
                  <a:cubicBezTo>
                    <a:pt x="1545717" y="780034"/>
                    <a:pt x="1511554" y="814197"/>
                    <a:pt x="1469390" y="814197"/>
                  </a:cubicBezTo>
                  <a:lnTo>
                    <a:pt x="76327" y="814197"/>
                  </a:lnTo>
                  <a:cubicBezTo>
                    <a:pt x="34163" y="814197"/>
                    <a:pt x="0" y="780034"/>
                    <a:pt x="0" y="737870"/>
                  </a:cubicBezTo>
                  <a:close/>
                </a:path>
              </a:pathLst>
            </a:custGeom>
            <a:solidFill>
              <a:srgbClr val="1A7A4A"/>
            </a:solidFill>
            <a:ln w="25400" cap="sq">
              <a:solidFill>
                <a:srgbClr val="1A7A4A"/>
              </a:solidFill>
              <a:prstDash val="solid"/>
              <a:miter/>
            </a:ln>
          </p:spPr>
        </p:sp>
      </p:grpSp>
      <p:grpSp>
        <p:nvGrpSpPr>
          <p:cNvPr name="Group 182" id="182"/>
          <p:cNvGrpSpPr/>
          <p:nvPr/>
        </p:nvGrpSpPr>
        <p:grpSpPr>
          <a:xfrm rot="0">
            <a:off x="3328416" y="8485632"/>
            <a:ext cx="1133856" cy="585216"/>
            <a:chOff x="0" y="0"/>
            <a:chExt cx="1511808" cy="78028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1511808" cy="780288"/>
            </a:xfrm>
            <a:custGeom>
              <a:avLst/>
              <a:gdLst/>
              <a:ahLst/>
              <a:cxnLst/>
              <a:rect r="r" b="b" t="t" l="l"/>
              <a:pathLst>
                <a:path h="78028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221" t="0" r="-16221" b="0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28575"/>
              <a:ext cx="151180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-0.2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4595879" y="8472935"/>
            <a:ext cx="1159259" cy="610619"/>
            <a:chOff x="0" y="0"/>
            <a:chExt cx="1545679" cy="814159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1545717" cy="814197"/>
            </a:xfrm>
            <a:custGeom>
              <a:avLst/>
              <a:gdLst/>
              <a:ahLst/>
              <a:cxnLst/>
              <a:rect r="r" b="b" t="t" l="l"/>
              <a:pathLst>
                <a:path h="814197" w="1545717">
                  <a:moveTo>
                    <a:pt x="0" y="76327"/>
                  </a:moveTo>
                  <a:cubicBezTo>
                    <a:pt x="0" y="34163"/>
                    <a:pt x="34163" y="0"/>
                    <a:pt x="76327" y="0"/>
                  </a:cubicBezTo>
                  <a:lnTo>
                    <a:pt x="1469390" y="0"/>
                  </a:lnTo>
                  <a:cubicBezTo>
                    <a:pt x="1511554" y="0"/>
                    <a:pt x="1545717" y="34163"/>
                    <a:pt x="1545717" y="76327"/>
                  </a:cubicBezTo>
                  <a:lnTo>
                    <a:pt x="1545717" y="737870"/>
                  </a:lnTo>
                  <a:cubicBezTo>
                    <a:pt x="1545717" y="780034"/>
                    <a:pt x="1511554" y="814197"/>
                    <a:pt x="1469390" y="814197"/>
                  </a:cubicBezTo>
                  <a:lnTo>
                    <a:pt x="76327" y="814197"/>
                  </a:lnTo>
                  <a:cubicBezTo>
                    <a:pt x="34163" y="814197"/>
                    <a:pt x="0" y="780034"/>
                    <a:pt x="0" y="737870"/>
                  </a:cubicBezTo>
                  <a:close/>
                </a:path>
              </a:pathLst>
            </a:custGeom>
            <a:solidFill>
              <a:srgbClr val="1A7A4A"/>
            </a:solidFill>
            <a:ln w="25400" cap="sq">
              <a:solidFill>
                <a:srgbClr val="1A7A4A"/>
              </a:solidFill>
              <a:prstDash val="solid"/>
              <a:miter/>
            </a:ln>
          </p:spPr>
        </p:sp>
      </p:grpSp>
      <p:grpSp>
        <p:nvGrpSpPr>
          <p:cNvPr name="Group 187" id="187"/>
          <p:cNvGrpSpPr/>
          <p:nvPr/>
        </p:nvGrpSpPr>
        <p:grpSpPr>
          <a:xfrm rot="0">
            <a:off x="4608576" y="8485632"/>
            <a:ext cx="1133856" cy="585216"/>
            <a:chOff x="0" y="0"/>
            <a:chExt cx="1511808" cy="780288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1511808" cy="780288"/>
            </a:xfrm>
            <a:custGeom>
              <a:avLst/>
              <a:gdLst/>
              <a:ahLst/>
              <a:cxnLst/>
              <a:rect r="r" b="b" t="t" l="l"/>
              <a:pathLst>
                <a:path h="78028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221" t="0" r="-16221" b="0"/>
              </a:stretch>
            </a:blipFill>
          </p:spPr>
        </p:sp>
        <p:sp>
          <p:nvSpPr>
            <p:cNvPr name="TextBox 189" id="189"/>
            <p:cNvSpPr txBox="true"/>
            <p:nvPr/>
          </p:nvSpPr>
          <p:spPr>
            <a:xfrm>
              <a:off x="0" y="-28575"/>
              <a:ext cx="151180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-0.3</a:t>
              </a:r>
            </a:p>
          </p:txBody>
        </p:sp>
      </p:grpSp>
      <p:grpSp>
        <p:nvGrpSpPr>
          <p:cNvPr name="Group 190" id="190"/>
          <p:cNvGrpSpPr/>
          <p:nvPr/>
        </p:nvGrpSpPr>
        <p:grpSpPr>
          <a:xfrm rot="0">
            <a:off x="5876039" y="8472935"/>
            <a:ext cx="1159259" cy="610619"/>
            <a:chOff x="0" y="0"/>
            <a:chExt cx="1545679" cy="814159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1545717" cy="814197"/>
            </a:xfrm>
            <a:custGeom>
              <a:avLst/>
              <a:gdLst/>
              <a:ahLst/>
              <a:cxnLst/>
              <a:rect r="r" b="b" t="t" l="l"/>
              <a:pathLst>
                <a:path h="814197" w="1545717">
                  <a:moveTo>
                    <a:pt x="0" y="76327"/>
                  </a:moveTo>
                  <a:cubicBezTo>
                    <a:pt x="0" y="34163"/>
                    <a:pt x="34163" y="0"/>
                    <a:pt x="76327" y="0"/>
                  </a:cubicBezTo>
                  <a:lnTo>
                    <a:pt x="1469390" y="0"/>
                  </a:lnTo>
                  <a:cubicBezTo>
                    <a:pt x="1511554" y="0"/>
                    <a:pt x="1545717" y="34163"/>
                    <a:pt x="1545717" y="76327"/>
                  </a:cubicBezTo>
                  <a:lnTo>
                    <a:pt x="1545717" y="737870"/>
                  </a:lnTo>
                  <a:cubicBezTo>
                    <a:pt x="1545717" y="780034"/>
                    <a:pt x="1511554" y="814197"/>
                    <a:pt x="1469390" y="814197"/>
                  </a:cubicBezTo>
                  <a:lnTo>
                    <a:pt x="76327" y="814197"/>
                  </a:lnTo>
                  <a:cubicBezTo>
                    <a:pt x="34163" y="814197"/>
                    <a:pt x="0" y="780034"/>
                    <a:pt x="0" y="737870"/>
                  </a:cubicBezTo>
                  <a:close/>
                </a:path>
              </a:pathLst>
            </a:custGeom>
            <a:solidFill>
              <a:srgbClr val="1565C0"/>
            </a:solidFill>
            <a:ln w="254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192" id="192"/>
          <p:cNvGrpSpPr/>
          <p:nvPr/>
        </p:nvGrpSpPr>
        <p:grpSpPr>
          <a:xfrm rot="0">
            <a:off x="5888736" y="8485632"/>
            <a:ext cx="1133856" cy="585216"/>
            <a:chOff x="0" y="0"/>
            <a:chExt cx="1511808" cy="780288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1511808" cy="780288"/>
            </a:xfrm>
            <a:custGeom>
              <a:avLst/>
              <a:gdLst/>
              <a:ahLst/>
              <a:cxnLst/>
              <a:rect r="r" b="b" t="t" l="l"/>
              <a:pathLst>
                <a:path h="78028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221" t="0" r="-16221" b="0"/>
              </a:stretch>
            </a:blipFill>
          </p:spPr>
        </p:sp>
        <p:sp>
          <p:nvSpPr>
            <p:cNvPr name="TextBox 194" id="194"/>
            <p:cNvSpPr txBox="true"/>
            <p:nvPr/>
          </p:nvSpPr>
          <p:spPr>
            <a:xfrm>
              <a:off x="0" y="-28575"/>
              <a:ext cx="151180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0.5</a:t>
              </a:r>
            </a:p>
          </p:txBody>
        </p:sp>
      </p:grpSp>
      <p:grpSp>
        <p:nvGrpSpPr>
          <p:cNvPr name="Group 195" id="195"/>
          <p:cNvGrpSpPr/>
          <p:nvPr/>
        </p:nvGrpSpPr>
        <p:grpSpPr>
          <a:xfrm rot="0">
            <a:off x="7156199" y="8472935"/>
            <a:ext cx="1159259" cy="610619"/>
            <a:chOff x="0" y="0"/>
            <a:chExt cx="1545679" cy="814159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1545717" cy="814197"/>
            </a:xfrm>
            <a:custGeom>
              <a:avLst/>
              <a:gdLst/>
              <a:ahLst/>
              <a:cxnLst/>
              <a:rect r="r" b="b" t="t" l="l"/>
              <a:pathLst>
                <a:path h="814197" w="1545717">
                  <a:moveTo>
                    <a:pt x="0" y="76327"/>
                  </a:moveTo>
                  <a:cubicBezTo>
                    <a:pt x="0" y="34163"/>
                    <a:pt x="34163" y="0"/>
                    <a:pt x="76327" y="0"/>
                  </a:cubicBezTo>
                  <a:lnTo>
                    <a:pt x="1469390" y="0"/>
                  </a:lnTo>
                  <a:cubicBezTo>
                    <a:pt x="1511554" y="0"/>
                    <a:pt x="1545717" y="34163"/>
                    <a:pt x="1545717" y="76327"/>
                  </a:cubicBezTo>
                  <a:lnTo>
                    <a:pt x="1545717" y="737870"/>
                  </a:lnTo>
                  <a:cubicBezTo>
                    <a:pt x="1545717" y="780034"/>
                    <a:pt x="1511554" y="814197"/>
                    <a:pt x="1469390" y="814197"/>
                  </a:cubicBezTo>
                  <a:lnTo>
                    <a:pt x="76327" y="814197"/>
                  </a:lnTo>
                  <a:cubicBezTo>
                    <a:pt x="34163" y="814197"/>
                    <a:pt x="0" y="780034"/>
                    <a:pt x="0" y="737870"/>
                  </a:cubicBezTo>
                  <a:close/>
                </a:path>
              </a:pathLst>
            </a:custGeom>
            <a:solidFill>
              <a:srgbClr val="8B1A1A"/>
            </a:solidFill>
            <a:ln w="25400" cap="sq">
              <a:solidFill>
                <a:srgbClr val="8B1A1A"/>
              </a:solidFill>
              <a:prstDash val="solid"/>
              <a:miter/>
            </a:ln>
          </p:spPr>
        </p:sp>
      </p:grpSp>
      <p:grpSp>
        <p:nvGrpSpPr>
          <p:cNvPr name="Group 197" id="197"/>
          <p:cNvGrpSpPr/>
          <p:nvPr/>
        </p:nvGrpSpPr>
        <p:grpSpPr>
          <a:xfrm rot="0">
            <a:off x="7168896" y="8485632"/>
            <a:ext cx="1133856" cy="585216"/>
            <a:chOff x="0" y="0"/>
            <a:chExt cx="1511808" cy="780288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1511808" cy="780288"/>
            </a:xfrm>
            <a:custGeom>
              <a:avLst/>
              <a:gdLst/>
              <a:ahLst/>
              <a:cxnLst/>
              <a:rect r="r" b="b" t="t" l="l"/>
              <a:pathLst>
                <a:path h="78028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221" t="0" r="-16221" b="0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28575"/>
              <a:ext cx="1511808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1.0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9509760" y="4937760"/>
            <a:ext cx="8229600" cy="585216"/>
            <a:chOff x="0" y="0"/>
            <a:chExt cx="10972800" cy="780288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10972800" cy="780288"/>
            </a:xfrm>
            <a:custGeom>
              <a:avLst/>
              <a:gdLst/>
              <a:ahLst/>
              <a:cxnLst/>
              <a:rect r="r" b="b" t="t" l="l"/>
              <a:pathLst>
                <a:path h="7802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008" r="0" b="-224008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47625"/>
              <a:ext cx="109728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5B9BD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Investor Analytics</a:t>
              </a:r>
            </a:p>
          </p:txBody>
        </p:sp>
      </p:grpSp>
      <p:graphicFrame>
        <p:nvGraphicFramePr>
          <p:cNvPr name="Table 203" id="203"/>
          <p:cNvGraphicFramePr>
            <a:graphicFrameLocks noGrp="true"/>
          </p:cNvGraphicFramePr>
          <p:nvPr/>
        </p:nvGraphicFramePr>
        <p:xfrm>
          <a:off x="9509760" y="5577840"/>
          <a:ext cx="8229600" cy="4445000"/>
        </p:xfrm>
        <a:graphic>
          <a:graphicData uri="http://schemas.openxmlformats.org/drawingml/2006/table">
            <a:tbl>
              <a:tblPr/>
              <a:tblGrid>
                <a:gridCol w="3660405"/>
                <a:gridCol w="4569195"/>
              </a:tblGrid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Metric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Finding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Largest Segment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Age 26–35 (Young Professionals)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Gender Split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Male ~67% · Female ~33%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Top Cities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Mumbai, Delhi, Bangalore (T30)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SIP Continuity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Strong — majority maintain &gt; 12 months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Txn Type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Lump-sum leads total volume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B30 Cities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Growing but lag T30 significantly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945643"/>
            <a:chOff x="0" y="0"/>
            <a:chExt cx="24417871" cy="25941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594229"/>
            </a:xfrm>
            <a:custGeom>
              <a:avLst/>
              <a:gdLst/>
              <a:ahLst/>
              <a:cxnLst/>
              <a:rect r="r" b="b" t="t" l="l"/>
              <a:pathLst>
                <a:path h="25942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0A2540"/>
            </a:solidFill>
            <a:ln w="25400" cap="sq">
              <a:solidFill>
                <a:srgbClr val="0A254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19456"/>
            <a:ext cx="14630400" cy="914400"/>
            <a:chOff x="0" y="0"/>
            <a:chExt cx="195072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1950720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Power BI Dashboard Suite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133856"/>
            <a:ext cx="14630400" cy="512064"/>
            <a:chOff x="0" y="0"/>
            <a:chExt cx="1950720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0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9507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4 Interactive Business Intelligence Dashboards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27383" y="2181863"/>
            <a:ext cx="8072123" cy="3408683"/>
            <a:chOff x="0" y="0"/>
            <a:chExt cx="10762831" cy="45449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62742" cy="4544822"/>
            </a:xfrm>
            <a:custGeom>
              <a:avLst/>
              <a:gdLst/>
              <a:ahLst/>
              <a:cxnLst/>
              <a:rect r="r" b="b" t="t" l="l"/>
              <a:pathLst>
                <a:path h="4544822" w="10762742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10517124" y="0"/>
                  </a:lnTo>
                  <a:cubicBezTo>
                    <a:pt x="10652760" y="0"/>
                    <a:pt x="10762742" y="109982"/>
                    <a:pt x="10762742" y="245618"/>
                  </a:cubicBezTo>
                  <a:lnTo>
                    <a:pt x="10762742" y="4299204"/>
                  </a:lnTo>
                  <a:cubicBezTo>
                    <a:pt x="10762742" y="4434840"/>
                    <a:pt x="10652760" y="4544822"/>
                    <a:pt x="10517124" y="4544822"/>
                  </a:cubicBezTo>
                  <a:lnTo>
                    <a:pt x="245618" y="4544822"/>
                  </a:lnTo>
                  <a:cubicBezTo>
                    <a:pt x="109982" y="4544949"/>
                    <a:pt x="0" y="4434967"/>
                    <a:pt x="0" y="4299204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627383" y="2181863"/>
            <a:ext cx="8072123" cy="976379"/>
            <a:chOff x="0" y="0"/>
            <a:chExt cx="10762831" cy="130183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62742" cy="1301750"/>
            </a:xfrm>
            <a:custGeom>
              <a:avLst/>
              <a:gdLst/>
              <a:ahLst/>
              <a:cxnLst/>
              <a:rect r="r" b="b" t="t" l="l"/>
              <a:pathLst>
                <a:path h="1301750" w="10762742">
                  <a:moveTo>
                    <a:pt x="0" y="250317"/>
                  </a:moveTo>
                  <a:cubicBezTo>
                    <a:pt x="0" y="112141"/>
                    <a:pt x="112141" y="0"/>
                    <a:pt x="250317" y="0"/>
                  </a:cubicBezTo>
                  <a:lnTo>
                    <a:pt x="10512425" y="0"/>
                  </a:lnTo>
                  <a:cubicBezTo>
                    <a:pt x="10650728" y="0"/>
                    <a:pt x="10762742" y="112141"/>
                    <a:pt x="10762742" y="250317"/>
                  </a:cubicBezTo>
                  <a:lnTo>
                    <a:pt x="10762742" y="1051433"/>
                  </a:lnTo>
                  <a:cubicBezTo>
                    <a:pt x="10762742" y="1189736"/>
                    <a:pt x="10650601" y="1301750"/>
                    <a:pt x="10512425" y="1301750"/>
                  </a:cubicBezTo>
                  <a:lnTo>
                    <a:pt x="250317" y="1301750"/>
                  </a:lnTo>
                  <a:cubicBezTo>
                    <a:pt x="112141" y="1301877"/>
                    <a:pt x="0" y="1189736"/>
                    <a:pt x="0" y="1051433"/>
                  </a:cubicBezTo>
                  <a:close/>
                </a:path>
              </a:pathLst>
            </a:custGeom>
            <a:solidFill>
              <a:srgbClr val="1565C0"/>
            </a:solidFill>
            <a:ln w="254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27383" y="2730503"/>
            <a:ext cx="8072123" cy="427739"/>
            <a:chOff x="0" y="0"/>
            <a:chExt cx="10762831" cy="5703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62869" cy="570357"/>
            </a:xfrm>
            <a:custGeom>
              <a:avLst/>
              <a:gdLst/>
              <a:ahLst/>
              <a:cxnLst/>
              <a:rect r="r" b="b" t="t" l="l"/>
              <a:pathLst>
                <a:path h="570357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1565C0"/>
            </a:solidFill>
            <a:ln w="254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2267712"/>
            <a:ext cx="3291840" cy="402336"/>
            <a:chOff x="0" y="0"/>
            <a:chExt cx="4389120" cy="5364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89120" cy="536448"/>
            </a:xfrm>
            <a:custGeom>
              <a:avLst/>
              <a:gdLst/>
              <a:ahLst/>
              <a:cxnLst/>
              <a:rect r="r" b="b" t="t" l="l"/>
              <a:pathLst>
                <a:path h="53644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423" r="0" b="-10942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438912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 01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" y="2633472"/>
            <a:ext cx="7315200" cy="438912"/>
            <a:chOff x="0" y="0"/>
            <a:chExt cx="9753600" cy="5852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753600" cy="585216"/>
            </a:xfrm>
            <a:custGeom>
              <a:avLst/>
              <a:gdLst/>
              <a:ahLst/>
              <a:cxnLst/>
              <a:rect r="r" b="b" t="t" l="l"/>
              <a:pathLst>
                <a:path h="58521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9753600" cy="6423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Industry Overview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4400" y="3291840"/>
            <a:ext cx="1005840" cy="475488"/>
            <a:chOff x="0" y="0"/>
            <a:chExt cx="1341120" cy="6339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41120" cy="633984"/>
            </a:xfrm>
            <a:custGeom>
              <a:avLst/>
              <a:gdLst/>
              <a:ahLst/>
              <a:cxnLst/>
              <a:rect r="r" b="b" t="t" l="l"/>
              <a:pathLst>
                <a:path h="633984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652" t="0" r="-10652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3411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KPIs: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828800" y="3291840"/>
            <a:ext cx="6583680" cy="475488"/>
            <a:chOff x="0" y="0"/>
            <a:chExt cx="8778240" cy="6339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778240" cy="633984"/>
            </a:xfrm>
            <a:custGeom>
              <a:avLst/>
              <a:gdLst/>
              <a:ahLst/>
              <a:cxnLst/>
              <a:rect r="r" b="b" t="t" l="l"/>
              <a:pathLst>
                <a:path h="63398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7782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AUM · SIP Inflows · Folios · Schemes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4400" y="3803904"/>
            <a:ext cx="1280160" cy="475488"/>
            <a:chOff x="0" y="0"/>
            <a:chExt cx="1706880" cy="6339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06880" cy="633984"/>
            </a:xfrm>
            <a:custGeom>
              <a:avLst/>
              <a:gdLst/>
              <a:ahLst/>
              <a:cxnLst/>
              <a:rect r="r" b="b" t="t" l="l"/>
              <a:pathLst>
                <a:path h="633984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7068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Visuals: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103120" y="3803904"/>
            <a:ext cx="6309360" cy="475488"/>
            <a:chOff x="0" y="0"/>
            <a:chExt cx="8412480" cy="63398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412480" cy="633984"/>
            </a:xfrm>
            <a:custGeom>
              <a:avLst/>
              <a:gdLst/>
              <a:ahLst/>
              <a:cxnLst/>
              <a:rect r="r" b="b" t="t" l="l"/>
              <a:pathLst>
                <a:path h="633984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51" r="0" b="-20855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84124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AUM growth trend · Category inflows · Fund house comparison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4400" y="4974336"/>
            <a:ext cx="7498080" cy="438912"/>
            <a:chOff x="0" y="0"/>
            <a:chExt cx="9997440" cy="5852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997440" cy="585216"/>
            </a:xfrm>
            <a:custGeom>
              <a:avLst/>
              <a:gdLst/>
              <a:ahLst/>
              <a:cxnLst/>
              <a:rect r="r" b="b" t="t" l="l"/>
              <a:pathLst>
                <a:path h="585216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99974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→ Interactive · Filterable · Cross-visual Drill-down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4183" y="2181863"/>
            <a:ext cx="8072123" cy="3408683"/>
            <a:chOff x="0" y="0"/>
            <a:chExt cx="10762831" cy="454491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762742" cy="4544822"/>
            </a:xfrm>
            <a:custGeom>
              <a:avLst/>
              <a:gdLst/>
              <a:ahLst/>
              <a:cxnLst/>
              <a:rect r="r" b="b" t="t" l="l"/>
              <a:pathLst>
                <a:path h="4544822" w="10762742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10517124" y="0"/>
                  </a:lnTo>
                  <a:cubicBezTo>
                    <a:pt x="10652760" y="0"/>
                    <a:pt x="10762742" y="109982"/>
                    <a:pt x="10762742" y="245618"/>
                  </a:cubicBezTo>
                  <a:lnTo>
                    <a:pt x="10762742" y="4299204"/>
                  </a:lnTo>
                  <a:cubicBezTo>
                    <a:pt x="10762742" y="4434840"/>
                    <a:pt x="10652760" y="4544822"/>
                    <a:pt x="10517124" y="4544822"/>
                  </a:cubicBezTo>
                  <a:lnTo>
                    <a:pt x="245618" y="4544822"/>
                  </a:lnTo>
                  <a:cubicBezTo>
                    <a:pt x="109982" y="4544949"/>
                    <a:pt x="0" y="4434967"/>
                    <a:pt x="0" y="4299204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14183" y="2181863"/>
            <a:ext cx="8072123" cy="976379"/>
            <a:chOff x="0" y="0"/>
            <a:chExt cx="10762831" cy="130183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762742" cy="1301750"/>
            </a:xfrm>
            <a:custGeom>
              <a:avLst/>
              <a:gdLst/>
              <a:ahLst/>
              <a:cxnLst/>
              <a:rect r="r" b="b" t="t" l="l"/>
              <a:pathLst>
                <a:path h="1301750" w="10762742">
                  <a:moveTo>
                    <a:pt x="0" y="250317"/>
                  </a:moveTo>
                  <a:cubicBezTo>
                    <a:pt x="0" y="112141"/>
                    <a:pt x="112141" y="0"/>
                    <a:pt x="250317" y="0"/>
                  </a:cubicBezTo>
                  <a:lnTo>
                    <a:pt x="10512425" y="0"/>
                  </a:lnTo>
                  <a:cubicBezTo>
                    <a:pt x="10650728" y="0"/>
                    <a:pt x="10762742" y="112141"/>
                    <a:pt x="10762742" y="250317"/>
                  </a:cubicBezTo>
                  <a:lnTo>
                    <a:pt x="10762742" y="1051433"/>
                  </a:lnTo>
                  <a:cubicBezTo>
                    <a:pt x="10762742" y="1189736"/>
                    <a:pt x="10650601" y="1301750"/>
                    <a:pt x="10512425" y="1301750"/>
                  </a:cubicBezTo>
                  <a:lnTo>
                    <a:pt x="250317" y="1301750"/>
                  </a:lnTo>
                  <a:cubicBezTo>
                    <a:pt x="112141" y="1301877"/>
                    <a:pt x="0" y="1189736"/>
                    <a:pt x="0" y="1051433"/>
                  </a:cubicBezTo>
                  <a:close/>
                </a:path>
              </a:pathLst>
            </a:custGeom>
            <a:solidFill>
              <a:srgbClr val="1A7A4A"/>
            </a:solidFill>
            <a:ln w="25400" cap="sq">
              <a:solidFill>
                <a:srgbClr val="1A7A4A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314183" y="2730503"/>
            <a:ext cx="8072123" cy="427739"/>
            <a:chOff x="0" y="0"/>
            <a:chExt cx="10762831" cy="57031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762869" cy="570357"/>
            </a:xfrm>
            <a:custGeom>
              <a:avLst/>
              <a:gdLst/>
              <a:ahLst/>
              <a:cxnLst/>
              <a:rect r="r" b="b" t="t" l="l"/>
              <a:pathLst>
                <a:path h="570357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1A7A4A"/>
            </a:solidFill>
            <a:ln w="25400" cap="sq">
              <a:solidFill>
                <a:srgbClr val="1A7A4A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9601200" y="2267712"/>
            <a:ext cx="3291840" cy="402336"/>
            <a:chOff x="0" y="0"/>
            <a:chExt cx="4389120" cy="53644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389120" cy="536448"/>
            </a:xfrm>
            <a:custGeom>
              <a:avLst/>
              <a:gdLst/>
              <a:ahLst/>
              <a:cxnLst/>
              <a:rect r="r" b="b" t="t" l="l"/>
              <a:pathLst>
                <a:path h="53644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423" r="0" b="-10942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438912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 02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601200" y="2633472"/>
            <a:ext cx="7315200" cy="438912"/>
            <a:chOff x="0" y="0"/>
            <a:chExt cx="9753600" cy="58521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753600" cy="585216"/>
            </a:xfrm>
            <a:custGeom>
              <a:avLst/>
              <a:gdLst/>
              <a:ahLst/>
              <a:cxnLst/>
              <a:rect r="r" b="b" t="t" l="l"/>
              <a:pathLst>
                <a:path h="58521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9753600" cy="6423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Fund Performance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601200" y="3291840"/>
            <a:ext cx="1005840" cy="475488"/>
            <a:chOff x="0" y="0"/>
            <a:chExt cx="1341120" cy="63398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41120" cy="633984"/>
            </a:xfrm>
            <a:custGeom>
              <a:avLst/>
              <a:gdLst/>
              <a:ahLst/>
              <a:cxnLst/>
              <a:rect r="r" b="b" t="t" l="l"/>
              <a:pathLst>
                <a:path h="633984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652" t="0" r="-10652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3411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KPIs: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515600" y="3291840"/>
            <a:ext cx="6583680" cy="475488"/>
            <a:chOff x="0" y="0"/>
            <a:chExt cx="8778240" cy="63398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778240" cy="633984"/>
            </a:xfrm>
            <a:custGeom>
              <a:avLst/>
              <a:gdLst/>
              <a:ahLst/>
              <a:cxnLst/>
              <a:rect r="r" b="b" t="t" l="l"/>
              <a:pathLst>
                <a:path h="63398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87782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CAGR · Sharpe Ratio · Fund Scorecard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601200" y="3803904"/>
            <a:ext cx="1280160" cy="475488"/>
            <a:chOff x="0" y="0"/>
            <a:chExt cx="1706880" cy="63398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706880" cy="633984"/>
            </a:xfrm>
            <a:custGeom>
              <a:avLst/>
              <a:gdLst/>
              <a:ahLst/>
              <a:cxnLst/>
              <a:rect r="r" b="b" t="t" l="l"/>
              <a:pathLst>
                <a:path h="633984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7068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Visuals: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789920" y="3803904"/>
            <a:ext cx="6309360" cy="475488"/>
            <a:chOff x="0" y="0"/>
            <a:chExt cx="8412480" cy="63398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412480" cy="633984"/>
            </a:xfrm>
            <a:custGeom>
              <a:avLst/>
              <a:gdLst/>
              <a:ahLst/>
              <a:cxnLst/>
              <a:rect r="r" b="b" t="t" l="l"/>
              <a:pathLst>
                <a:path h="633984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51" r="0" b="-20855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84124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Risk vs Return scatter · Benchmark comparison · Top performers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601200" y="4974336"/>
            <a:ext cx="7498080" cy="438912"/>
            <a:chOff x="0" y="0"/>
            <a:chExt cx="9997440" cy="58521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997440" cy="585216"/>
            </a:xfrm>
            <a:custGeom>
              <a:avLst/>
              <a:gdLst/>
              <a:ahLst/>
              <a:cxnLst/>
              <a:rect r="r" b="b" t="t" l="l"/>
              <a:pathLst>
                <a:path h="585216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99974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→ Interactive · Filterable · Cross-visual Drill-down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627383" y="6022343"/>
            <a:ext cx="8072123" cy="3408683"/>
            <a:chOff x="0" y="0"/>
            <a:chExt cx="10762831" cy="454491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762742" cy="4544822"/>
            </a:xfrm>
            <a:custGeom>
              <a:avLst/>
              <a:gdLst/>
              <a:ahLst/>
              <a:cxnLst/>
              <a:rect r="r" b="b" t="t" l="l"/>
              <a:pathLst>
                <a:path h="4544822" w="10762742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10517124" y="0"/>
                  </a:lnTo>
                  <a:cubicBezTo>
                    <a:pt x="10652760" y="0"/>
                    <a:pt x="10762742" y="109982"/>
                    <a:pt x="10762742" y="245618"/>
                  </a:cubicBezTo>
                  <a:lnTo>
                    <a:pt x="10762742" y="4299204"/>
                  </a:lnTo>
                  <a:cubicBezTo>
                    <a:pt x="10762742" y="4434840"/>
                    <a:pt x="10652760" y="4544822"/>
                    <a:pt x="10517124" y="4544822"/>
                  </a:cubicBezTo>
                  <a:lnTo>
                    <a:pt x="245618" y="4544822"/>
                  </a:lnTo>
                  <a:cubicBezTo>
                    <a:pt x="109982" y="4544949"/>
                    <a:pt x="0" y="4434967"/>
                    <a:pt x="0" y="4299204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627383" y="6022343"/>
            <a:ext cx="8072123" cy="976379"/>
            <a:chOff x="0" y="0"/>
            <a:chExt cx="10762831" cy="130183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762742" cy="1301750"/>
            </a:xfrm>
            <a:custGeom>
              <a:avLst/>
              <a:gdLst/>
              <a:ahLst/>
              <a:cxnLst/>
              <a:rect r="r" b="b" t="t" l="l"/>
              <a:pathLst>
                <a:path h="1301750" w="10762742">
                  <a:moveTo>
                    <a:pt x="0" y="250317"/>
                  </a:moveTo>
                  <a:cubicBezTo>
                    <a:pt x="0" y="112141"/>
                    <a:pt x="112141" y="0"/>
                    <a:pt x="250317" y="0"/>
                  </a:cubicBezTo>
                  <a:lnTo>
                    <a:pt x="10512425" y="0"/>
                  </a:lnTo>
                  <a:cubicBezTo>
                    <a:pt x="10650728" y="0"/>
                    <a:pt x="10762742" y="112141"/>
                    <a:pt x="10762742" y="250317"/>
                  </a:cubicBezTo>
                  <a:lnTo>
                    <a:pt x="10762742" y="1051433"/>
                  </a:lnTo>
                  <a:cubicBezTo>
                    <a:pt x="10762742" y="1189736"/>
                    <a:pt x="10650601" y="1301750"/>
                    <a:pt x="10512425" y="1301750"/>
                  </a:cubicBezTo>
                  <a:lnTo>
                    <a:pt x="250317" y="1301750"/>
                  </a:lnTo>
                  <a:cubicBezTo>
                    <a:pt x="112141" y="1301877"/>
                    <a:pt x="0" y="1189736"/>
                    <a:pt x="0" y="1051433"/>
                  </a:cubicBezTo>
                  <a:close/>
                </a:path>
              </a:pathLst>
            </a:custGeom>
            <a:solidFill>
              <a:srgbClr val="7B3A9E"/>
            </a:solidFill>
            <a:ln w="25400" cap="sq">
              <a:solidFill>
                <a:srgbClr val="7B3A9E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627383" y="6570983"/>
            <a:ext cx="8072123" cy="427739"/>
            <a:chOff x="0" y="0"/>
            <a:chExt cx="10762831" cy="57031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762869" cy="570357"/>
            </a:xfrm>
            <a:custGeom>
              <a:avLst/>
              <a:gdLst/>
              <a:ahLst/>
              <a:cxnLst/>
              <a:rect r="r" b="b" t="t" l="l"/>
              <a:pathLst>
                <a:path h="570357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7B3A9E"/>
            </a:solidFill>
            <a:ln w="25400" cap="sq">
              <a:solidFill>
                <a:srgbClr val="7B3A9E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914400" y="6108192"/>
            <a:ext cx="3291840" cy="402336"/>
            <a:chOff x="0" y="0"/>
            <a:chExt cx="4389120" cy="53644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389120" cy="536448"/>
            </a:xfrm>
            <a:custGeom>
              <a:avLst/>
              <a:gdLst/>
              <a:ahLst/>
              <a:cxnLst/>
              <a:rect r="r" b="b" t="t" l="l"/>
              <a:pathLst>
                <a:path h="53644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423" r="0" b="-109423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438912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 03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14400" y="6473952"/>
            <a:ext cx="7315200" cy="438912"/>
            <a:chOff x="0" y="0"/>
            <a:chExt cx="9753600" cy="58521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753600" cy="585216"/>
            </a:xfrm>
            <a:custGeom>
              <a:avLst/>
              <a:gdLst/>
              <a:ahLst/>
              <a:cxnLst/>
              <a:rect r="r" b="b" t="t" l="l"/>
              <a:pathLst>
                <a:path h="58521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57150"/>
              <a:ext cx="9753600" cy="6423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Investor Analytics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14400" y="7132320"/>
            <a:ext cx="1005840" cy="475488"/>
            <a:chOff x="0" y="0"/>
            <a:chExt cx="1341120" cy="63398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341120" cy="633984"/>
            </a:xfrm>
            <a:custGeom>
              <a:avLst/>
              <a:gdLst/>
              <a:ahLst/>
              <a:cxnLst/>
              <a:rect r="r" b="b" t="t" l="l"/>
              <a:pathLst>
                <a:path h="633984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652" t="0" r="-10652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13411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KPIs: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828800" y="7132320"/>
            <a:ext cx="6583680" cy="475488"/>
            <a:chOff x="0" y="0"/>
            <a:chExt cx="8778240" cy="63398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778240" cy="633984"/>
            </a:xfrm>
            <a:custGeom>
              <a:avLst/>
              <a:gdLst/>
              <a:ahLst/>
              <a:cxnLst/>
              <a:rect r="r" b="b" t="t" l="l"/>
              <a:pathLst>
                <a:path h="63398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87782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Investor Count · Avg Ticket · Retention Rate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14400" y="7644384"/>
            <a:ext cx="1280160" cy="475488"/>
            <a:chOff x="0" y="0"/>
            <a:chExt cx="1706880" cy="63398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706880" cy="633984"/>
            </a:xfrm>
            <a:custGeom>
              <a:avLst/>
              <a:gdLst/>
              <a:ahLst/>
              <a:cxnLst/>
              <a:rect r="r" b="b" t="t" l="l"/>
              <a:pathLst>
                <a:path h="633984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17068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Visuals: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2103120" y="7644384"/>
            <a:ext cx="6309360" cy="475488"/>
            <a:chOff x="0" y="0"/>
            <a:chExt cx="8412480" cy="63398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412480" cy="633984"/>
            </a:xfrm>
            <a:custGeom>
              <a:avLst/>
              <a:gdLst/>
              <a:ahLst/>
              <a:cxnLst/>
              <a:rect r="r" b="b" t="t" l="l"/>
              <a:pathLst>
                <a:path h="633984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51" r="0" b="-20855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84124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State-wise map · Demographic charts · Transaction trends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14400" y="8814816"/>
            <a:ext cx="7498080" cy="438912"/>
            <a:chOff x="0" y="0"/>
            <a:chExt cx="9997440" cy="58521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997440" cy="585216"/>
            </a:xfrm>
            <a:custGeom>
              <a:avLst/>
              <a:gdLst/>
              <a:ahLst/>
              <a:cxnLst/>
              <a:rect r="r" b="b" t="t" l="l"/>
              <a:pathLst>
                <a:path h="585216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99974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→ Interactive · Filterable · Cross-visual Drill-down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9314183" y="6022343"/>
            <a:ext cx="8072123" cy="3408683"/>
            <a:chOff x="0" y="0"/>
            <a:chExt cx="10762831" cy="4544911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762742" cy="4544822"/>
            </a:xfrm>
            <a:custGeom>
              <a:avLst/>
              <a:gdLst/>
              <a:ahLst/>
              <a:cxnLst/>
              <a:rect r="r" b="b" t="t" l="l"/>
              <a:pathLst>
                <a:path h="4544822" w="10762742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10517124" y="0"/>
                  </a:lnTo>
                  <a:cubicBezTo>
                    <a:pt x="10652760" y="0"/>
                    <a:pt x="10762742" y="109982"/>
                    <a:pt x="10762742" y="245618"/>
                  </a:cubicBezTo>
                  <a:lnTo>
                    <a:pt x="10762742" y="4299204"/>
                  </a:lnTo>
                  <a:cubicBezTo>
                    <a:pt x="10762742" y="4434840"/>
                    <a:pt x="10652760" y="4544822"/>
                    <a:pt x="10517124" y="4544822"/>
                  </a:cubicBezTo>
                  <a:lnTo>
                    <a:pt x="245618" y="4544822"/>
                  </a:lnTo>
                  <a:cubicBezTo>
                    <a:pt x="109982" y="4544949"/>
                    <a:pt x="0" y="4434967"/>
                    <a:pt x="0" y="4299204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9314183" y="6022343"/>
            <a:ext cx="8072123" cy="976379"/>
            <a:chOff x="0" y="0"/>
            <a:chExt cx="10762831" cy="1301839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762742" cy="1301750"/>
            </a:xfrm>
            <a:custGeom>
              <a:avLst/>
              <a:gdLst/>
              <a:ahLst/>
              <a:cxnLst/>
              <a:rect r="r" b="b" t="t" l="l"/>
              <a:pathLst>
                <a:path h="1301750" w="10762742">
                  <a:moveTo>
                    <a:pt x="0" y="250317"/>
                  </a:moveTo>
                  <a:cubicBezTo>
                    <a:pt x="0" y="112141"/>
                    <a:pt x="112141" y="0"/>
                    <a:pt x="250317" y="0"/>
                  </a:cubicBezTo>
                  <a:lnTo>
                    <a:pt x="10512425" y="0"/>
                  </a:lnTo>
                  <a:cubicBezTo>
                    <a:pt x="10650728" y="0"/>
                    <a:pt x="10762742" y="112141"/>
                    <a:pt x="10762742" y="250317"/>
                  </a:cubicBezTo>
                  <a:lnTo>
                    <a:pt x="10762742" y="1051433"/>
                  </a:lnTo>
                  <a:cubicBezTo>
                    <a:pt x="10762742" y="1189736"/>
                    <a:pt x="10650601" y="1301750"/>
                    <a:pt x="10512425" y="1301750"/>
                  </a:cubicBezTo>
                  <a:lnTo>
                    <a:pt x="250317" y="1301750"/>
                  </a:lnTo>
                  <a:cubicBezTo>
                    <a:pt x="112141" y="1301877"/>
                    <a:pt x="0" y="1189736"/>
                    <a:pt x="0" y="1051433"/>
                  </a:cubicBezTo>
                  <a:close/>
                </a:path>
              </a:pathLst>
            </a:custGeom>
            <a:solidFill>
              <a:srgbClr val="B7770D"/>
            </a:solidFill>
            <a:ln w="25400" cap="sq">
              <a:solidFill>
                <a:srgbClr val="B7770D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9314183" y="6570983"/>
            <a:ext cx="8072123" cy="427739"/>
            <a:chOff x="0" y="0"/>
            <a:chExt cx="10762831" cy="570319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762869" cy="570357"/>
            </a:xfrm>
            <a:custGeom>
              <a:avLst/>
              <a:gdLst/>
              <a:ahLst/>
              <a:cxnLst/>
              <a:rect r="r" b="b" t="t" l="l"/>
              <a:pathLst>
                <a:path h="570357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B7770D"/>
            </a:solidFill>
            <a:ln w="25400" cap="sq">
              <a:solidFill>
                <a:srgbClr val="B7770D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9601200" y="6108192"/>
            <a:ext cx="3291840" cy="402336"/>
            <a:chOff x="0" y="0"/>
            <a:chExt cx="4389120" cy="53644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389120" cy="536448"/>
            </a:xfrm>
            <a:custGeom>
              <a:avLst/>
              <a:gdLst/>
              <a:ahLst/>
              <a:cxnLst/>
              <a:rect r="r" b="b" t="t" l="l"/>
              <a:pathLst>
                <a:path h="53644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423" r="0" b="-109423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28575"/>
              <a:ext cx="438912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 04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601200" y="6473952"/>
            <a:ext cx="7315200" cy="438912"/>
            <a:chOff x="0" y="0"/>
            <a:chExt cx="9753600" cy="58521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9753600" cy="585216"/>
            </a:xfrm>
            <a:custGeom>
              <a:avLst/>
              <a:gdLst/>
              <a:ahLst/>
              <a:cxnLst/>
              <a:rect r="r" b="b" t="t" l="l"/>
              <a:pathLst>
                <a:path h="58521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57150"/>
              <a:ext cx="9753600" cy="6423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SIP &amp; Market Trends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9601200" y="7132320"/>
            <a:ext cx="1005840" cy="475488"/>
            <a:chOff x="0" y="0"/>
            <a:chExt cx="1341120" cy="63398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341120" cy="633984"/>
            </a:xfrm>
            <a:custGeom>
              <a:avLst/>
              <a:gdLst/>
              <a:ahLst/>
              <a:cxnLst/>
              <a:rect r="r" b="b" t="t" l="l"/>
              <a:pathLst>
                <a:path h="633984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652" t="0" r="-10652" b="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13411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KPIs: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0515600" y="7132320"/>
            <a:ext cx="6583680" cy="475488"/>
            <a:chOff x="0" y="0"/>
            <a:chExt cx="8778240" cy="63398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8778240" cy="633984"/>
            </a:xfrm>
            <a:custGeom>
              <a:avLst/>
              <a:gdLst/>
              <a:ahLst/>
              <a:cxnLst/>
              <a:rect r="r" b="b" t="t" l="l"/>
              <a:pathLst>
                <a:path h="63398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87782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Monthly SIP · Net Flows · Market Correlation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9601200" y="7644384"/>
            <a:ext cx="1280160" cy="475488"/>
            <a:chOff x="0" y="0"/>
            <a:chExt cx="1706880" cy="633984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706880" cy="633984"/>
            </a:xfrm>
            <a:custGeom>
              <a:avLst/>
              <a:gdLst/>
              <a:ahLst/>
              <a:cxnLst/>
              <a:rect r="r" b="b" t="t" l="l"/>
              <a:pathLst>
                <a:path h="633984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17068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Visuals: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0789920" y="7644384"/>
            <a:ext cx="6309360" cy="475488"/>
            <a:chOff x="0" y="0"/>
            <a:chExt cx="8412480" cy="633984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8412480" cy="633984"/>
            </a:xfrm>
            <a:custGeom>
              <a:avLst/>
              <a:gdLst/>
              <a:ahLst/>
              <a:cxnLst/>
              <a:rect r="r" b="b" t="t" l="l"/>
              <a:pathLst>
                <a:path h="633984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51" r="0" b="-208551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84124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SIP vs Nifty line chart · Category momentum · Seasonal patterns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9601200" y="8814816"/>
            <a:ext cx="7498080" cy="438912"/>
            <a:chOff x="0" y="0"/>
            <a:chExt cx="9997440" cy="58521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9997440" cy="585216"/>
            </a:xfrm>
            <a:custGeom>
              <a:avLst/>
              <a:gdLst/>
              <a:ahLst/>
              <a:cxnLst/>
              <a:rect r="r" b="b" t="t" l="l"/>
              <a:pathLst>
                <a:path h="585216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99974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→ Interactive · Filterable · Cross-visual Drill-down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945643"/>
            <a:chOff x="0" y="0"/>
            <a:chExt cx="24417871" cy="25941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594229"/>
            </a:xfrm>
            <a:custGeom>
              <a:avLst/>
              <a:gdLst/>
              <a:ahLst/>
              <a:cxnLst/>
              <a:rect r="r" b="b" t="t" l="l"/>
              <a:pathLst>
                <a:path h="25942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0D3461"/>
            </a:solidFill>
            <a:ln w="25400" cap="sq">
              <a:solidFill>
                <a:srgbClr val="0D346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19456"/>
            <a:ext cx="14630400" cy="914400"/>
            <a:chOff x="0" y="0"/>
            <a:chExt cx="195072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1950720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Findings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133856"/>
            <a:ext cx="16459200" cy="512064"/>
            <a:chOff x="0" y="0"/>
            <a:chExt cx="2194560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1945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Data-Driven Insights Across Fund Performance, Investor Behavior &amp; Risk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27383" y="2181863"/>
            <a:ext cx="8072123" cy="3353819"/>
            <a:chOff x="0" y="0"/>
            <a:chExt cx="10762831" cy="44717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62869" cy="4471797"/>
            </a:xfrm>
            <a:custGeom>
              <a:avLst/>
              <a:gdLst/>
              <a:ahLst/>
              <a:cxnLst/>
              <a:rect r="r" b="b" t="t" l="l"/>
              <a:pathLst>
                <a:path h="4471797" w="10762869">
                  <a:moveTo>
                    <a:pt x="0" y="245745"/>
                  </a:moveTo>
                  <a:cubicBezTo>
                    <a:pt x="0" y="109982"/>
                    <a:pt x="109982" y="0"/>
                    <a:pt x="245745" y="0"/>
                  </a:cubicBezTo>
                  <a:lnTo>
                    <a:pt x="10517124" y="0"/>
                  </a:lnTo>
                  <a:cubicBezTo>
                    <a:pt x="10652887" y="0"/>
                    <a:pt x="10762869" y="109982"/>
                    <a:pt x="10762869" y="245745"/>
                  </a:cubicBezTo>
                  <a:lnTo>
                    <a:pt x="10762869" y="4226052"/>
                  </a:lnTo>
                  <a:cubicBezTo>
                    <a:pt x="10762869" y="4361815"/>
                    <a:pt x="10652887" y="4471797"/>
                    <a:pt x="10517124" y="4471797"/>
                  </a:cubicBezTo>
                  <a:lnTo>
                    <a:pt x="245745" y="4471797"/>
                  </a:lnTo>
                  <a:cubicBezTo>
                    <a:pt x="109982" y="4471797"/>
                    <a:pt x="0" y="4361688"/>
                    <a:pt x="0" y="4226052"/>
                  </a:cubicBezTo>
                  <a:close/>
                </a:path>
              </a:pathLst>
            </a:custGeom>
            <a:solidFill>
              <a:srgbClr val="0F2D4A"/>
            </a:solidFill>
            <a:ln w="254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627383" y="2181863"/>
            <a:ext cx="8072123" cy="830075"/>
            <a:chOff x="0" y="0"/>
            <a:chExt cx="10762831" cy="11067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62869" cy="1106805"/>
            </a:xfrm>
            <a:custGeom>
              <a:avLst/>
              <a:gdLst/>
              <a:ahLst/>
              <a:cxnLst/>
              <a:rect r="r" b="b" t="t" l="l"/>
              <a:pathLst>
                <a:path h="1106805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106805"/>
                  </a:lnTo>
                  <a:lnTo>
                    <a:pt x="0" y="1106805"/>
                  </a:lnTo>
                  <a:close/>
                </a:path>
              </a:pathLst>
            </a:custGeom>
            <a:solidFill>
              <a:srgbClr val="1565C0"/>
            </a:solidFill>
            <a:ln w="254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27383" y="2181863"/>
            <a:ext cx="8072123" cy="830075"/>
            <a:chOff x="0" y="0"/>
            <a:chExt cx="10762831" cy="11067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62869" cy="1106805"/>
            </a:xfrm>
            <a:custGeom>
              <a:avLst/>
              <a:gdLst/>
              <a:ahLst/>
              <a:cxnLst/>
              <a:rect r="r" b="b" t="t" l="l"/>
              <a:pathLst>
                <a:path h="1106805" w="10762869">
                  <a:moveTo>
                    <a:pt x="0" y="251587"/>
                  </a:moveTo>
                  <a:cubicBezTo>
                    <a:pt x="0" y="112649"/>
                    <a:pt x="112649" y="0"/>
                    <a:pt x="251587" y="0"/>
                  </a:cubicBezTo>
                  <a:lnTo>
                    <a:pt x="10511282" y="0"/>
                  </a:lnTo>
                  <a:cubicBezTo>
                    <a:pt x="10650220" y="0"/>
                    <a:pt x="10762869" y="112649"/>
                    <a:pt x="10762869" y="251587"/>
                  </a:cubicBezTo>
                  <a:lnTo>
                    <a:pt x="10762869" y="855218"/>
                  </a:lnTo>
                  <a:cubicBezTo>
                    <a:pt x="10762869" y="994156"/>
                    <a:pt x="10650220" y="1106805"/>
                    <a:pt x="10511282" y="1106805"/>
                  </a:cubicBezTo>
                  <a:lnTo>
                    <a:pt x="251587" y="1106805"/>
                  </a:lnTo>
                  <a:cubicBezTo>
                    <a:pt x="112649" y="1106805"/>
                    <a:pt x="0" y="994156"/>
                    <a:pt x="0" y="855218"/>
                  </a:cubicBezTo>
                  <a:close/>
                </a:path>
              </a:pathLst>
            </a:custGeom>
            <a:solidFill>
              <a:srgbClr val="1565C0"/>
            </a:solidFill>
            <a:ln w="254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05840" y="2340864"/>
            <a:ext cx="7132320" cy="548640"/>
            <a:chOff x="0" y="0"/>
            <a:chExt cx="950976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🏦  Industry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97280" y="3208020"/>
            <a:ext cx="73152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0A500"/>
                </a:solidFill>
                <a:latin typeface="Calibri (MS)"/>
                <a:ea typeface="Calibri (MS)"/>
                <a:cs typeface="Calibri (MS)"/>
                <a:sym typeface="Calibri (MS)"/>
              </a:rPr>
              <a:t>●  </a:t>
            </a: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SBI Mutual Fund leads industry AUM at ~₹12.5 lakh crore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97280" y="4158996"/>
            <a:ext cx="73152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0A500"/>
                </a:solidFill>
                <a:latin typeface="Calibri (MS)"/>
                <a:ea typeface="Calibri (MS)"/>
                <a:cs typeface="Calibri (MS)"/>
                <a:sym typeface="Calibri (MS)"/>
              </a:rPr>
              <a:t>●  </a:t>
            </a: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Liquid funds receive maximum inflows across categories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314183" y="2181863"/>
            <a:ext cx="8072123" cy="3353819"/>
            <a:chOff x="0" y="0"/>
            <a:chExt cx="10762831" cy="447175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62869" cy="4471797"/>
            </a:xfrm>
            <a:custGeom>
              <a:avLst/>
              <a:gdLst/>
              <a:ahLst/>
              <a:cxnLst/>
              <a:rect r="r" b="b" t="t" l="l"/>
              <a:pathLst>
                <a:path h="4471797" w="10762869">
                  <a:moveTo>
                    <a:pt x="0" y="245745"/>
                  </a:moveTo>
                  <a:cubicBezTo>
                    <a:pt x="0" y="109982"/>
                    <a:pt x="109982" y="0"/>
                    <a:pt x="245745" y="0"/>
                  </a:cubicBezTo>
                  <a:lnTo>
                    <a:pt x="10517124" y="0"/>
                  </a:lnTo>
                  <a:cubicBezTo>
                    <a:pt x="10652887" y="0"/>
                    <a:pt x="10762869" y="109982"/>
                    <a:pt x="10762869" y="245745"/>
                  </a:cubicBezTo>
                  <a:lnTo>
                    <a:pt x="10762869" y="4226052"/>
                  </a:lnTo>
                  <a:cubicBezTo>
                    <a:pt x="10762869" y="4361815"/>
                    <a:pt x="10652887" y="4471797"/>
                    <a:pt x="10517124" y="4471797"/>
                  </a:cubicBezTo>
                  <a:lnTo>
                    <a:pt x="245745" y="4471797"/>
                  </a:lnTo>
                  <a:cubicBezTo>
                    <a:pt x="109982" y="4471797"/>
                    <a:pt x="0" y="4361688"/>
                    <a:pt x="0" y="4226052"/>
                  </a:cubicBezTo>
                  <a:close/>
                </a:path>
              </a:pathLst>
            </a:custGeom>
            <a:solidFill>
              <a:srgbClr val="0F2D4A"/>
            </a:solidFill>
            <a:ln w="25400" cap="sq">
              <a:solidFill>
                <a:srgbClr val="1A7A4A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314183" y="2181863"/>
            <a:ext cx="8072123" cy="830075"/>
            <a:chOff x="0" y="0"/>
            <a:chExt cx="10762831" cy="110676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62869" cy="1106805"/>
            </a:xfrm>
            <a:custGeom>
              <a:avLst/>
              <a:gdLst/>
              <a:ahLst/>
              <a:cxnLst/>
              <a:rect r="r" b="b" t="t" l="l"/>
              <a:pathLst>
                <a:path h="1106805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106805"/>
                  </a:lnTo>
                  <a:lnTo>
                    <a:pt x="0" y="1106805"/>
                  </a:lnTo>
                  <a:close/>
                </a:path>
              </a:pathLst>
            </a:custGeom>
            <a:solidFill>
              <a:srgbClr val="1A7A4A"/>
            </a:solidFill>
            <a:ln w="25400" cap="sq">
              <a:solidFill>
                <a:srgbClr val="1A7A4A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314183" y="2181863"/>
            <a:ext cx="8072123" cy="830075"/>
            <a:chOff x="0" y="0"/>
            <a:chExt cx="10762831" cy="110676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62869" cy="1106805"/>
            </a:xfrm>
            <a:custGeom>
              <a:avLst/>
              <a:gdLst/>
              <a:ahLst/>
              <a:cxnLst/>
              <a:rect r="r" b="b" t="t" l="l"/>
              <a:pathLst>
                <a:path h="1106805" w="10762869">
                  <a:moveTo>
                    <a:pt x="0" y="251587"/>
                  </a:moveTo>
                  <a:cubicBezTo>
                    <a:pt x="0" y="112649"/>
                    <a:pt x="112649" y="0"/>
                    <a:pt x="251587" y="0"/>
                  </a:cubicBezTo>
                  <a:lnTo>
                    <a:pt x="10511282" y="0"/>
                  </a:lnTo>
                  <a:cubicBezTo>
                    <a:pt x="10650220" y="0"/>
                    <a:pt x="10762869" y="112649"/>
                    <a:pt x="10762869" y="251587"/>
                  </a:cubicBezTo>
                  <a:lnTo>
                    <a:pt x="10762869" y="855218"/>
                  </a:lnTo>
                  <a:cubicBezTo>
                    <a:pt x="10762869" y="994156"/>
                    <a:pt x="10650220" y="1106805"/>
                    <a:pt x="10511282" y="1106805"/>
                  </a:cubicBezTo>
                  <a:lnTo>
                    <a:pt x="251587" y="1106805"/>
                  </a:lnTo>
                  <a:cubicBezTo>
                    <a:pt x="112649" y="1106805"/>
                    <a:pt x="0" y="994156"/>
                    <a:pt x="0" y="855218"/>
                  </a:cubicBezTo>
                  <a:close/>
                </a:path>
              </a:pathLst>
            </a:custGeom>
            <a:solidFill>
              <a:srgbClr val="1A7A4A"/>
            </a:solidFill>
            <a:ln w="25400" cap="sq">
              <a:solidFill>
                <a:srgbClr val="1A7A4A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692640" y="2340864"/>
            <a:ext cx="7132320" cy="548640"/>
            <a:chOff x="0" y="0"/>
            <a:chExt cx="950976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👥  Investor Behavior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784080" y="3208020"/>
            <a:ext cx="73152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0A500"/>
                </a:solidFill>
                <a:latin typeface="Calibri (MS)"/>
                <a:ea typeface="Calibri (MS)"/>
                <a:cs typeface="Calibri (MS)"/>
                <a:sym typeface="Calibri (MS)"/>
              </a:rPr>
              <a:t>●  </a:t>
            </a: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Age 26–35 is the largest investor segment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84080" y="4158996"/>
            <a:ext cx="73152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0A500"/>
                </a:solidFill>
                <a:latin typeface="Calibri (MS)"/>
                <a:ea typeface="Calibri (MS)"/>
                <a:cs typeface="Calibri (MS)"/>
                <a:sym typeface="Calibri (MS)"/>
              </a:rPr>
              <a:t>●  </a:t>
            </a: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T30 cities dominate; B30 cities are an emerging opportunity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627383" y="5930903"/>
            <a:ext cx="8072123" cy="3353819"/>
            <a:chOff x="0" y="0"/>
            <a:chExt cx="10762831" cy="447175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762869" cy="4471797"/>
            </a:xfrm>
            <a:custGeom>
              <a:avLst/>
              <a:gdLst/>
              <a:ahLst/>
              <a:cxnLst/>
              <a:rect r="r" b="b" t="t" l="l"/>
              <a:pathLst>
                <a:path h="4471797" w="10762869">
                  <a:moveTo>
                    <a:pt x="0" y="245745"/>
                  </a:moveTo>
                  <a:cubicBezTo>
                    <a:pt x="0" y="109982"/>
                    <a:pt x="109982" y="0"/>
                    <a:pt x="245745" y="0"/>
                  </a:cubicBezTo>
                  <a:lnTo>
                    <a:pt x="10517124" y="0"/>
                  </a:lnTo>
                  <a:cubicBezTo>
                    <a:pt x="10652887" y="0"/>
                    <a:pt x="10762869" y="109982"/>
                    <a:pt x="10762869" y="245745"/>
                  </a:cubicBezTo>
                  <a:lnTo>
                    <a:pt x="10762869" y="4226052"/>
                  </a:lnTo>
                  <a:cubicBezTo>
                    <a:pt x="10762869" y="4361815"/>
                    <a:pt x="10652887" y="4471797"/>
                    <a:pt x="10517124" y="4471797"/>
                  </a:cubicBezTo>
                  <a:lnTo>
                    <a:pt x="245745" y="4471797"/>
                  </a:lnTo>
                  <a:cubicBezTo>
                    <a:pt x="109982" y="4471797"/>
                    <a:pt x="0" y="4361688"/>
                    <a:pt x="0" y="4226052"/>
                  </a:cubicBezTo>
                  <a:close/>
                </a:path>
              </a:pathLst>
            </a:custGeom>
            <a:solidFill>
              <a:srgbClr val="0F2D4A"/>
            </a:solidFill>
            <a:ln w="25400" cap="sq">
              <a:solidFill>
                <a:srgbClr val="B7770D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627383" y="5930903"/>
            <a:ext cx="8072123" cy="830075"/>
            <a:chOff x="0" y="0"/>
            <a:chExt cx="10762831" cy="110676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762869" cy="1106805"/>
            </a:xfrm>
            <a:custGeom>
              <a:avLst/>
              <a:gdLst/>
              <a:ahLst/>
              <a:cxnLst/>
              <a:rect r="r" b="b" t="t" l="l"/>
              <a:pathLst>
                <a:path h="1106805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106805"/>
                  </a:lnTo>
                  <a:lnTo>
                    <a:pt x="0" y="1106805"/>
                  </a:lnTo>
                  <a:close/>
                </a:path>
              </a:pathLst>
            </a:custGeom>
            <a:solidFill>
              <a:srgbClr val="B7770D"/>
            </a:solidFill>
            <a:ln w="25400" cap="sq">
              <a:solidFill>
                <a:srgbClr val="B7770D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27383" y="5930903"/>
            <a:ext cx="8072123" cy="830075"/>
            <a:chOff x="0" y="0"/>
            <a:chExt cx="10762831" cy="110676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762869" cy="1106805"/>
            </a:xfrm>
            <a:custGeom>
              <a:avLst/>
              <a:gdLst/>
              <a:ahLst/>
              <a:cxnLst/>
              <a:rect r="r" b="b" t="t" l="l"/>
              <a:pathLst>
                <a:path h="1106805" w="10762869">
                  <a:moveTo>
                    <a:pt x="0" y="251587"/>
                  </a:moveTo>
                  <a:cubicBezTo>
                    <a:pt x="0" y="112649"/>
                    <a:pt x="112649" y="0"/>
                    <a:pt x="251587" y="0"/>
                  </a:cubicBezTo>
                  <a:lnTo>
                    <a:pt x="10511282" y="0"/>
                  </a:lnTo>
                  <a:cubicBezTo>
                    <a:pt x="10650220" y="0"/>
                    <a:pt x="10762869" y="112649"/>
                    <a:pt x="10762869" y="251587"/>
                  </a:cubicBezTo>
                  <a:lnTo>
                    <a:pt x="10762869" y="855218"/>
                  </a:lnTo>
                  <a:cubicBezTo>
                    <a:pt x="10762869" y="994156"/>
                    <a:pt x="10650220" y="1106805"/>
                    <a:pt x="10511282" y="1106805"/>
                  </a:cubicBezTo>
                  <a:lnTo>
                    <a:pt x="251587" y="1106805"/>
                  </a:lnTo>
                  <a:cubicBezTo>
                    <a:pt x="112649" y="1106805"/>
                    <a:pt x="0" y="994156"/>
                    <a:pt x="0" y="855218"/>
                  </a:cubicBezTo>
                  <a:close/>
                </a:path>
              </a:pathLst>
            </a:custGeom>
            <a:solidFill>
              <a:srgbClr val="B7770D"/>
            </a:solidFill>
            <a:ln w="25400" cap="sq">
              <a:solidFill>
                <a:srgbClr val="B7770D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005840" y="6089904"/>
            <a:ext cx="7132320" cy="548640"/>
            <a:chOff x="0" y="0"/>
            <a:chExt cx="950976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📈  Fund Performance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097280" y="6957060"/>
            <a:ext cx="73152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0A500"/>
                </a:solidFill>
                <a:latin typeface="Calibri (MS)"/>
                <a:ea typeface="Calibri (MS)"/>
                <a:cs typeface="Calibri (MS)"/>
                <a:sym typeface="Calibri (MS)"/>
              </a:rPr>
              <a:t>●  </a:t>
            </a: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Mid-cap &amp; flexi-cap schemes consistently outperform benchmarks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97280" y="7908036"/>
            <a:ext cx="73152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0A500"/>
                </a:solidFill>
                <a:latin typeface="Calibri (MS)"/>
                <a:ea typeface="Calibri (MS)"/>
                <a:cs typeface="Calibri (MS)"/>
                <a:sym typeface="Calibri (MS)"/>
              </a:rPr>
              <a:t>●  </a:t>
            </a: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Risk-adjusted performance varies significantly across categories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314183" y="5930903"/>
            <a:ext cx="8072123" cy="3353819"/>
            <a:chOff x="0" y="0"/>
            <a:chExt cx="10762831" cy="447175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762869" cy="4471797"/>
            </a:xfrm>
            <a:custGeom>
              <a:avLst/>
              <a:gdLst/>
              <a:ahLst/>
              <a:cxnLst/>
              <a:rect r="r" b="b" t="t" l="l"/>
              <a:pathLst>
                <a:path h="4471797" w="10762869">
                  <a:moveTo>
                    <a:pt x="0" y="245745"/>
                  </a:moveTo>
                  <a:cubicBezTo>
                    <a:pt x="0" y="109982"/>
                    <a:pt x="109982" y="0"/>
                    <a:pt x="245745" y="0"/>
                  </a:cubicBezTo>
                  <a:lnTo>
                    <a:pt x="10517124" y="0"/>
                  </a:lnTo>
                  <a:cubicBezTo>
                    <a:pt x="10652887" y="0"/>
                    <a:pt x="10762869" y="109982"/>
                    <a:pt x="10762869" y="245745"/>
                  </a:cubicBezTo>
                  <a:lnTo>
                    <a:pt x="10762869" y="4226052"/>
                  </a:lnTo>
                  <a:cubicBezTo>
                    <a:pt x="10762869" y="4361815"/>
                    <a:pt x="10652887" y="4471797"/>
                    <a:pt x="10517124" y="4471797"/>
                  </a:cubicBezTo>
                  <a:lnTo>
                    <a:pt x="245745" y="4471797"/>
                  </a:lnTo>
                  <a:cubicBezTo>
                    <a:pt x="109982" y="4471797"/>
                    <a:pt x="0" y="4361688"/>
                    <a:pt x="0" y="4226052"/>
                  </a:cubicBezTo>
                  <a:close/>
                </a:path>
              </a:pathLst>
            </a:custGeom>
            <a:solidFill>
              <a:srgbClr val="0F2D4A"/>
            </a:solidFill>
            <a:ln w="25400" cap="sq">
              <a:solidFill>
                <a:srgbClr val="8B1A1A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314183" y="5930903"/>
            <a:ext cx="8072123" cy="830075"/>
            <a:chOff x="0" y="0"/>
            <a:chExt cx="10762831" cy="110676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762869" cy="1106805"/>
            </a:xfrm>
            <a:custGeom>
              <a:avLst/>
              <a:gdLst/>
              <a:ahLst/>
              <a:cxnLst/>
              <a:rect r="r" b="b" t="t" l="l"/>
              <a:pathLst>
                <a:path h="1106805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106805"/>
                  </a:lnTo>
                  <a:lnTo>
                    <a:pt x="0" y="1106805"/>
                  </a:lnTo>
                  <a:close/>
                </a:path>
              </a:pathLst>
            </a:custGeom>
            <a:solidFill>
              <a:srgbClr val="8B1A1A"/>
            </a:solidFill>
            <a:ln w="25400" cap="sq">
              <a:solidFill>
                <a:srgbClr val="8B1A1A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9314183" y="5930903"/>
            <a:ext cx="8072123" cy="830075"/>
            <a:chOff x="0" y="0"/>
            <a:chExt cx="10762831" cy="110676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762869" cy="1106805"/>
            </a:xfrm>
            <a:custGeom>
              <a:avLst/>
              <a:gdLst/>
              <a:ahLst/>
              <a:cxnLst/>
              <a:rect r="r" b="b" t="t" l="l"/>
              <a:pathLst>
                <a:path h="1106805" w="10762869">
                  <a:moveTo>
                    <a:pt x="0" y="251587"/>
                  </a:moveTo>
                  <a:cubicBezTo>
                    <a:pt x="0" y="112649"/>
                    <a:pt x="112649" y="0"/>
                    <a:pt x="251587" y="0"/>
                  </a:cubicBezTo>
                  <a:lnTo>
                    <a:pt x="10511282" y="0"/>
                  </a:lnTo>
                  <a:cubicBezTo>
                    <a:pt x="10650220" y="0"/>
                    <a:pt x="10762869" y="112649"/>
                    <a:pt x="10762869" y="251587"/>
                  </a:cubicBezTo>
                  <a:lnTo>
                    <a:pt x="10762869" y="855218"/>
                  </a:lnTo>
                  <a:cubicBezTo>
                    <a:pt x="10762869" y="994156"/>
                    <a:pt x="10650220" y="1106805"/>
                    <a:pt x="10511282" y="1106805"/>
                  </a:cubicBezTo>
                  <a:lnTo>
                    <a:pt x="251587" y="1106805"/>
                  </a:lnTo>
                  <a:cubicBezTo>
                    <a:pt x="112649" y="1106805"/>
                    <a:pt x="0" y="994156"/>
                    <a:pt x="0" y="855218"/>
                  </a:cubicBezTo>
                  <a:close/>
                </a:path>
              </a:pathLst>
            </a:custGeom>
            <a:solidFill>
              <a:srgbClr val="8B1A1A"/>
            </a:solidFill>
            <a:ln w="25400" cap="sq">
              <a:solidFill>
                <a:srgbClr val="8B1A1A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692640" y="6089904"/>
            <a:ext cx="7132320" cy="548640"/>
            <a:chOff x="0" y="0"/>
            <a:chExt cx="950976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⚠️  Risk Observations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9784080" y="6957060"/>
            <a:ext cx="73152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0A500"/>
                </a:solidFill>
                <a:latin typeface="Calibri (MS)"/>
                <a:ea typeface="Calibri (MS)"/>
                <a:cs typeface="Calibri (MS)"/>
                <a:sym typeface="Calibri (MS)"/>
              </a:rPr>
              <a:t>●  </a:t>
            </a: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Portfolio diversification is the key determinant of risk outcomes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784080" y="7908036"/>
            <a:ext cx="73152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0A500"/>
                </a:solidFill>
                <a:latin typeface="Calibri (MS)"/>
                <a:ea typeface="Calibri (MS)"/>
                <a:cs typeface="Calibri (MS)"/>
                <a:sym typeface="Calibri (MS)"/>
              </a:rPr>
              <a:t>●  </a:t>
            </a: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Correlation analysis reveals clear sector concentration risks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945643"/>
            <a:chOff x="0" y="0"/>
            <a:chExt cx="24417871" cy="25941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594229"/>
            </a:xfrm>
            <a:custGeom>
              <a:avLst/>
              <a:gdLst/>
              <a:ahLst/>
              <a:cxnLst/>
              <a:rect r="r" b="b" t="t" l="l"/>
              <a:pathLst>
                <a:path h="25942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0A2540"/>
            </a:solidFill>
            <a:ln w="25400" cap="sq">
              <a:solidFill>
                <a:srgbClr val="0A254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19456"/>
            <a:ext cx="14630400" cy="914400"/>
            <a:chOff x="0" y="0"/>
            <a:chExt cx="195072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1950720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Recommendations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133856"/>
            <a:ext cx="14630400" cy="512064"/>
            <a:chOff x="0" y="0"/>
            <a:chExt cx="1950720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0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9507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Investment, Business &amp; Data Strategy Recommendations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27383" y="2181863"/>
            <a:ext cx="8072123" cy="3463547"/>
            <a:chOff x="0" y="0"/>
            <a:chExt cx="10762831" cy="46180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62869" cy="4618101"/>
            </a:xfrm>
            <a:custGeom>
              <a:avLst/>
              <a:gdLst/>
              <a:ahLst/>
              <a:cxnLst/>
              <a:rect r="r" b="b" t="t" l="l"/>
              <a:pathLst>
                <a:path h="4618101" w="10762869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10517251" y="0"/>
                  </a:lnTo>
                  <a:cubicBezTo>
                    <a:pt x="10652887" y="0"/>
                    <a:pt x="10762869" y="109982"/>
                    <a:pt x="10762869" y="245618"/>
                  </a:cubicBezTo>
                  <a:lnTo>
                    <a:pt x="10762869" y="4372483"/>
                  </a:lnTo>
                  <a:cubicBezTo>
                    <a:pt x="10762869" y="4508119"/>
                    <a:pt x="10652887" y="4618101"/>
                    <a:pt x="10517251" y="4618101"/>
                  </a:cubicBezTo>
                  <a:lnTo>
                    <a:pt x="245618" y="4618101"/>
                  </a:lnTo>
                  <a:cubicBezTo>
                    <a:pt x="109982" y="4618101"/>
                    <a:pt x="0" y="4508119"/>
                    <a:pt x="0" y="4372483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69264" y="2377440"/>
            <a:ext cx="7132320" cy="640080"/>
            <a:chOff x="0" y="0"/>
            <a:chExt cx="9509760" cy="853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09760" cy="853440"/>
            </a:xfrm>
            <a:custGeom>
              <a:avLst/>
              <a:gdLst/>
              <a:ahLst/>
              <a:cxnLst/>
              <a:rect r="r" b="b" t="t" l="l"/>
              <a:pathLst>
                <a:path h="853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95097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💼  Investment Recommendations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60704" y="3153156"/>
            <a:ext cx="7315200" cy="641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true">
                <a:solidFill>
                  <a:srgbClr val="1565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  </a:t>
            </a:r>
            <a:r>
              <a:rPr lang="en-US" sz="19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Increase allocation to consistently high composite-score schemes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0704" y="3939540"/>
            <a:ext cx="7315200" cy="641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true">
                <a:solidFill>
                  <a:srgbClr val="1565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  </a:t>
            </a:r>
            <a:r>
              <a:rPr lang="en-US" sz="19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Prefer mid-cap &amp; flexi-cap for alpha generation vs. benchmarks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60704" y="4725924"/>
            <a:ext cx="7315200" cy="641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true">
                <a:solidFill>
                  <a:srgbClr val="1565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  </a:t>
            </a:r>
            <a:r>
              <a:rPr lang="en-US" sz="19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Use correlation analysis for optimal diversification strategies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14183" y="2181863"/>
            <a:ext cx="8072123" cy="3463547"/>
            <a:chOff x="0" y="0"/>
            <a:chExt cx="10762831" cy="461806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62869" cy="4618101"/>
            </a:xfrm>
            <a:custGeom>
              <a:avLst/>
              <a:gdLst/>
              <a:ahLst/>
              <a:cxnLst/>
              <a:rect r="r" b="b" t="t" l="l"/>
              <a:pathLst>
                <a:path h="4618101" w="10762869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10517251" y="0"/>
                  </a:lnTo>
                  <a:cubicBezTo>
                    <a:pt x="10652887" y="0"/>
                    <a:pt x="10762869" y="109982"/>
                    <a:pt x="10762869" y="245618"/>
                  </a:cubicBezTo>
                  <a:lnTo>
                    <a:pt x="10762869" y="4372483"/>
                  </a:lnTo>
                  <a:cubicBezTo>
                    <a:pt x="10762869" y="4508119"/>
                    <a:pt x="10652887" y="4618101"/>
                    <a:pt x="10517251" y="4618101"/>
                  </a:cubicBezTo>
                  <a:lnTo>
                    <a:pt x="245618" y="4618101"/>
                  </a:lnTo>
                  <a:cubicBezTo>
                    <a:pt x="109982" y="4618101"/>
                    <a:pt x="0" y="4508119"/>
                    <a:pt x="0" y="4372483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656064" y="2377440"/>
            <a:ext cx="7132320" cy="640080"/>
            <a:chOff x="0" y="0"/>
            <a:chExt cx="950976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509760" cy="853440"/>
            </a:xfrm>
            <a:custGeom>
              <a:avLst/>
              <a:gdLst/>
              <a:ahLst/>
              <a:cxnLst/>
              <a:rect r="r" b="b" t="t" l="l"/>
              <a:pathLst>
                <a:path h="853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5097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7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🏢  Business Recommendations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747504" y="3153156"/>
            <a:ext cx="7315200" cy="641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true">
                <a:solidFill>
                  <a:srgbClr val="1A7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  </a:t>
            </a:r>
            <a:r>
              <a:rPr lang="en-US" sz="19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Expand investor acquisition campaigns in B30 cities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47504" y="3939540"/>
            <a:ext cx="7315200" cy="641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true">
                <a:solidFill>
                  <a:srgbClr val="1A7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  </a:t>
            </a:r>
            <a:r>
              <a:rPr lang="en-US" sz="19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Strengthen SIP programs targeting the 26–35 age demographic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47504" y="4725924"/>
            <a:ext cx="7315200" cy="641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true">
                <a:solidFill>
                  <a:srgbClr val="1A7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  </a:t>
            </a:r>
            <a:r>
              <a:rPr lang="en-US" sz="19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Develop tier-specific product offerings for metro vs. non-metro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27383" y="6022343"/>
            <a:ext cx="8072123" cy="3463547"/>
            <a:chOff x="0" y="0"/>
            <a:chExt cx="10762831" cy="461806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762869" cy="4618101"/>
            </a:xfrm>
            <a:custGeom>
              <a:avLst/>
              <a:gdLst/>
              <a:ahLst/>
              <a:cxnLst/>
              <a:rect r="r" b="b" t="t" l="l"/>
              <a:pathLst>
                <a:path h="4618101" w="10762869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10517251" y="0"/>
                  </a:lnTo>
                  <a:cubicBezTo>
                    <a:pt x="10652887" y="0"/>
                    <a:pt x="10762869" y="109982"/>
                    <a:pt x="10762869" y="245618"/>
                  </a:cubicBezTo>
                  <a:lnTo>
                    <a:pt x="10762869" y="4372483"/>
                  </a:lnTo>
                  <a:cubicBezTo>
                    <a:pt x="10762869" y="4508119"/>
                    <a:pt x="10652887" y="4618101"/>
                    <a:pt x="10517251" y="4618101"/>
                  </a:cubicBezTo>
                  <a:lnTo>
                    <a:pt x="245618" y="4618101"/>
                  </a:lnTo>
                  <a:cubicBezTo>
                    <a:pt x="109982" y="4618101"/>
                    <a:pt x="0" y="4508119"/>
                    <a:pt x="0" y="4372483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69264" y="6217920"/>
            <a:ext cx="7132320" cy="640080"/>
            <a:chOff x="0" y="0"/>
            <a:chExt cx="9509760" cy="8534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509760" cy="853440"/>
            </a:xfrm>
            <a:custGeom>
              <a:avLst/>
              <a:gdLst/>
              <a:ahLst/>
              <a:cxnLst/>
              <a:rect r="r" b="b" t="t" l="l"/>
              <a:pathLst>
                <a:path h="853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95097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8B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🛡  Risk Management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060704" y="6993636"/>
            <a:ext cx="7315200" cy="641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true">
                <a:solidFill>
                  <a:srgbClr val="8B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  </a:t>
            </a:r>
            <a:r>
              <a:rPr lang="en-US" sz="19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Monitor rolling Sharpe Ratios for early risk deterioration signals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60704" y="7780020"/>
            <a:ext cx="7315200" cy="641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true">
                <a:solidFill>
                  <a:srgbClr val="8B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  </a:t>
            </a:r>
            <a:r>
              <a:rPr lang="en-US" sz="19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 VaR/CVaR alerts for high-volatility scheme exposure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60704" y="8566404"/>
            <a:ext cx="7315200" cy="641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true">
                <a:solidFill>
                  <a:srgbClr val="8B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  </a:t>
            </a:r>
            <a:r>
              <a:rPr lang="en-US" sz="19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Reduce HHI concentration through systematic rebalancing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314183" y="6022343"/>
            <a:ext cx="8072123" cy="3463547"/>
            <a:chOff x="0" y="0"/>
            <a:chExt cx="10762831" cy="461806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762869" cy="4618101"/>
            </a:xfrm>
            <a:custGeom>
              <a:avLst/>
              <a:gdLst/>
              <a:ahLst/>
              <a:cxnLst/>
              <a:rect r="r" b="b" t="t" l="l"/>
              <a:pathLst>
                <a:path h="4618101" w="10762869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10517251" y="0"/>
                  </a:lnTo>
                  <a:cubicBezTo>
                    <a:pt x="10652887" y="0"/>
                    <a:pt x="10762869" y="109982"/>
                    <a:pt x="10762869" y="245618"/>
                  </a:cubicBezTo>
                  <a:lnTo>
                    <a:pt x="10762869" y="4372483"/>
                  </a:lnTo>
                  <a:cubicBezTo>
                    <a:pt x="10762869" y="4508119"/>
                    <a:pt x="10652887" y="4618101"/>
                    <a:pt x="10517251" y="4618101"/>
                  </a:cubicBezTo>
                  <a:lnTo>
                    <a:pt x="245618" y="4618101"/>
                  </a:lnTo>
                  <a:cubicBezTo>
                    <a:pt x="109982" y="4618101"/>
                    <a:pt x="0" y="4508119"/>
                    <a:pt x="0" y="4372483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656064" y="6217920"/>
            <a:ext cx="7132320" cy="640080"/>
            <a:chOff x="0" y="0"/>
            <a:chExt cx="9509760" cy="8534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509760" cy="853440"/>
            </a:xfrm>
            <a:custGeom>
              <a:avLst/>
              <a:gdLst/>
              <a:ahLst/>
              <a:cxnLst/>
              <a:rect r="r" b="b" t="t" l="l"/>
              <a:pathLst>
                <a:path h="853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95097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7B3A9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🔬  Analytics Strategy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747504" y="6993636"/>
            <a:ext cx="7315200" cy="641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true">
                <a:solidFill>
                  <a:srgbClr val="7B3A9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  </a:t>
            </a:r>
            <a:r>
              <a:rPr lang="en-US" sz="19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Incorporate predictive analytics for forward-looking fund scores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747504" y="7780020"/>
            <a:ext cx="7315200" cy="641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true">
                <a:solidFill>
                  <a:srgbClr val="7B3A9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  </a:t>
            </a:r>
            <a:r>
              <a:rPr lang="en-US" sz="19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Build automated anomaly detection in transaction data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747504" y="8566404"/>
            <a:ext cx="7315200" cy="641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true">
                <a:solidFill>
                  <a:srgbClr val="7B3A9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  </a:t>
            </a:r>
            <a:r>
              <a:rPr lang="en-US" sz="19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Integrate real-time NAV APIs for live monitoring dashboards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945643"/>
            <a:chOff x="0" y="0"/>
            <a:chExt cx="24417871" cy="25941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594229"/>
            </a:xfrm>
            <a:custGeom>
              <a:avLst/>
              <a:gdLst/>
              <a:ahLst/>
              <a:cxnLst/>
              <a:rect r="r" b="b" t="t" l="l"/>
              <a:pathLst>
                <a:path h="25942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0D3461"/>
            </a:solidFill>
            <a:ln w="25400" cap="sq">
              <a:solidFill>
                <a:srgbClr val="0D346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19456"/>
            <a:ext cx="14630400" cy="914400"/>
            <a:chOff x="0" y="0"/>
            <a:chExt cx="195072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1950720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Limitations &amp; Future Scope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133856"/>
            <a:ext cx="14630400" cy="512064"/>
            <a:chOff x="0" y="0"/>
            <a:chExt cx="1950720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0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9507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Current Boundaries &amp; Roadmap for Enhancement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40080" y="2103120"/>
            <a:ext cx="7680960" cy="694944"/>
            <a:chOff x="0" y="0"/>
            <a:chExt cx="10241280" cy="9265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41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241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0A5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Current Limitations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27383" y="2913383"/>
            <a:ext cx="7797803" cy="884939"/>
            <a:chOff x="0" y="0"/>
            <a:chExt cx="10397071" cy="117991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397110" cy="1179957"/>
            </a:xfrm>
            <a:custGeom>
              <a:avLst/>
              <a:gdLst/>
              <a:ahLst/>
              <a:cxnLst/>
              <a:rect r="r" b="b" t="t" l="l"/>
              <a:pathLst>
                <a:path h="1179957" w="10397110">
                  <a:moveTo>
                    <a:pt x="0" y="175768"/>
                  </a:moveTo>
                  <a:cubicBezTo>
                    <a:pt x="0" y="78740"/>
                    <a:pt x="78740" y="0"/>
                    <a:pt x="175768" y="0"/>
                  </a:cubicBezTo>
                  <a:lnTo>
                    <a:pt x="10221341" y="0"/>
                  </a:lnTo>
                  <a:cubicBezTo>
                    <a:pt x="10318369" y="0"/>
                    <a:pt x="10397110" y="78740"/>
                    <a:pt x="10397110" y="175768"/>
                  </a:cubicBezTo>
                  <a:lnTo>
                    <a:pt x="10397110" y="1004189"/>
                  </a:lnTo>
                  <a:cubicBezTo>
                    <a:pt x="10397110" y="1101217"/>
                    <a:pt x="10318369" y="1179957"/>
                    <a:pt x="10221341" y="1179957"/>
                  </a:cubicBezTo>
                  <a:lnTo>
                    <a:pt x="175768" y="1179957"/>
                  </a:lnTo>
                  <a:cubicBezTo>
                    <a:pt x="78740" y="1179957"/>
                    <a:pt x="0" y="1101217"/>
                    <a:pt x="0" y="1004189"/>
                  </a:cubicBezTo>
                  <a:close/>
                </a:path>
              </a:pathLst>
            </a:custGeom>
            <a:solidFill>
              <a:srgbClr val="4A1515"/>
            </a:solidFill>
            <a:ln w="25400" cap="sq">
              <a:solidFill>
                <a:srgbClr val="8B1A1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3054096"/>
            <a:ext cx="7132320" cy="621792"/>
            <a:chOff x="0" y="0"/>
            <a:chExt cx="9509760" cy="8290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09760" cy="829056"/>
            </a:xfrm>
            <a:custGeom>
              <a:avLst/>
              <a:gdLst/>
              <a:ahLst/>
              <a:cxnLst/>
              <a:rect r="r" b="b" t="t" l="l"/>
              <a:pathLst>
                <a:path h="829056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504" r="0" b="-17350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50976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E74C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  </a:t>
              </a: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Limited number of schemes in dataset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27383" y="3919223"/>
            <a:ext cx="7797803" cy="884939"/>
            <a:chOff x="0" y="0"/>
            <a:chExt cx="10397071" cy="117991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397110" cy="1179957"/>
            </a:xfrm>
            <a:custGeom>
              <a:avLst/>
              <a:gdLst/>
              <a:ahLst/>
              <a:cxnLst/>
              <a:rect r="r" b="b" t="t" l="l"/>
              <a:pathLst>
                <a:path h="1179957" w="10397110">
                  <a:moveTo>
                    <a:pt x="0" y="175768"/>
                  </a:moveTo>
                  <a:cubicBezTo>
                    <a:pt x="0" y="78740"/>
                    <a:pt x="78740" y="0"/>
                    <a:pt x="175768" y="0"/>
                  </a:cubicBezTo>
                  <a:lnTo>
                    <a:pt x="10221341" y="0"/>
                  </a:lnTo>
                  <a:cubicBezTo>
                    <a:pt x="10318369" y="0"/>
                    <a:pt x="10397110" y="78740"/>
                    <a:pt x="10397110" y="175768"/>
                  </a:cubicBezTo>
                  <a:lnTo>
                    <a:pt x="10397110" y="1004189"/>
                  </a:lnTo>
                  <a:cubicBezTo>
                    <a:pt x="10397110" y="1101217"/>
                    <a:pt x="10318369" y="1179957"/>
                    <a:pt x="10221341" y="1179957"/>
                  </a:cubicBezTo>
                  <a:lnTo>
                    <a:pt x="175768" y="1179957"/>
                  </a:lnTo>
                  <a:cubicBezTo>
                    <a:pt x="78740" y="1179957"/>
                    <a:pt x="0" y="1101217"/>
                    <a:pt x="0" y="1004189"/>
                  </a:cubicBezTo>
                  <a:close/>
                </a:path>
              </a:pathLst>
            </a:custGeom>
            <a:solidFill>
              <a:srgbClr val="4A1515"/>
            </a:solidFill>
            <a:ln w="25400" cap="sq">
              <a:solidFill>
                <a:srgbClr val="8B1A1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4059936"/>
            <a:ext cx="7132320" cy="621792"/>
            <a:chOff x="0" y="0"/>
            <a:chExt cx="9509760" cy="8290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509760" cy="829056"/>
            </a:xfrm>
            <a:custGeom>
              <a:avLst/>
              <a:gdLst/>
              <a:ahLst/>
              <a:cxnLst/>
              <a:rect r="r" b="b" t="t" l="l"/>
              <a:pathLst>
                <a:path h="829056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504" r="0" b="-17350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50976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E74C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  </a:t>
              </a: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Historical analysis may not guarantee future performance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27383" y="4925063"/>
            <a:ext cx="7797803" cy="884939"/>
            <a:chOff x="0" y="0"/>
            <a:chExt cx="10397071" cy="11799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397110" cy="1179957"/>
            </a:xfrm>
            <a:custGeom>
              <a:avLst/>
              <a:gdLst/>
              <a:ahLst/>
              <a:cxnLst/>
              <a:rect r="r" b="b" t="t" l="l"/>
              <a:pathLst>
                <a:path h="1179957" w="10397110">
                  <a:moveTo>
                    <a:pt x="0" y="175768"/>
                  </a:moveTo>
                  <a:cubicBezTo>
                    <a:pt x="0" y="78740"/>
                    <a:pt x="78740" y="0"/>
                    <a:pt x="175768" y="0"/>
                  </a:cubicBezTo>
                  <a:lnTo>
                    <a:pt x="10221341" y="0"/>
                  </a:lnTo>
                  <a:cubicBezTo>
                    <a:pt x="10318369" y="0"/>
                    <a:pt x="10397110" y="78740"/>
                    <a:pt x="10397110" y="175768"/>
                  </a:cubicBezTo>
                  <a:lnTo>
                    <a:pt x="10397110" y="1004189"/>
                  </a:lnTo>
                  <a:cubicBezTo>
                    <a:pt x="10397110" y="1101217"/>
                    <a:pt x="10318369" y="1179957"/>
                    <a:pt x="10221341" y="1179957"/>
                  </a:cubicBezTo>
                  <a:lnTo>
                    <a:pt x="175768" y="1179957"/>
                  </a:lnTo>
                  <a:cubicBezTo>
                    <a:pt x="78740" y="1179957"/>
                    <a:pt x="0" y="1101217"/>
                    <a:pt x="0" y="1004189"/>
                  </a:cubicBezTo>
                  <a:close/>
                </a:path>
              </a:pathLst>
            </a:custGeom>
            <a:solidFill>
              <a:srgbClr val="4A1515"/>
            </a:solidFill>
            <a:ln w="25400" cap="sq">
              <a:solidFill>
                <a:srgbClr val="8B1A1A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14400" y="5065776"/>
            <a:ext cx="7132320" cy="621792"/>
            <a:chOff x="0" y="0"/>
            <a:chExt cx="9509760" cy="82905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509760" cy="829056"/>
            </a:xfrm>
            <a:custGeom>
              <a:avLst/>
              <a:gdLst/>
              <a:ahLst/>
              <a:cxnLst/>
              <a:rect r="r" b="b" t="t" l="l"/>
              <a:pathLst>
                <a:path h="829056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504" r="0" b="-17350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50976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E74C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  </a:t>
              </a: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Synthetic assumptions used for certain investor demographics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27383" y="5930903"/>
            <a:ext cx="7797803" cy="884939"/>
            <a:chOff x="0" y="0"/>
            <a:chExt cx="10397071" cy="117991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397110" cy="1179957"/>
            </a:xfrm>
            <a:custGeom>
              <a:avLst/>
              <a:gdLst/>
              <a:ahLst/>
              <a:cxnLst/>
              <a:rect r="r" b="b" t="t" l="l"/>
              <a:pathLst>
                <a:path h="1179957" w="10397110">
                  <a:moveTo>
                    <a:pt x="0" y="175768"/>
                  </a:moveTo>
                  <a:cubicBezTo>
                    <a:pt x="0" y="78740"/>
                    <a:pt x="78740" y="0"/>
                    <a:pt x="175768" y="0"/>
                  </a:cubicBezTo>
                  <a:lnTo>
                    <a:pt x="10221341" y="0"/>
                  </a:lnTo>
                  <a:cubicBezTo>
                    <a:pt x="10318369" y="0"/>
                    <a:pt x="10397110" y="78740"/>
                    <a:pt x="10397110" y="175768"/>
                  </a:cubicBezTo>
                  <a:lnTo>
                    <a:pt x="10397110" y="1004189"/>
                  </a:lnTo>
                  <a:cubicBezTo>
                    <a:pt x="10397110" y="1101217"/>
                    <a:pt x="10318369" y="1179957"/>
                    <a:pt x="10221341" y="1179957"/>
                  </a:cubicBezTo>
                  <a:lnTo>
                    <a:pt x="175768" y="1179957"/>
                  </a:lnTo>
                  <a:cubicBezTo>
                    <a:pt x="78740" y="1179957"/>
                    <a:pt x="0" y="1101217"/>
                    <a:pt x="0" y="1004189"/>
                  </a:cubicBezTo>
                  <a:close/>
                </a:path>
              </a:pathLst>
            </a:custGeom>
            <a:solidFill>
              <a:srgbClr val="4A1515"/>
            </a:solidFill>
            <a:ln w="25400" cap="sq">
              <a:solidFill>
                <a:srgbClr val="8B1A1A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14400" y="6071616"/>
            <a:ext cx="7132320" cy="621792"/>
            <a:chOff x="0" y="0"/>
            <a:chExt cx="9509760" cy="8290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509760" cy="829056"/>
            </a:xfrm>
            <a:custGeom>
              <a:avLst/>
              <a:gdLst/>
              <a:ahLst/>
              <a:cxnLst/>
              <a:rect r="r" b="b" t="t" l="l"/>
              <a:pathLst>
                <a:path h="829056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504" r="0" b="-17350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950976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E74C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  </a:t>
              </a: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real-time NAV or live market data integration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27383" y="6936743"/>
            <a:ext cx="7797803" cy="884939"/>
            <a:chOff x="0" y="0"/>
            <a:chExt cx="10397071" cy="117991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397110" cy="1179957"/>
            </a:xfrm>
            <a:custGeom>
              <a:avLst/>
              <a:gdLst/>
              <a:ahLst/>
              <a:cxnLst/>
              <a:rect r="r" b="b" t="t" l="l"/>
              <a:pathLst>
                <a:path h="1179957" w="10397110">
                  <a:moveTo>
                    <a:pt x="0" y="175768"/>
                  </a:moveTo>
                  <a:cubicBezTo>
                    <a:pt x="0" y="78740"/>
                    <a:pt x="78740" y="0"/>
                    <a:pt x="175768" y="0"/>
                  </a:cubicBezTo>
                  <a:lnTo>
                    <a:pt x="10221341" y="0"/>
                  </a:lnTo>
                  <a:cubicBezTo>
                    <a:pt x="10318369" y="0"/>
                    <a:pt x="10397110" y="78740"/>
                    <a:pt x="10397110" y="175768"/>
                  </a:cubicBezTo>
                  <a:lnTo>
                    <a:pt x="10397110" y="1004189"/>
                  </a:lnTo>
                  <a:cubicBezTo>
                    <a:pt x="10397110" y="1101217"/>
                    <a:pt x="10318369" y="1179957"/>
                    <a:pt x="10221341" y="1179957"/>
                  </a:cubicBezTo>
                  <a:lnTo>
                    <a:pt x="175768" y="1179957"/>
                  </a:lnTo>
                  <a:cubicBezTo>
                    <a:pt x="78740" y="1179957"/>
                    <a:pt x="0" y="1101217"/>
                    <a:pt x="0" y="1004189"/>
                  </a:cubicBezTo>
                  <a:close/>
                </a:path>
              </a:pathLst>
            </a:custGeom>
            <a:solidFill>
              <a:srgbClr val="4A1515"/>
            </a:solidFill>
            <a:ln w="25400" cap="sq">
              <a:solidFill>
                <a:srgbClr val="8B1A1A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14400" y="7077456"/>
            <a:ext cx="7132320" cy="621792"/>
            <a:chOff x="0" y="0"/>
            <a:chExt cx="9509760" cy="82905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509760" cy="829056"/>
            </a:xfrm>
            <a:custGeom>
              <a:avLst/>
              <a:gdLst/>
              <a:ahLst/>
              <a:cxnLst/>
              <a:rect r="r" b="b" t="t" l="l"/>
              <a:pathLst>
                <a:path h="829056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504" r="0" b="-17350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950976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E74C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  </a:t>
              </a: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Missing comprehensive sector allocation data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27383" y="7942583"/>
            <a:ext cx="7797803" cy="884939"/>
            <a:chOff x="0" y="0"/>
            <a:chExt cx="10397071" cy="117991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397110" cy="1179957"/>
            </a:xfrm>
            <a:custGeom>
              <a:avLst/>
              <a:gdLst/>
              <a:ahLst/>
              <a:cxnLst/>
              <a:rect r="r" b="b" t="t" l="l"/>
              <a:pathLst>
                <a:path h="1179957" w="10397110">
                  <a:moveTo>
                    <a:pt x="0" y="175768"/>
                  </a:moveTo>
                  <a:cubicBezTo>
                    <a:pt x="0" y="78740"/>
                    <a:pt x="78740" y="0"/>
                    <a:pt x="175768" y="0"/>
                  </a:cubicBezTo>
                  <a:lnTo>
                    <a:pt x="10221341" y="0"/>
                  </a:lnTo>
                  <a:cubicBezTo>
                    <a:pt x="10318369" y="0"/>
                    <a:pt x="10397110" y="78740"/>
                    <a:pt x="10397110" y="175768"/>
                  </a:cubicBezTo>
                  <a:lnTo>
                    <a:pt x="10397110" y="1004189"/>
                  </a:lnTo>
                  <a:cubicBezTo>
                    <a:pt x="10397110" y="1101217"/>
                    <a:pt x="10318369" y="1179957"/>
                    <a:pt x="10221341" y="1179957"/>
                  </a:cubicBezTo>
                  <a:lnTo>
                    <a:pt x="175768" y="1179957"/>
                  </a:lnTo>
                  <a:cubicBezTo>
                    <a:pt x="78740" y="1179957"/>
                    <a:pt x="0" y="1101217"/>
                    <a:pt x="0" y="1004189"/>
                  </a:cubicBezTo>
                  <a:close/>
                </a:path>
              </a:pathLst>
            </a:custGeom>
            <a:solidFill>
              <a:srgbClr val="4A1515"/>
            </a:solidFill>
            <a:ln w="25400" cap="sq">
              <a:solidFill>
                <a:srgbClr val="8B1A1A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14400" y="8083296"/>
            <a:ext cx="7132320" cy="621792"/>
            <a:chOff x="0" y="0"/>
            <a:chExt cx="9509760" cy="8290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509760" cy="829056"/>
            </a:xfrm>
            <a:custGeom>
              <a:avLst/>
              <a:gdLst/>
              <a:ahLst/>
              <a:cxnLst/>
              <a:rect r="r" b="b" t="t" l="l"/>
              <a:pathLst>
                <a:path h="829056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504" r="0" b="-17350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950976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E74C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  </a:t>
              </a: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Market condition changes may affect metric validity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144000" y="2103120"/>
            <a:ext cx="8412480" cy="694944"/>
            <a:chOff x="0" y="0"/>
            <a:chExt cx="11216640" cy="92659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216640" cy="926592"/>
            </a:xfrm>
            <a:custGeom>
              <a:avLst/>
              <a:gdLst/>
              <a:ahLst/>
              <a:cxnLst/>
              <a:rect r="r" b="b" t="t" l="l"/>
              <a:pathLst>
                <a:path h="9265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871" r="0" b="-18587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112166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5B9BD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🚀  Future Scope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131303" y="2913383"/>
            <a:ext cx="8529323" cy="884939"/>
            <a:chOff x="0" y="0"/>
            <a:chExt cx="11372431" cy="117991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372469" cy="1179957"/>
            </a:xfrm>
            <a:custGeom>
              <a:avLst/>
              <a:gdLst/>
              <a:ahLst/>
              <a:cxnLst/>
              <a:rect r="r" b="b" t="t" l="l"/>
              <a:pathLst>
                <a:path h="1179957" w="11372469">
                  <a:moveTo>
                    <a:pt x="0" y="175768"/>
                  </a:moveTo>
                  <a:cubicBezTo>
                    <a:pt x="0" y="78740"/>
                    <a:pt x="78740" y="0"/>
                    <a:pt x="175768" y="0"/>
                  </a:cubicBezTo>
                  <a:lnTo>
                    <a:pt x="11196701" y="0"/>
                  </a:lnTo>
                  <a:cubicBezTo>
                    <a:pt x="11293729" y="0"/>
                    <a:pt x="11372469" y="78740"/>
                    <a:pt x="11372469" y="175768"/>
                  </a:cubicBezTo>
                  <a:lnTo>
                    <a:pt x="11372469" y="1004189"/>
                  </a:lnTo>
                  <a:cubicBezTo>
                    <a:pt x="11372469" y="1101217"/>
                    <a:pt x="11293729" y="1179957"/>
                    <a:pt x="11196701" y="1179957"/>
                  </a:cubicBezTo>
                  <a:lnTo>
                    <a:pt x="175768" y="1179957"/>
                  </a:lnTo>
                  <a:cubicBezTo>
                    <a:pt x="78740" y="1179957"/>
                    <a:pt x="0" y="1101217"/>
                    <a:pt x="0" y="1004189"/>
                  </a:cubicBezTo>
                  <a:close/>
                </a:path>
              </a:pathLst>
            </a:custGeom>
            <a:solidFill>
              <a:srgbClr val="132E4F"/>
            </a:solidFill>
            <a:ln w="25400" cap="sq">
              <a:solidFill>
                <a:srgbClr val="1A5276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418320" y="3054096"/>
            <a:ext cx="7955280" cy="621792"/>
            <a:chOff x="0" y="0"/>
            <a:chExt cx="10607040" cy="82905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607040" cy="829056"/>
            </a:xfrm>
            <a:custGeom>
              <a:avLst/>
              <a:gdLst/>
              <a:ahLst/>
              <a:cxnLst/>
              <a:rect r="r" b="b" t="t" l="l"/>
              <a:pathLst>
                <a:path h="829056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293" r="0" b="-19929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06070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B8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 </a:t>
              </a: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ML Recommendation Engine  </a:t>
              </a: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Personalized fund suggestions using collaborative filtering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131303" y="3919223"/>
            <a:ext cx="8529323" cy="884939"/>
            <a:chOff x="0" y="0"/>
            <a:chExt cx="11372431" cy="117991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372469" cy="1179957"/>
            </a:xfrm>
            <a:custGeom>
              <a:avLst/>
              <a:gdLst/>
              <a:ahLst/>
              <a:cxnLst/>
              <a:rect r="r" b="b" t="t" l="l"/>
              <a:pathLst>
                <a:path h="1179957" w="11372469">
                  <a:moveTo>
                    <a:pt x="0" y="175768"/>
                  </a:moveTo>
                  <a:cubicBezTo>
                    <a:pt x="0" y="78740"/>
                    <a:pt x="78740" y="0"/>
                    <a:pt x="175768" y="0"/>
                  </a:cubicBezTo>
                  <a:lnTo>
                    <a:pt x="11196701" y="0"/>
                  </a:lnTo>
                  <a:cubicBezTo>
                    <a:pt x="11293729" y="0"/>
                    <a:pt x="11372469" y="78740"/>
                    <a:pt x="11372469" y="175768"/>
                  </a:cubicBezTo>
                  <a:lnTo>
                    <a:pt x="11372469" y="1004189"/>
                  </a:lnTo>
                  <a:cubicBezTo>
                    <a:pt x="11372469" y="1101217"/>
                    <a:pt x="11293729" y="1179957"/>
                    <a:pt x="11196701" y="1179957"/>
                  </a:cubicBezTo>
                  <a:lnTo>
                    <a:pt x="175768" y="1179957"/>
                  </a:lnTo>
                  <a:cubicBezTo>
                    <a:pt x="78740" y="1179957"/>
                    <a:pt x="0" y="1101217"/>
                    <a:pt x="0" y="1004189"/>
                  </a:cubicBezTo>
                  <a:close/>
                </a:path>
              </a:pathLst>
            </a:custGeom>
            <a:solidFill>
              <a:srgbClr val="132E4F"/>
            </a:solidFill>
            <a:ln w="25400" cap="sq">
              <a:solidFill>
                <a:srgbClr val="1A5276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9418320" y="4059936"/>
            <a:ext cx="7955280" cy="621792"/>
            <a:chOff x="0" y="0"/>
            <a:chExt cx="10607040" cy="82905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607040" cy="829056"/>
            </a:xfrm>
            <a:custGeom>
              <a:avLst/>
              <a:gdLst/>
              <a:ahLst/>
              <a:cxnLst/>
              <a:rect r="r" b="b" t="t" l="l"/>
              <a:pathLst>
                <a:path h="829056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293" r="0" b="-19929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06070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B8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 </a:t>
              </a: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Real-Time NAV API  </a:t>
              </a: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data integration with AMFI / BSE NAV feeds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131303" y="4925063"/>
            <a:ext cx="8529323" cy="884939"/>
            <a:chOff x="0" y="0"/>
            <a:chExt cx="11372431" cy="117991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372469" cy="1179957"/>
            </a:xfrm>
            <a:custGeom>
              <a:avLst/>
              <a:gdLst/>
              <a:ahLst/>
              <a:cxnLst/>
              <a:rect r="r" b="b" t="t" l="l"/>
              <a:pathLst>
                <a:path h="1179957" w="11372469">
                  <a:moveTo>
                    <a:pt x="0" y="175768"/>
                  </a:moveTo>
                  <a:cubicBezTo>
                    <a:pt x="0" y="78740"/>
                    <a:pt x="78740" y="0"/>
                    <a:pt x="175768" y="0"/>
                  </a:cubicBezTo>
                  <a:lnTo>
                    <a:pt x="11196701" y="0"/>
                  </a:lnTo>
                  <a:cubicBezTo>
                    <a:pt x="11293729" y="0"/>
                    <a:pt x="11372469" y="78740"/>
                    <a:pt x="11372469" y="175768"/>
                  </a:cubicBezTo>
                  <a:lnTo>
                    <a:pt x="11372469" y="1004189"/>
                  </a:lnTo>
                  <a:cubicBezTo>
                    <a:pt x="11372469" y="1101217"/>
                    <a:pt x="11293729" y="1179957"/>
                    <a:pt x="11196701" y="1179957"/>
                  </a:cubicBezTo>
                  <a:lnTo>
                    <a:pt x="175768" y="1179957"/>
                  </a:lnTo>
                  <a:cubicBezTo>
                    <a:pt x="78740" y="1179957"/>
                    <a:pt x="0" y="1101217"/>
                    <a:pt x="0" y="1004189"/>
                  </a:cubicBezTo>
                  <a:close/>
                </a:path>
              </a:pathLst>
            </a:custGeom>
            <a:solidFill>
              <a:srgbClr val="132E4F"/>
            </a:solidFill>
            <a:ln w="25400" cap="sq">
              <a:solidFill>
                <a:srgbClr val="1A5276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9418320" y="5065776"/>
            <a:ext cx="7955280" cy="621792"/>
            <a:chOff x="0" y="0"/>
            <a:chExt cx="10607040" cy="82905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607040" cy="829056"/>
            </a:xfrm>
            <a:custGeom>
              <a:avLst/>
              <a:gdLst/>
              <a:ahLst/>
              <a:cxnLst/>
              <a:rect r="r" b="b" t="t" l="l"/>
              <a:pathLst>
                <a:path h="829056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293" r="0" b="-199293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06070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B8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 </a:t>
              </a: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Portfolio Optimization  </a:t>
              </a: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Markowitz mean-variance optimization models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131303" y="5930903"/>
            <a:ext cx="8529323" cy="884939"/>
            <a:chOff x="0" y="0"/>
            <a:chExt cx="11372431" cy="117991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372469" cy="1179957"/>
            </a:xfrm>
            <a:custGeom>
              <a:avLst/>
              <a:gdLst/>
              <a:ahLst/>
              <a:cxnLst/>
              <a:rect r="r" b="b" t="t" l="l"/>
              <a:pathLst>
                <a:path h="1179957" w="11372469">
                  <a:moveTo>
                    <a:pt x="0" y="175768"/>
                  </a:moveTo>
                  <a:cubicBezTo>
                    <a:pt x="0" y="78740"/>
                    <a:pt x="78740" y="0"/>
                    <a:pt x="175768" y="0"/>
                  </a:cubicBezTo>
                  <a:lnTo>
                    <a:pt x="11196701" y="0"/>
                  </a:lnTo>
                  <a:cubicBezTo>
                    <a:pt x="11293729" y="0"/>
                    <a:pt x="11372469" y="78740"/>
                    <a:pt x="11372469" y="175768"/>
                  </a:cubicBezTo>
                  <a:lnTo>
                    <a:pt x="11372469" y="1004189"/>
                  </a:lnTo>
                  <a:cubicBezTo>
                    <a:pt x="11372469" y="1101217"/>
                    <a:pt x="11293729" y="1179957"/>
                    <a:pt x="11196701" y="1179957"/>
                  </a:cubicBezTo>
                  <a:lnTo>
                    <a:pt x="175768" y="1179957"/>
                  </a:lnTo>
                  <a:cubicBezTo>
                    <a:pt x="78740" y="1179957"/>
                    <a:pt x="0" y="1101217"/>
                    <a:pt x="0" y="1004189"/>
                  </a:cubicBezTo>
                  <a:close/>
                </a:path>
              </a:pathLst>
            </a:custGeom>
            <a:solidFill>
              <a:srgbClr val="132E4F"/>
            </a:solidFill>
            <a:ln w="25400" cap="sq">
              <a:solidFill>
                <a:srgbClr val="1A5276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9418320" y="6071616"/>
            <a:ext cx="7955280" cy="621792"/>
            <a:chOff x="0" y="0"/>
            <a:chExt cx="10607040" cy="82905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607040" cy="829056"/>
            </a:xfrm>
            <a:custGeom>
              <a:avLst/>
              <a:gdLst/>
              <a:ahLst/>
              <a:cxnLst/>
              <a:rect r="r" b="b" t="t" l="l"/>
              <a:pathLst>
                <a:path h="829056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293" r="0" b="-199293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06070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B8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 </a:t>
              </a: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Investor Segmentation ML  </a:t>
              </a: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Clustering for targeted engagement campaigns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131303" y="6936743"/>
            <a:ext cx="8529323" cy="884939"/>
            <a:chOff x="0" y="0"/>
            <a:chExt cx="11372431" cy="117991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372469" cy="1179957"/>
            </a:xfrm>
            <a:custGeom>
              <a:avLst/>
              <a:gdLst/>
              <a:ahLst/>
              <a:cxnLst/>
              <a:rect r="r" b="b" t="t" l="l"/>
              <a:pathLst>
                <a:path h="1179957" w="11372469">
                  <a:moveTo>
                    <a:pt x="0" y="175768"/>
                  </a:moveTo>
                  <a:cubicBezTo>
                    <a:pt x="0" y="78740"/>
                    <a:pt x="78740" y="0"/>
                    <a:pt x="175768" y="0"/>
                  </a:cubicBezTo>
                  <a:lnTo>
                    <a:pt x="11196701" y="0"/>
                  </a:lnTo>
                  <a:cubicBezTo>
                    <a:pt x="11293729" y="0"/>
                    <a:pt x="11372469" y="78740"/>
                    <a:pt x="11372469" y="175768"/>
                  </a:cubicBezTo>
                  <a:lnTo>
                    <a:pt x="11372469" y="1004189"/>
                  </a:lnTo>
                  <a:cubicBezTo>
                    <a:pt x="11372469" y="1101217"/>
                    <a:pt x="11293729" y="1179957"/>
                    <a:pt x="11196701" y="1179957"/>
                  </a:cubicBezTo>
                  <a:lnTo>
                    <a:pt x="175768" y="1179957"/>
                  </a:lnTo>
                  <a:cubicBezTo>
                    <a:pt x="78740" y="1179957"/>
                    <a:pt x="0" y="1101217"/>
                    <a:pt x="0" y="1004189"/>
                  </a:cubicBezTo>
                  <a:close/>
                </a:path>
              </a:pathLst>
            </a:custGeom>
            <a:solidFill>
              <a:srgbClr val="132E4F"/>
            </a:solidFill>
            <a:ln w="25400" cap="sq">
              <a:solidFill>
                <a:srgbClr val="1A5276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9418320" y="7077456"/>
            <a:ext cx="7955280" cy="621792"/>
            <a:chOff x="0" y="0"/>
            <a:chExt cx="10607040" cy="82905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607040" cy="829056"/>
            </a:xfrm>
            <a:custGeom>
              <a:avLst/>
              <a:gdLst/>
              <a:ahLst/>
              <a:cxnLst/>
              <a:rect r="r" b="b" t="t" l="l"/>
              <a:pathLst>
                <a:path h="829056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293" r="0" b="-19929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06070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B8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 </a:t>
              </a: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Sentiment Analysis  </a:t>
              </a: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NLP on fund manager commentaries &amp; news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131303" y="7942583"/>
            <a:ext cx="8529323" cy="884939"/>
            <a:chOff x="0" y="0"/>
            <a:chExt cx="11372431" cy="117991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1372469" cy="1179957"/>
            </a:xfrm>
            <a:custGeom>
              <a:avLst/>
              <a:gdLst/>
              <a:ahLst/>
              <a:cxnLst/>
              <a:rect r="r" b="b" t="t" l="l"/>
              <a:pathLst>
                <a:path h="1179957" w="11372469">
                  <a:moveTo>
                    <a:pt x="0" y="175768"/>
                  </a:moveTo>
                  <a:cubicBezTo>
                    <a:pt x="0" y="78740"/>
                    <a:pt x="78740" y="0"/>
                    <a:pt x="175768" y="0"/>
                  </a:cubicBezTo>
                  <a:lnTo>
                    <a:pt x="11196701" y="0"/>
                  </a:lnTo>
                  <a:cubicBezTo>
                    <a:pt x="11293729" y="0"/>
                    <a:pt x="11372469" y="78740"/>
                    <a:pt x="11372469" y="175768"/>
                  </a:cubicBezTo>
                  <a:lnTo>
                    <a:pt x="11372469" y="1004189"/>
                  </a:lnTo>
                  <a:cubicBezTo>
                    <a:pt x="11372469" y="1101217"/>
                    <a:pt x="11293729" y="1179957"/>
                    <a:pt x="11196701" y="1179957"/>
                  </a:cubicBezTo>
                  <a:lnTo>
                    <a:pt x="175768" y="1179957"/>
                  </a:lnTo>
                  <a:cubicBezTo>
                    <a:pt x="78740" y="1179957"/>
                    <a:pt x="0" y="1101217"/>
                    <a:pt x="0" y="1004189"/>
                  </a:cubicBezTo>
                  <a:close/>
                </a:path>
              </a:pathLst>
            </a:custGeom>
            <a:solidFill>
              <a:srgbClr val="132E4F"/>
            </a:solidFill>
            <a:ln w="25400" cap="sq">
              <a:solidFill>
                <a:srgbClr val="1A5276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9418320" y="8083296"/>
            <a:ext cx="7955280" cy="621792"/>
            <a:chOff x="0" y="0"/>
            <a:chExt cx="10607040" cy="8290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607040" cy="829056"/>
            </a:xfrm>
            <a:custGeom>
              <a:avLst/>
              <a:gdLst/>
              <a:ahLst/>
              <a:cxnLst/>
              <a:rect r="r" b="b" t="t" l="l"/>
              <a:pathLst>
                <a:path h="829056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293" r="0" b="-199293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106070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B8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 </a:t>
              </a: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Predictive Risk Modeling  </a:t>
              </a: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AI-driven drawdown &amp; volatility forecasting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945643"/>
            <a:chOff x="0" y="0"/>
            <a:chExt cx="24417871" cy="25941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594229"/>
            </a:xfrm>
            <a:custGeom>
              <a:avLst/>
              <a:gdLst/>
              <a:ahLst/>
              <a:cxnLst/>
              <a:rect r="r" b="b" t="t" l="l"/>
              <a:pathLst>
                <a:path h="25942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0A2540"/>
            </a:solidFill>
            <a:ln w="25400" cap="sq">
              <a:solidFill>
                <a:srgbClr val="0A254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19456"/>
            <a:ext cx="16459200" cy="914400"/>
            <a:chOff x="0" y="0"/>
            <a:chExt cx="219456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194560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Impact &amp; Skills Demonstrated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133856"/>
            <a:ext cx="14630400" cy="512064"/>
            <a:chOff x="0" y="0"/>
            <a:chExt cx="1950720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0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9507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Technical Competencies &amp; Business Value Delivered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40080" y="2103120"/>
            <a:ext cx="10058400" cy="640080"/>
            <a:chOff x="0" y="0"/>
            <a:chExt cx="13411200" cy="853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411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34112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Technical Stack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0080" y="2834640"/>
            <a:ext cx="4023360" cy="512064"/>
            <a:chOff x="0" y="0"/>
            <a:chExt cx="5364480" cy="6827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364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980687" y="2931671"/>
            <a:ext cx="6974843" cy="391163"/>
            <a:chOff x="0" y="0"/>
            <a:chExt cx="9299791" cy="5215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299829" cy="521589"/>
            </a:xfrm>
            <a:custGeom>
              <a:avLst/>
              <a:gdLst/>
              <a:ahLst/>
              <a:cxnLst/>
              <a:rect r="r" b="b" t="t" l="l"/>
              <a:pathLst>
                <a:path h="521589" w="9299829">
                  <a:moveTo>
                    <a:pt x="0" y="130429"/>
                  </a:moveTo>
                  <a:cubicBezTo>
                    <a:pt x="0" y="58420"/>
                    <a:pt x="58420" y="0"/>
                    <a:pt x="130429" y="0"/>
                  </a:cubicBezTo>
                  <a:lnTo>
                    <a:pt x="9169400" y="0"/>
                  </a:lnTo>
                  <a:cubicBezTo>
                    <a:pt x="9241409" y="0"/>
                    <a:pt x="9299829" y="58420"/>
                    <a:pt x="9299829" y="130429"/>
                  </a:cubicBezTo>
                  <a:lnTo>
                    <a:pt x="9299829" y="391160"/>
                  </a:lnTo>
                  <a:cubicBezTo>
                    <a:pt x="9299829" y="463169"/>
                    <a:pt x="9241409" y="521589"/>
                    <a:pt x="9169400" y="521589"/>
                  </a:cubicBezTo>
                  <a:lnTo>
                    <a:pt x="130429" y="521589"/>
                  </a:lnTo>
                  <a:cubicBezTo>
                    <a:pt x="58420" y="521589"/>
                    <a:pt x="0" y="463169"/>
                    <a:pt x="0" y="391160"/>
                  </a:cubicBezTo>
                  <a:close/>
                </a:path>
              </a:pathLst>
            </a:custGeom>
            <a:solidFill>
              <a:srgbClr val="E8EEF4"/>
            </a:solidFill>
            <a:ln w="25400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2980687" y="2931671"/>
            <a:ext cx="6279899" cy="391163"/>
            <a:chOff x="0" y="0"/>
            <a:chExt cx="8373199" cy="5215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373237" cy="521589"/>
            </a:xfrm>
            <a:custGeom>
              <a:avLst/>
              <a:gdLst/>
              <a:ahLst/>
              <a:cxnLst/>
              <a:rect r="r" b="b" t="t" l="l"/>
              <a:pathLst>
                <a:path h="521589" w="8373237">
                  <a:moveTo>
                    <a:pt x="0" y="130429"/>
                  </a:moveTo>
                  <a:cubicBezTo>
                    <a:pt x="0" y="58420"/>
                    <a:pt x="58420" y="0"/>
                    <a:pt x="130429" y="0"/>
                  </a:cubicBezTo>
                  <a:lnTo>
                    <a:pt x="8242808" y="0"/>
                  </a:lnTo>
                  <a:cubicBezTo>
                    <a:pt x="8314817" y="0"/>
                    <a:pt x="8373237" y="58420"/>
                    <a:pt x="8373237" y="130429"/>
                  </a:cubicBezTo>
                  <a:lnTo>
                    <a:pt x="8373237" y="391160"/>
                  </a:lnTo>
                  <a:cubicBezTo>
                    <a:pt x="8373237" y="463169"/>
                    <a:pt x="8314817" y="521589"/>
                    <a:pt x="8242808" y="521589"/>
                  </a:cubicBezTo>
                  <a:lnTo>
                    <a:pt x="130429" y="521589"/>
                  </a:lnTo>
                  <a:cubicBezTo>
                    <a:pt x="58420" y="521589"/>
                    <a:pt x="0" y="463169"/>
                    <a:pt x="0" y="391160"/>
                  </a:cubicBezTo>
                  <a:close/>
                </a:path>
              </a:pathLst>
            </a:custGeom>
            <a:solidFill>
              <a:srgbClr val="1565C0"/>
            </a:solidFill>
            <a:ln w="254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887200" y="2834640"/>
            <a:ext cx="1097280" cy="512064"/>
            <a:chOff x="0" y="0"/>
            <a:chExt cx="146304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3040" cy="682752"/>
            </a:xfrm>
            <a:custGeom>
              <a:avLst/>
              <a:gdLst/>
              <a:ahLst/>
              <a:cxnLst/>
              <a:rect r="r" b="b" t="t" l="l"/>
              <a:pathLst>
                <a:path h="68275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4630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90%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0080" y="3785616"/>
            <a:ext cx="4023360" cy="512064"/>
            <a:chOff x="0" y="0"/>
            <a:chExt cx="5364480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364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Pandas / NumPy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980687" y="3882647"/>
            <a:ext cx="6974843" cy="391163"/>
            <a:chOff x="0" y="0"/>
            <a:chExt cx="9299791" cy="52155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99829" cy="521589"/>
            </a:xfrm>
            <a:custGeom>
              <a:avLst/>
              <a:gdLst/>
              <a:ahLst/>
              <a:cxnLst/>
              <a:rect r="r" b="b" t="t" l="l"/>
              <a:pathLst>
                <a:path h="521589" w="9299829">
                  <a:moveTo>
                    <a:pt x="0" y="130429"/>
                  </a:moveTo>
                  <a:cubicBezTo>
                    <a:pt x="0" y="58420"/>
                    <a:pt x="58420" y="0"/>
                    <a:pt x="130429" y="0"/>
                  </a:cubicBezTo>
                  <a:lnTo>
                    <a:pt x="9169400" y="0"/>
                  </a:lnTo>
                  <a:cubicBezTo>
                    <a:pt x="9241409" y="0"/>
                    <a:pt x="9299829" y="58420"/>
                    <a:pt x="9299829" y="130429"/>
                  </a:cubicBezTo>
                  <a:lnTo>
                    <a:pt x="9299829" y="391160"/>
                  </a:lnTo>
                  <a:cubicBezTo>
                    <a:pt x="9299829" y="463169"/>
                    <a:pt x="9241409" y="521589"/>
                    <a:pt x="9169400" y="521589"/>
                  </a:cubicBezTo>
                  <a:lnTo>
                    <a:pt x="130429" y="521589"/>
                  </a:lnTo>
                  <a:cubicBezTo>
                    <a:pt x="58420" y="521589"/>
                    <a:pt x="0" y="463169"/>
                    <a:pt x="0" y="391160"/>
                  </a:cubicBezTo>
                  <a:close/>
                </a:path>
              </a:pathLst>
            </a:custGeom>
            <a:solidFill>
              <a:srgbClr val="E8EEF4"/>
            </a:solidFill>
            <a:ln w="25400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2980687" y="3882647"/>
            <a:ext cx="6140910" cy="391163"/>
            <a:chOff x="0" y="0"/>
            <a:chExt cx="8187880" cy="52155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87944" cy="521589"/>
            </a:xfrm>
            <a:custGeom>
              <a:avLst/>
              <a:gdLst/>
              <a:ahLst/>
              <a:cxnLst/>
              <a:rect r="r" b="b" t="t" l="l"/>
              <a:pathLst>
                <a:path h="521589" w="8187944">
                  <a:moveTo>
                    <a:pt x="0" y="130429"/>
                  </a:moveTo>
                  <a:cubicBezTo>
                    <a:pt x="0" y="58420"/>
                    <a:pt x="58420" y="0"/>
                    <a:pt x="130429" y="0"/>
                  </a:cubicBezTo>
                  <a:lnTo>
                    <a:pt x="8057515" y="0"/>
                  </a:lnTo>
                  <a:cubicBezTo>
                    <a:pt x="8129524" y="0"/>
                    <a:pt x="8187944" y="58420"/>
                    <a:pt x="8187944" y="130429"/>
                  </a:cubicBezTo>
                  <a:lnTo>
                    <a:pt x="8187944" y="391160"/>
                  </a:lnTo>
                  <a:cubicBezTo>
                    <a:pt x="8187944" y="463169"/>
                    <a:pt x="8129524" y="521589"/>
                    <a:pt x="8057515" y="521589"/>
                  </a:cubicBezTo>
                  <a:lnTo>
                    <a:pt x="130429" y="521589"/>
                  </a:lnTo>
                  <a:cubicBezTo>
                    <a:pt x="58420" y="521589"/>
                    <a:pt x="0" y="463169"/>
                    <a:pt x="0" y="391160"/>
                  </a:cubicBezTo>
                  <a:close/>
                </a:path>
              </a:pathLst>
            </a:custGeom>
            <a:solidFill>
              <a:srgbClr val="1A7A4A"/>
            </a:solidFill>
            <a:ln w="25400" cap="sq">
              <a:solidFill>
                <a:srgbClr val="1A7A4A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887200" y="3785616"/>
            <a:ext cx="1097280" cy="512064"/>
            <a:chOff x="0" y="0"/>
            <a:chExt cx="1463040" cy="6827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63040" cy="682752"/>
            </a:xfrm>
            <a:custGeom>
              <a:avLst/>
              <a:gdLst/>
              <a:ahLst/>
              <a:cxnLst/>
              <a:rect r="r" b="b" t="t" l="l"/>
              <a:pathLst>
                <a:path h="68275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4630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A7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88%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40080" y="4736592"/>
            <a:ext cx="4023360" cy="512064"/>
            <a:chOff x="0" y="0"/>
            <a:chExt cx="5364480" cy="68275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5364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SQLite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980687" y="4833623"/>
            <a:ext cx="6974843" cy="391163"/>
            <a:chOff x="0" y="0"/>
            <a:chExt cx="9299791" cy="52155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299829" cy="521589"/>
            </a:xfrm>
            <a:custGeom>
              <a:avLst/>
              <a:gdLst/>
              <a:ahLst/>
              <a:cxnLst/>
              <a:rect r="r" b="b" t="t" l="l"/>
              <a:pathLst>
                <a:path h="521589" w="9299829">
                  <a:moveTo>
                    <a:pt x="0" y="130429"/>
                  </a:moveTo>
                  <a:cubicBezTo>
                    <a:pt x="0" y="58420"/>
                    <a:pt x="58420" y="0"/>
                    <a:pt x="130429" y="0"/>
                  </a:cubicBezTo>
                  <a:lnTo>
                    <a:pt x="9169400" y="0"/>
                  </a:lnTo>
                  <a:cubicBezTo>
                    <a:pt x="9241409" y="0"/>
                    <a:pt x="9299829" y="58420"/>
                    <a:pt x="9299829" y="130429"/>
                  </a:cubicBezTo>
                  <a:lnTo>
                    <a:pt x="9299829" y="391160"/>
                  </a:lnTo>
                  <a:cubicBezTo>
                    <a:pt x="9299829" y="463169"/>
                    <a:pt x="9241409" y="521589"/>
                    <a:pt x="9169400" y="521589"/>
                  </a:cubicBezTo>
                  <a:lnTo>
                    <a:pt x="130429" y="521589"/>
                  </a:lnTo>
                  <a:cubicBezTo>
                    <a:pt x="58420" y="521589"/>
                    <a:pt x="0" y="463169"/>
                    <a:pt x="0" y="391160"/>
                  </a:cubicBezTo>
                  <a:close/>
                </a:path>
              </a:pathLst>
            </a:custGeom>
            <a:solidFill>
              <a:srgbClr val="E8EEF4"/>
            </a:solidFill>
            <a:ln w="25400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2980687" y="4833623"/>
            <a:ext cx="5723944" cy="391163"/>
            <a:chOff x="0" y="0"/>
            <a:chExt cx="7631925" cy="52155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31938" cy="521589"/>
            </a:xfrm>
            <a:custGeom>
              <a:avLst/>
              <a:gdLst/>
              <a:ahLst/>
              <a:cxnLst/>
              <a:rect r="r" b="b" t="t" l="l"/>
              <a:pathLst>
                <a:path h="521589" w="7631938">
                  <a:moveTo>
                    <a:pt x="0" y="130429"/>
                  </a:moveTo>
                  <a:cubicBezTo>
                    <a:pt x="0" y="58420"/>
                    <a:pt x="58420" y="0"/>
                    <a:pt x="130429" y="0"/>
                  </a:cubicBezTo>
                  <a:lnTo>
                    <a:pt x="7501509" y="0"/>
                  </a:lnTo>
                  <a:cubicBezTo>
                    <a:pt x="7573518" y="0"/>
                    <a:pt x="7631938" y="58420"/>
                    <a:pt x="7631938" y="130429"/>
                  </a:cubicBezTo>
                  <a:lnTo>
                    <a:pt x="7631938" y="391160"/>
                  </a:lnTo>
                  <a:cubicBezTo>
                    <a:pt x="7631938" y="463169"/>
                    <a:pt x="7573518" y="521589"/>
                    <a:pt x="7501509" y="521589"/>
                  </a:cubicBezTo>
                  <a:lnTo>
                    <a:pt x="130429" y="521589"/>
                  </a:lnTo>
                  <a:cubicBezTo>
                    <a:pt x="58420" y="521589"/>
                    <a:pt x="0" y="463169"/>
                    <a:pt x="0" y="391160"/>
                  </a:cubicBezTo>
                  <a:close/>
                </a:path>
              </a:pathLst>
            </a:custGeom>
            <a:solidFill>
              <a:srgbClr val="7B3A9E"/>
            </a:solidFill>
            <a:ln w="25400" cap="sq">
              <a:solidFill>
                <a:srgbClr val="7B3A9E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1887200" y="4736592"/>
            <a:ext cx="1097280" cy="512064"/>
            <a:chOff x="0" y="0"/>
            <a:chExt cx="1463040" cy="6827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63040" cy="682752"/>
            </a:xfrm>
            <a:custGeom>
              <a:avLst/>
              <a:gdLst/>
              <a:ahLst/>
              <a:cxnLst/>
              <a:rect r="r" b="b" t="t" l="l"/>
              <a:pathLst>
                <a:path h="68275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4630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7B3A9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82%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40080" y="5687568"/>
            <a:ext cx="4023360" cy="512064"/>
            <a:chOff x="0" y="0"/>
            <a:chExt cx="5364480" cy="68275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5364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Tableu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980687" y="5784599"/>
            <a:ext cx="6974843" cy="391163"/>
            <a:chOff x="0" y="0"/>
            <a:chExt cx="9299791" cy="52155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299829" cy="521589"/>
            </a:xfrm>
            <a:custGeom>
              <a:avLst/>
              <a:gdLst/>
              <a:ahLst/>
              <a:cxnLst/>
              <a:rect r="r" b="b" t="t" l="l"/>
              <a:pathLst>
                <a:path h="521589" w="9299829">
                  <a:moveTo>
                    <a:pt x="0" y="130429"/>
                  </a:moveTo>
                  <a:cubicBezTo>
                    <a:pt x="0" y="58420"/>
                    <a:pt x="58420" y="0"/>
                    <a:pt x="130429" y="0"/>
                  </a:cubicBezTo>
                  <a:lnTo>
                    <a:pt x="9169400" y="0"/>
                  </a:lnTo>
                  <a:cubicBezTo>
                    <a:pt x="9241409" y="0"/>
                    <a:pt x="9299829" y="58420"/>
                    <a:pt x="9299829" y="130429"/>
                  </a:cubicBezTo>
                  <a:lnTo>
                    <a:pt x="9299829" y="391160"/>
                  </a:lnTo>
                  <a:cubicBezTo>
                    <a:pt x="9299829" y="463169"/>
                    <a:pt x="9241409" y="521589"/>
                    <a:pt x="9169400" y="521589"/>
                  </a:cubicBezTo>
                  <a:lnTo>
                    <a:pt x="130429" y="521589"/>
                  </a:lnTo>
                  <a:cubicBezTo>
                    <a:pt x="58420" y="521589"/>
                    <a:pt x="0" y="463169"/>
                    <a:pt x="0" y="391160"/>
                  </a:cubicBezTo>
                  <a:close/>
                </a:path>
              </a:pathLst>
            </a:custGeom>
            <a:solidFill>
              <a:srgbClr val="E8EEF4"/>
            </a:solidFill>
            <a:ln w="25400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2980687" y="5784599"/>
            <a:ext cx="5932427" cy="391163"/>
            <a:chOff x="0" y="0"/>
            <a:chExt cx="7909903" cy="52155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909941" cy="521589"/>
            </a:xfrm>
            <a:custGeom>
              <a:avLst/>
              <a:gdLst/>
              <a:ahLst/>
              <a:cxnLst/>
              <a:rect r="r" b="b" t="t" l="l"/>
              <a:pathLst>
                <a:path h="521589" w="7909941">
                  <a:moveTo>
                    <a:pt x="0" y="130429"/>
                  </a:moveTo>
                  <a:cubicBezTo>
                    <a:pt x="0" y="58420"/>
                    <a:pt x="58420" y="0"/>
                    <a:pt x="130429" y="0"/>
                  </a:cubicBezTo>
                  <a:lnTo>
                    <a:pt x="7779512" y="0"/>
                  </a:lnTo>
                  <a:cubicBezTo>
                    <a:pt x="7851521" y="0"/>
                    <a:pt x="7909941" y="58420"/>
                    <a:pt x="7909941" y="130429"/>
                  </a:cubicBezTo>
                  <a:lnTo>
                    <a:pt x="7909941" y="391160"/>
                  </a:lnTo>
                  <a:cubicBezTo>
                    <a:pt x="7909941" y="463169"/>
                    <a:pt x="7851521" y="521589"/>
                    <a:pt x="7779512" y="521589"/>
                  </a:cubicBezTo>
                  <a:lnTo>
                    <a:pt x="130429" y="521589"/>
                  </a:lnTo>
                  <a:cubicBezTo>
                    <a:pt x="58420" y="521589"/>
                    <a:pt x="0" y="463169"/>
                    <a:pt x="0" y="391160"/>
                  </a:cubicBezTo>
                  <a:close/>
                </a:path>
              </a:pathLst>
            </a:custGeom>
            <a:solidFill>
              <a:srgbClr val="B7770D"/>
            </a:solidFill>
            <a:ln w="25400" cap="sq">
              <a:solidFill>
                <a:srgbClr val="B7770D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1887200" y="5687568"/>
            <a:ext cx="1097280" cy="512064"/>
            <a:chOff x="0" y="0"/>
            <a:chExt cx="1463040" cy="6827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463040" cy="682752"/>
            </a:xfrm>
            <a:custGeom>
              <a:avLst/>
              <a:gdLst/>
              <a:ahLst/>
              <a:cxnLst/>
              <a:rect r="r" b="b" t="t" l="l"/>
              <a:pathLst>
                <a:path h="68275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4630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B7770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85%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40080" y="6638544"/>
            <a:ext cx="4023360" cy="512064"/>
            <a:chOff x="0" y="0"/>
            <a:chExt cx="5364480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5364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Financial Analytics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980687" y="6735575"/>
            <a:ext cx="6974843" cy="391163"/>
            <a:chOff x="0" y="0"/>
            <a:chExt cx="9299791" cy="52155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299829" cy="521589"/>
            </a:xfrm>
            <a:custGeom>
              <a:avLst/>
              <a:gdLst/>
              <a:ahLst/>
              <a:cxnLst/>
              <a:rect r="r" b="b" t="t" l="l"/>
              <a:pathLst>
                <a:path h="521589" w="9299829">
                  <a:moveTo>
                    <a:pt x="0" y="130429"/>
                  </a:moveTo>
                  <a:cubicBezTo>
                    <a:pt x="0" y="58420"/>
                    <a:pt x="58420" y="0"/>
                    <a:pt x="130429" y="0"/>
                  </a:cubicBezTo>
                  <a:lnTo>
                    <a:pt x="9169400" y="0"/>
                  </a:lnTo>
                  <a:cubicBezTo>
                    <a:pt x="9241409" y="0"/>
                    <a:pt x="9299829" y="58420"/>
                    <a:pt x="9299829" y="130429"/>
                  </a:cubicBezTo>
                  <a:lnTo>
                    <a:pt x="9299829" y="391160"/>
                  </a:lnTo>
                  <a:cubicBezTo>
                    <a:pt x="9299829" y="463169"/>
                    <a:pt x="9241409" y="521589"/>
                    <a:pt x="9169400" y="521589"/>
                  </a:cubicBezTo>
                  <a:lnTo>
                    <a:pt x="130429" y="521589"/>
                  </a:lnTo>
                  <a:cubicBezTo>
                    <a:pt x="58420" y="521589"/>
                    <a:pt x="0" y="463169"/>
                    <a:pt x="0" y="391160"/>
                  </a:cubicBezTo>
                  <a:close/>
                </a:path>
              </a:pathLst>
            </a:custGeom>
            <a:solidFill>
              <a:srgbClr val="E8EEF4"/>
            </a:solidFill>
            <a:ln w="25400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2980687" y="6735575"/>
            <a:ext cx="6140910" cy="391163"/>
            <a:chOff x="0" y="0"/>
            <a:chExt cx="8187880" cy="52155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87944" cy="521589"/>
            </a:xfrm>
            <a:custGeom>
              <a:avLst/>
              <a:gdLst/>
              <a:ahLst/>
              <a:cxnLst/>
              <a:rect r="r" b="b" t="t" l="l"/>
              <a:pathLst>
                <a:path h="521589" w="8187944">
                  <a:moveTo>
                    <a:pt x="0" y="130429"/>
                  </a:moveTo>
                  <a:cubicBezTo>
                    <a:pt x="0" y="58420"/>
                    <a:pt x="58420" y="0"/>
                    <a:pt x="130429" y="0"/>
                  </a:cubicBezTo>
                  <a:lnTo>
                    <a:pt x="8057515" y="0"/>
                  </a:lnTo>
                  <a:cubicBezTo>
                    <a:pt x="8129524" y="0"/>
                    <a:pt x="8187944" y="58420"/>
                    <a:pt x="8187944" y="130429"/>
                  </a:cubicBezTo>
                  <a:lnTo>
                    <a:pt x="8187944" y="391160"/>
                  </a:lnTo>
                  <a:cubicBezTo>
                    <a:pt x="8187944" y="463169"/>
                    <a:pt x="8129524" y="521589"/>
                    <a:pt x="8057515" y="521589"/>
                  </a:cubicBezTo>
                  <a:lnTo>
                    <a:pt x="130429" y="521589"/>
                  </a:lnTo>
                  <a:cubicBezTo>
                    <a:pt x="58420" y="521589"/>
                    <a:pt x="0" y="463169"/>
                    <a:pt x="0" y="391160"/>
                  </a:cubicBezTo>
                  <a:close/>
                </a:path>
              </a:pathLst>
            </a:custGeom>
            <a:solidFill>
              <a:srgbClr val="8B1A1A"/>
            </a:solidFill>
            <a:ln w="25400" cap="sq">
              <a:solidFill>
                <a:srgbClr val="8B1A1A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1887200" y="6638544"/>
            <a:ext cx="1097280" cy="512064"/>
            <a:chOff x="0" y="0"/>
            <a:chExt cx="1463040" cy="68275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463040" cy="682752"/>
            </a:xfrm>
            <a:custGeom>
              <a:avLst/>
              <a:gdLst/>
              <a:ahLst/>
              <a:cxnLst/>
              <a:rect r="r" b="b" t="t" l="l"/>
              <a:pathLst>
                <a:path h="68275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4630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8B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88%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40080" y="7589520"/>
            <a:ext cx="4023360" cy="512064"/>
            <a:chOff x="0" y="0"/>
            <a:chExt cx="5364480" cy="68275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5364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Visualization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2980687" y="7686551"/>
            <a:ext cx="6974843" cy="391163"/>
            <a:chOff x="0" y="0"/>
            <a:chExt cx="9299791" cy="52155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299829" cy="521589"/>
            </a:xfrm>
            <a:custGeom>
              <a:avLst/>
              <a:gdLst/>
              <a:ahLst/>
              <a:cxnLst/>
              <a:rect r="r" b="b" t="t" l="l"/>
              <a:pathLst>
                <a:path h="521589" w="9299829">
                  <a:moveTo>
                    <a:pt x="0" y="130429"/>
                  </a:moveTo>
                  <a:cubicBezTo>
                    <a:pt x="0" y="58420"/>
                    <a:pt x="58420" y="0"/>
                    <a:pt x="130429" y="0"/>
                  </a:cubicBezTo>
                  <a:lnTo>
                    <a:pt x="9169400" y="0"/>
                  </a:lnTo>
                  <a:cubicBezTo>
                    <a:pt x="9241409" y="0"/>
                    <a:pt x="9299829" y="58420"/>
                    <a:pt x="9299829" y="130429"/>
                  </a:cubicBezTo>
                  <a:lnTo>
                    <a:pt x="9299829" y="391160"/>
                  </a:lnTo>
                  <a:cubicBezTo>
                    <a:pt x="9299829" y="463169"/>
                    <a:pt x="9241409" y="521589"/>
                    <a:pt x="9169400" y="521589"/>
                  </a:cubicBezTo>
                  <a:lnTo>
                    <a:pt x="130429" y="521589"/>
                  </a:lnTo>
                  <a:cubicBezTo>
                    <a:pt x="58420" y="521589"/>
                    <a:pt x="0" y="463169"/>
                    <a:pt x="0" y="391160"/>
                  </a:cubicBezTo>
                  <a:close/>
                </a:path>
              </a:pathLst>
            </a:custGeom>
            <a:solidFill>
              <a:srgbClr val="E8EEF4"/>
            </a:solidFill>
            <a:ln w="25400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2980687" y="7686551"/>
            <a:ext cx="5862933" cy="391163"/>
            <a:chOff x="0" y="0"/>
            <a:chExt cx="7817244" cy="52155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817358" cy="521589"/>
            </a:xfrm>
            <a:custGeom>
              <a:avLst/>
              <a:gdLst/>
              <a:ahLst/>
              <a:cxnLst/>
              <a:rect r="r" b="b" t="t" l="l"/>
              <a:pathLst>
                <a:path h="521589" w="7817358">
                  <a:moveTo>
                    <a:pt x="0" y="130429"/>
                  </a:moveTo>
                  <a:cubicBezTo>
                    <a:pt x="0" y="58420"/>
                    <a:pt x="58420" y="0"/>
                    <a:pt x="130429" y="0"/>
                  </a:cubicBezTo>
                  <a:lnTo>
                    <a:pt x="7686929" y="0"/>
                  </a:lnTo>
                  <a:cubicBezTo>
                    <a:pt x="7758938" y="0"/>
                    <a:pt x="7817358" y="58420"/>
                    <a:pt x="7817358" y="130429"/>
                  </a:cubicBezTo>
                  <a:lnTo>
                    <a:pt x="7817358" y="391160"/>
                  </a:lnTo>
                  <a:cubicBezTo>
                    <a:pt x="7817358" y="463169"/>
                    <a:pt x="7758938" y="521589"/>
                    <a:pt x="7686929" y="521589"/>
                  </a:cubicBezTo>
                  <a:lnTo>
                    <a:pt x="130429" y="521589"/>
                  </a:lnTo>
                  <a:cubicBezTo>
                    <a:pt x="58420" y="521589"/>
                    <a:pt x="0" y="463169"/>
                    <a:pt x="0" y="391160"/>
                  </a:cubicBezTo>
                  <a:close/>
                </a:path>
              </a:pathLst>
            </a:custGeom>
            <a:solidFill>
              <a:srgbClr val="1A5276"/>
            </a:solidFill>
            <a:ln w="25400" cap="sq">
              <a:solidFill>
                <a:srgbClr val="1A5276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1887200" y="7589520"/>
            <a:ext cx="1097280" cy="512064"/>
            <a:chOff x="0" y="0"/>
            <a:chExt cx="1463040" cy="68275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463040" cy="682752"/>
            </a:xfrm>
            <a:custGeom>
              <a:avLst/>
              <a:gdLst/>
              <a:ahLst/>
              <a:cxnLst/>
              <a:rect r="r" b="b" t="t" l="l"/>
              <a:pathLst>
                <a:path h="68275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4630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A52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84%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692640" y="2103120"/>
            <a:ext cx="8046720" cy="640080"/>
            <a:chOff x="0" y="0"/>
            <a:chExt cx="10728960" cy="8534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7289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57150"/>
              <a:ext cx="107289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Business Value Delivered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679943" y="2821943"/>
            <a:ext cx="7980683" cy="1525019"/>
            <a:chOff x="0" y="0"/>
            <a:chExt cx="10640911" cy="2033359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640949" cy="2033397"/>
            </a:xfrm>
            <a:custGeom>
              <a:avLst/>
              <a:gdLst/>
              <a:ahLst/>
              <a:cxnLst/>
              <a:rect r="r" b="b" t="t" l="l"/>
              <a:pathLst>
                <a:path h="2033397" w="10640949">
                  <a:moveTo>
                    <a:pt x="0" y="198374"/>
                  </a:moveTo>
                  <a:cubicBezTo>
                    <a:pt x="0" y="88773"/>
                    <a:pt x="88773" y="0"/>
                    <a:pt x="198374" y="0"/>
                  </a:cubicBezTo>
                  <a:lnTo>
                    <a:pt x="10442575" y="0"/>
                  </a:lnTo>
                  <a:cubicBezTo>
                    <a:pt x="10552176" y="0"/>
                    <a:pt x="10640949" y="88773"/>
                    <a:pt x="10640949" y="198374"/>
                  </a:cubicBezTo>
                  <a:lnTo>
                    <a:pt x="10640949" y="1835023"/>
                  </a:lnTo>
                  <a:cubicBezTo>
                    <a:pt x="10640949" y="1944624"/>
                    <a:pt x="10552176" y="2033397"/>
                    <a:pt x="10442575" y="2033397"/>
                  </a:cubicBezTo>
                  <a:lnTo>
                    <a:pt x="198374" y="2033397"/>
                  </a:lnTo>
                  <a:cubicBezTo>
                    <a:pt x="88773" y="2033397"/>
                    <a:pt x="0" y="1944497"/>
                    <a:pt x="0" y="1835023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9784080" y="2926080"/>
            <a:ext cx="914400" cy="822960"/>
            <a:chOff x="0" y="0"/>
            <a:chExt cx="1219200" cy="10972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21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473" t="0" r="-65473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66675"/>
              <a:ext cx="12192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🎯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753344" y="2944368"/>
            <a:ext cx="6583680" cy="548640"/>
            <a:chOff x="0" y="0"/>
            <a:chExt cx="8778240" cy="73152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8778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Evidence-Based Investing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753344" y="3493008"/>
            <a:ext cx="6583680" cy="694944"/>
            <a:chOff x="0" y="0"/>
            <a:chExt cx="8778240" cy="92659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778240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595" r="0" b="-134595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8778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Multi-metric framework enables objective, data-driven fund selection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679943" y="4559303"/>
            <a:ext cx="7980683" cy="1525019"/>
            <a:chOff x="0" y="0"/>
            <a:chExt cx="10640911" cy="2033359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640949" cy="2033397"/>
            </a:xfrm>
            <a:custGeom>
              <a:avLst/>
              <a:gdLst/>
              <a:ahLst/>
              <a:cxnLst/>
              <a:rect r="r" b="b" t="t" l="l"/>
              <a:pathLst>
                <a:path h="2033397" w="10640949">
                  <a:moveTo>
                    <a:pt x="0" y="198374"/>
                  </a:moveTo>
                  <a:cubicBezTo>
                    <a:pt x="0" y="88773"/>
                    <a:pt x="88773" y="0"/>
                    <a:pt x="198374" y="0"/>
                  </a:cubicBezTo>
                  <a:lnTo>
                    <a:pt x="10442575" y="0"/>
                  </a:lnTo>
                  <a:cubicBezTo>
                    <a:pt x="10552176" y="0"/>
                    <a:pt x="10640949" y="88773"/>
                    <a:pt x="10640949" y="198374"/>
                  </a:cubicBezTo>
                  <a:lnTo>
                    <a:pt x="10640949" y="1835023"/>
                  </a:lnTo>
                  <a:cubicBezTo>
                    <a:pt x="10640949" y="1944624"/>
                    <a:pt x="10552176" y="2033397"/>
                    <a:pt x="10442575" y="2033397"/>
                  </a:cubicBezTo>
                  <a:lnTo>
                    <a:pt x="198374" y="2033397"/>
                  </a:lnTo>
                  <a:cubicBezTo>
                    <a:pt x="88773" y="2033397"/>
                    <a:pt x="0" y="1944497"/>
                    <a:pt x="0" y="1835023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9784080" y="4663440"/>
            <a:ext cx="914400" cy="822960"/>
            <a:chOff x="0" y="0"/>
            <a:chExt cx="1219200" cy="10972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21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473" t="0" r="-65473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66675"/>
              <a:ext cx="12192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📊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753344" y="4681728"/>
            <a:ext cx="6583680" cy="548640"/>
            <a:chOff x="0" y="0"/>
            <a:chExt cx="8778240" cy="7315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8778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360° Analytics Coverage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753344" y="5230368"/>
            <a:ext cx="6583680" cy="694944"/>
            <a:chOff x="0" y="0"/>
            <a:chExt cx="8778240" cy="92659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8778240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595" r="0" b="-13459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8778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Performance + Risk + Investor + Market in a unified platform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679943" y="6296663"/>
            <a:ext cx="7980683" cy="1525019"/>
            <a:chOff x="0" y="0"/>
            <a:chExt cx="10640911" cy="2033359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640949" cy="2033397"/>
            </a:xfrm>
            <a:custGeom>
              <a:avLst/>
              <a:gdLst/>
              <a:ahLst/>
              <a:cxnLst/>
              <a:rect r="r" b="b" t="t" l="l"/>
              <a:pathLst>
                <a:path h="2033397" w="10640949">
                  <a:moveTo>
                    <a:pt x="0" y="198374"/>
                  </a:moveTo>
                  <a:cubicBezTo>
                    <a:pt x="0" y="88773"/>
                    <a:pt x="88773" y="0"/>
                    <a:pt x="198374" y="0"/>
                  </a:cubicBezTo>
                  <a:lnTo>
                    <a:pt x="10442575" y="0"/>
                  </a:lnTo>
                  <a:cubicBezTo>
                    <a:pt x="10552176" y="0"/>
                    <a:pt x="10640949" y="88773"/>
                    <a:pt x="10640949" y="198374"/>
                  </a:cubicBezTo>
                  <a:lnTo>
                    <a:pt x="10640949" y="1835023"/>
                  </a:lnTo>
                  <a:cubicBezTo>
                    <a:pt x="10640949" y="1944624"/>
                    <a:pt x="10552176" y="2033397"/>
                    <a:pt x="10442575" y="2033397"/>
                  </a:cubicBezTo>
                  <a:lnTo>
                    <a:pt x="198374" y="2033397"/>
                  </a:lnTo>
                  <a:cubicBezTo>
                    <a:pt x="88773" y="2033397"/>
                    <a:pt x="0" y="1944497"/>
                    <a:pt x="0" y="1835023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9784080" y="6400800"/>
            <a:ext cx="914400" cy="822960"/>
            <a:chOff x="0" y="0"/>
            <a:chExt cx="1219200" cy="109728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21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473" t="0" r="-65473" b="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66675"/>
              <a:ext cx="12192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🔍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0753344" y="6419088"/>
            <a:ext cx="6583680" cy="548640"/>
            <a:chOff x="0" y="0"/>
            <a:chExt cx="8778240" cy="73152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8778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Investor Transparency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0753344" y="6967728"/>
            <a:ext cx="6583680" cy="694944"/>
            <a:chOff x="0" y="0"/>
            <a:chExt cx="8778240" cy="92659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8778240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595" r="0" b="-134595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8778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Clear visibility into fund behaviors and risk profiles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9679943" y="8034023"/>
            <a:ext cx="7980683" cy="1525019"/>
            <a:chOff x="0" y="0"/>
            <a:chExt cx="10640911" cy="2033359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0640949" cy="2033397"/>
            </a:xfrm>
            <a:custGeom>
              <a:avLst/>
              <a:gdLst/>
              <a:ahLst/>
              <a:cxnLst/>
              <a:rect r="r" b="b" t="t" l="l"/>
              <a:pathLst>
                <a:path h="2033397" w="10640949">
                  <a:moveTo>
                    <a:pt x="0" y="198374"/>
                  </a:moveTo>
                  <a:cubicBezTo>
                    <a:pt x="0" y="88773"/>
                    <a:pt x="88773" y="0"/>
                    <a:pt x="198374" y="0"/>
                  </a:cubicBezTo>
                  <a:lnTo>
                    <a:pt x="10442575" y="0"/>
                  </a:lnTo>
                  <a:cubicBezTo>
                    <a:pt x="10552176" y="0"/>
                    <a:pt x="10640949" y="88773"/>
                    <a:pt x="10640949" y="198374"/>
                  </a:cubicBezTo>
                  <a:lnTo>
                    <a:pt x="10640949" y="1835023"/>
                  </a:lnTo>
                  <a:cubicBezTo>
                    <a:pt x="10640949" y="1944624"/>
                    <a:pt x="10552176" y="2033397"/>
                    <a:pt x="10442575" y="2033397"/>
                  </a:cubicBezTo>
                  <a:lnTo>
                    <a:pt x="198374" y="2033397"/>
                  </a:lnTo>
                  <a:cubicBezTo>
                    <a:pt x="88773" y="2033397"/>
                    <a:pt x="0" y="1944497"/>
                    <a:pt x="0" y="1835023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111" id="111"/>
          <p:cNvGrpSpPr/>
          <p:nvPr/>
        </p:nvGrpSpPr>
        <p:grpSpPr>
          <a:xfrm rot="0">
            <a:off x="9784080" y="8138160"/>
            <a:ext cx="914400" cy="822960"/>
            <a:chOff x="0" y="0"/>
            <a:chExt cx="1219200" cy="109728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21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473" t="0" r="-65473" b="0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66675"/>
              <a:ext cx="12192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0753344" y="8156448"/>
            <a:ext cx="6583680" cy="548640"/>
            <a:chOff x="0" y="0"/>
            <a:chExt cx="8778240" cy="73152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8778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Scalable Foundation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0753344" y="8705088"/>
            <a:ext cx="6583680" cy="694944"/>
            <a:chOff x="0" y="0"/>
            <a:chExt cx="8778240" cy="926592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8778240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595" r="0" b="-134595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8778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Architecture supports future ML, real-time APIs, and AI advisors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55897" y="6388103"/>
            <a:ext cx="8255003" cy="8255003"/>
            <a:chOff x="0" y="0"/>
            <a:chExt cx="11006671" cy="11006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06709" cy="11006709"/>
            </a:xfrm>
            <a:custGeom>
              <a:avLst/>
              <a:gdLst/>
              <a:ahLst/>
              <a:cxnLst/>
              <a:rect r="r" b="b" t="t" l="l"/>
              <a:pathLst>
                <a:path h="11006709" w="11006709">
                  <a:moveTo>
                    <a:pt x="0" y="5503291"/>
                  </a:moveTo>
                  <a:cubicBezTo>
                    <a:pt x="0" y="2463927"/>
                    <a:pt x="2463927" y="0"/>
                    <a:pt x="5503291" y="0"/>
                  </a:cubicBezTo>
                  <a:cubicBezTo>
                    <a:pt x="8542655" y="0"/>
                    <a:pt x="11006709" y="2463927"/>
                    <a:pt x="11006709" y="5503291"/>
                  </a:cubicBezTo>
                  <a:cubicBezTo>
                    <a:pt x="11006709" y="8542655"/>
                    <a:pt x="8542782" y="11006709"/>
                    <a:pt x="5503291" y="11006709"/>
                  </a:cubicBezTo>
                  <a:cubicBezTo>
                    <a:pt x="2463800" y="11006709"/>
                    <a:pt x="0" y="8542782"/>
                    <a:pt x="0" y="5503291"/>
                  </a:cubicBezTo>
                  <a:close/>
                </a:path>
              </a:pathLst>
            </a:custGeom>
            <a:solidFill>
              <a:srgbClr val="0D3461"/>
            </a:solidFill>
            <a:ln w="25400" cap="sq">
              <a:solidFill>
                <a:srgbClr val="0D346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4617703" y="-2207257"/>
            <a:ext cx="6426203" cy="6426203"/>
            <a:chOff x="0" y="0"/>
            <a:chExt cx="8568271" cy="85682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568309" cy="8568309"/>
            </a:xfrm>
            <a:custGeom>
              <a:avLst/>
              <a:gdLst/>
              <a:ahLst/>
              <a:cxnLst/>
              <a:rect r="r" b="b" t="t" l="l"/>
              <a:pathLst>
                <a:path h="8568309" w="8568309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cubicBezTo>
                    <a:pt x="6650101" y="0"/>
                    <a:pt x="8568309" y="1918081"/>
                    <a:pt x="8568309" y="4284091"/>
                  </a:cubicBezTo>
                  <a:cubicBezTo>
                    <a:pt x="8568309" y="6650101"/>
                    <a:pt x="6650228" y="8568309"/>
                    <a:pt x="4284091" y="8568309"/>
                  </a:cubicBezTo>
                  <a:cubicBezTo>
                    <a:pt x="1917953" y="8568309"/>
                    <a:pt x="0" y="6650228"/>
                    <a:pt x="0" y="4284091"/>
                  </a:cubicBezTo>
                  <a:close/>
                </a:path>
              </a:pathLst>
            </a:custGeom>
            <a:solidFill>
              <a:srgbClr val="0D3461"/>
            </a:solidFill>
            <a:ln w="25400" cap="sq">
              <a:solidFill>
                <a:srgbClr val="0D3461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1280160"/>
            <a:ext cx="16459200" cy="2011680"/>
            <a:chOff x="0" y="0"/>
            <a:chExt cx="21945600" cy="26822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423" r="0" b="-10942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09550"/>
              <a:ext cx="21945600" cy="2891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480"/>
                </a:lnSpc>
              </a:pPr>
              <a:r>
                <a:rPr lang="en-US" b="true" sz="10400" spc="3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388103" y="3370583"/>
            <a:ext cx="5511803" cy="116843"/>
            <a:chOff x="0" y="0"/>
            <a:chExt cx="7349071" cy="1557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49109" cy="155829"/>
            </a:xfrm>
            <a:custGeom>
              <a:avLst/>
              <a:gdLst/>
              <a:ahLst/>
              <a:cxnLst/>
              <a:rect r="r" b="b" t="t" l="l"/>
              <a:pathLst>
                <a:path h="155829" w="7349109">
                  <a:moveTo>
                    <a:pt x="0" y="0"/>
                  </a:moveTo>
                  <a:lnTo>
                    <a:pt x="7349109" y="0"/>
                  </a:lnTo>
                  <a:lnTo>
                    <a:pt x="7349109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F0A500"/>
            </a:solidFill>
            <a:ln w="25400" cap="sq">
              <a:solidFill>
                <a:srgbClr val="F0A50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4572000" y="4218946"/>
            <a:ext cx="9144000" cy="585216"/>
            <a:chOff x="0" y="0"/>
            <a:chExt cx="12192000" cy="7802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2000" cy="780288"/>
            </a:xfrm>
            <a:custGeom>
              <a:avLst/>
              <a:gdLst/>
              <a:ahLst/>
              <a:cxnLst/>
              <a:rect r="r" b="b" t="t" l="l"/>
              <a:pathLst>
                <a:path h="780288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53" r="0" b="-25445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1920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Name:  Nischay Aggarwal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572000" y="4913890"/>
            <a:ext cx="9144000" cy="585216"/>
            <a:chOff x="0" y="0"/>
            <a:chExt cx="12192000" cy="7802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92000" cy="780288"/>
            </a:xfrm>
            <a:custGeom>
              <a:avLst/>
              <a:gdLst/>
              <a:ahLst/>
              <a:cxnLst/>
              <a:rect r="r" b="b" t="t" l="l"/>
              <a:pathLst>
                <a:path h="780288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53" r="0" b="-25445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1920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Institution:  </a:t>
              </a: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Delhi Technological University (DTU) · Class of 2027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572000" y="5608834"/>
            <a:ext cx="9144000" cy="585216"/>
            <a:chOff x="0" y="0"/>
            <a:chExt cx="12192000" cy="7802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192000" cy="780288"/>
            </a:xfrm>
            <a:custGeom>
              <a:avLst/>
              <a:gdLst/>
              <a:ahLst/>
              <a:cxnLst/>
              <a:rect r="r" b="b" t="t" l="l"/>
              <a:pathLst>
                <a:path h="780288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53" r="0" b="-25445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1920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Organization:  </a:t>
              </a: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Bluestock Fintech · Capstone Project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01703" y="9314183"/>
            <a:ext cx="2585723" cy="574043"/>
            <a:chOff x="0" y="0"/>
            <a:chExt cx="3447631" cy="7653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47542" cy="765302"/>
            </a:xfrm>
            <a:custGeom>
              <a:avLst/>
              <a:gdLst/>
              <a:ahLst/>
              <a:cxnLst/>
              <a:rect r="r" b="b" t="t" l="l"/>
              <a:pathLst>
                <a:path h="765302" w="3447542">
                  <a:moveTo>
                    <a:pt x="0" y="127508"/>
                  </a:moveTo>
                  <a:cubicBezTo>
                    <a:pt x="0" y="57150"/>
                    <a:pt x="57150" y="0"/>
                    <a:pt x="127508" y="0"/>
                  </a:cubicBezTo>
                  <a:lnTo>
                    <a:pt x="3320034" y="0"/>
                  </a:lnTo>
                  <a:cubicBezTo>
                    <a:pt x="3390519" y="0"/>
                    <a:pt x="3447542" y="57150"/>
                    <a:pt x="3447542" y="127508"/>
                  </a:cubicBezTo>
                  <a:lnTo>
                    <a:pt x="3447542" y="637794"/>
                  </a:lnTo>
                  <a:cubicBezTo>
                    <a:pt x="3447542" y="708279"/>
                    <a:pt x="3390392" y="765302"/>
                    <a:pt x="3320034" y="765302"/>
                  </a:cubicBezTo>
                  <a:lnTo>
                    <a:pt x="127508" y="765302"/>
                  </a:lnTo>
                  <a:cubicBezTo>
                    <a:pt x="57150" y="765429"/>
                    <a:pt x="0" y="708279"/>
                    <a:pt x="0" y="637794"/>
                  </a:cubicBezTo>
                  <a:close/>
                </a:path>
              </a:pathLst>
            </a:custGeom>
            <a:solidFill>
              <a:srgbClr val="0F2D4A"/>
            </a:solidFill>
            <a:ln w="25400" cap="sq">
              <a:solidFill>
                <a:srgbClr val="1A5276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14400" y="9326880"/>
            <a:ext cx="2560320" cy="548640"/>
            <a:chOff x="0" y="0"/>
            <a:chExt cx="341376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34137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736343" y="9314183"/>
            <a:ext cx="2585723" cy="574043"/>
            <a:chOff x="0" y="0"/>
            <a:chExt cx="3447631" cy="76539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47542" cy="765302"/>
            </a:xfrm>
            <a:custGeom>
              <a:avLst/>
              <a:gdLst/>
              <a:ahLst/>
              <a:cxnLst/>
              <a:rect r="r" b="b" t="t" l="l"/>
              <a:pathLst>
                <a:path h="765302" w="3447542">
                  <a:moveTo>
                    <a:pt x="0" y="127508"/>
                  </a:moveTo>
                  <a:cubicBezTo>
                    <a:pt x="0" y="57150"/>
                    <a:pt x="57150" y="0"/>
                    <a:pt x="127508" y="0"/>
                  </a:cubicBezTo>
                  <a:lnTo>
                    <a:pt x="3320034" y="0"/>
                  </a:lnTo>
                  <a:cubicBezTo>
                    <a:pt x="3390519" y="0"/>
                    <a:pt x="3447542" y="57150"/>
                    <a:pt x="3447542" y="127508"/>
                  </a:cubicBezTo>
                  <a:lnTo>
                    <a:pt x="3447542" y="637794"/>
                  </a:lnTo>
                  <a:cubicBezTo>
                    <a:pt x="3447542" y="708279"/>
                    <a:pt x="3390392" y="765302"/>
                    <a:pt x="3320034" y="765302"/>
                  </a:cubicBezTo>
                  <a:lnTo>
                    <a:pt x="127508" y="765302"/>
                  </a:lnTo>
                  <a:cubicBezTo>
                    <a:pt x="57150" y="765429"/>
                    <a:pt x="0" y="708279"/>
                    <a:pt x="0" y="637794"/>
                  </a:cubicBezTo>
                  <a:close/>
                </a:path>
              </a:pathLst>
            </a:custGeom>
            <a:solidFill>
              <a:srgbClr val="0F2D4A"/>
            </a:solidFill>
            <a:ln w="25400" cap="sq">
              <a:solidFill>
                <a:srgbClr val="1A5276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3749040" y="9326880"/>
            <a:ext cx="2560320" cy="548640"/>
            <a:chOff x="0" y="0"/>
            <a:chExt cx="341376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34137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Pandas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570983" y="9314183"/>
            <a:ext cx="2585723" cy="574043"/>
            <a:chOff x="0" y="0"/>
            <a:chExt cx="3447631" cy="76539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47542" cy="765302"/>
            </a:xfrm>
            <a:custGeom>
              <a:avLst/>
              <a:gdLst/>
              <a:ahLst/>
              <a:cxnLst/>
              <a:rect r="r" b="b" t="t" l="l"/>
              <a:pathLst>
                <a:path h="765302" w="3447542">
                  <a:moveTo>
                    <a:pt x="0" y="127508"/>
                  </a:moveTo>
                  <a:cubicBezTo>
                    <a:pt x="0" y="57150"/>
                    <a:pt x="57150" y="0"/>
                    <a:pt x="127508" y="0"/>
                  </a:cubicBezTo>
                  <a:lnTo>
                    <a:pt x="3320034" y="0"/>
                  </a:lnTo>
                  <a:cubicBezTo>
                    <a:pt x="3390519" y="0"/>
                    <a:pt x="3447542" y="57150"/>
                    <a:pt x="3447542" y="127508"/>
                  </a:cubicBezTo>
                  <a:lnTo>
                    <a:pt x="3447542" y="637794"/>
                  </a:lnTo>
                  <a:cubicBezTo>
                    <a:pt x="3447542" y="708279"/>
                    <a:pt x="3390392" y="765302"/>
                    <a:pt x="3320034" y="765302"/>
                  </a:cubicBezTo>
                  <a:lnTo>
                    <a:pt x="127508" y="765302"/>
                  </a:lnTo>
                  <a:cubicBezTo>
                    <a:pt x="57150" y="765429"/>
                    <a:pt x="0" y="708279"/>
                    <a:pt x="0" y="637794"/>
                  </a:cubicBezTo>
                  <a:close/>
                </a:path>
              </a:pathLst>
            </a:custGeom>
            <a:solidFill>
              <a:srgbClr val="0F2D4A"/>
            </a:solidFill>
            <a:ln w="25400" cap="sq">
              <a:solidFill>
                <a:srgbClr val="1A5276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6583680" y="9326880"/>
            <a:ext cx="2560320" cy="548640"/>
            <a:chOff x="0" y="0"/>
            <a:chExt cx="341376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34137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NumPy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405623" y="9314183"/>
            <a:ext cx="2585723" cy="574043"/>
            <a:chOff x="0" y="0"/>
            <a:chExt cx="3447631" cy="7653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447542" cy="765302"/>
            </a:xfrm>
            <a:custGeom>
              <a:avLst/>
              <a:gdLst/>
              <a:ahLst/>
              <a:cxnLst/>
              <a:rect r="r" b="b" t="t" l="l"/>
              <a:pathLst>
                <a:path h="765302" w="3447542">
                  <a:moveTo>
                    <a:pt x="0" y="127508"/>
                  </a:moveTo>
                  <a:cubicBezTo>
                    <a:pt x="0" y="57150"/>
                    <a:pt x="57150" y="0"/>
                    <a:pt x="127508" y="0"/>
                  </a:cubicBezTo>
                  <a:lnTo>
                    <a:pt x="3320034" y="0"/>
                  </a:lnTo>
                  <a:cubicBezTo>
                    <a:pt x="3390519" y="0"/>
                    <a:pt x="3447542" y="57150"/>
                    <a:pt x="3447542" y="127508"/>
                  </a:cubicBezTo>
                  <a:lnTo>
                    <a:pt x="3447542" y="637794"/>
                  </a:lnTo>
                  <a:cubicBezTo>
                    <a:pt x="3447542" y="708279"/>
                    <a:pt x="3390392" y="765302"/>
                    <a:pt x="3320034" y="765302"/>
                  </a:cubicBezTo>
                  <a:lnTo>
                    <a:pt x="127508" y="765302"/>
                  </a:lnTo>
                  <a:cubicBezTo>
                    <a:pt x="57150" y="765429"/>
                    <a:pt x="0" y="708279"/>
                    <a:pt x="0" y="637794"/>
                  </a:cubicBezTo>
                  <a:close/>
                </a:path>
              </a:pathLst>
            </a:custGeom>
            <a:solidFill>
              <a:srgbClr val="0F2D4A"/>
            </a:solidFill>
            <a:ln w="25400" cap="sq">
              <a:solidFill>
                <a:srgbClr val="1A5276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418320" y="9326880"/>
            <a:ext cx="2560320" cy="548640"/>
            <a:chOff x="0" y="0"/>
            <a:chExt cx="341376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34137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SQLite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240263" y="9314183"/>
            <a:ext cx="2585723" cy="574043"/>
            <a:chOff x="0" y="0"/>
            <a:chExt cx="3447631" cy="76539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447542" cy="765302"/>
            </a:xfrm>
            <a:custGeom>
              <a:avLst/>
              <a:gdLst/>
              <a:ahLst/>
              <a:cxnLst/>
              <a:rect r="r" b="b" t="t" l="l"/>
              <a:pathLst>
                <a:path h="765302" w="3447542">
                  <a:moveTo>
                    <a:pt x="0" y="127508"/>
                  </a:moveTo>
                  <a:cubicBezTo>
                    <a:pt x="0" y="57150"/>
                    <a:pt x="57150" y="0"/>
                    <a:pt x="127508" y="0"/>
                  </a:cubicBezTo>
                  <a:lnTo>
                    <a:pt x="3320034" y="0"/>
                  </a:lnTo>
                  <a:cubicBezTo>
                    <a:pt x="3390519" y="0"/>
                    <a:pt x="3447542" y="57150"/>
                    <a:pt x="3447542" y="127508"/>
                  </a:cubicBezTo>
                  <a:lnTo>
                    <a:pt x="3447542" y="637794"/>
                  </a:lnTo>
                  <a:cubicBezTo>
                    <a:pt x="3447542" y="708279"/>
                    <a:pt x="3390392" y="765302"/>
                    <a:pt x="3320034" y="765302"/>
                  </a:cubicBezTo>
                  <a:lnTo>
                    <a:pt x="127508" y="765302"/>
                  </a:lnTo>
                  <a:cubicBezTo>
                    <a:pt x="57150" y="765429"/>
                    <a:pt x="0" y="708279"/>
                    <a:pt x="0" y="637794"/>
                  </a:cubicBezTo>
                  <a:close/>
                </a:path>
              </a:pathLst>
            </a:custGeom>
            <a:solidFill>
              <a:srgbClr val="0F2D4A"/>
            </a:solidFill>
            <a:ln w="25400" cap="sq">
              <a:solidFill>
                <a:srgbClr val="1A5276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2252960" y="9326880"/>
            <a:ext cx="2560320" cy="548640"/>
            <a:chOff x="0" y="0"/>
            <a:chExt cx="341376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34137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Tableu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074903" y="9314183"/>
            <a:ext cx="2585723" cy="574043"/>
            <a:chOff x="0" y="0"/>
            <a:chExt cx="3447631" cy="76539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447542" cy="765302"/>
            </a:xfrm>
            <a:custGeom>
              <a:avLst/>
              <a:gdLst/>
              <a:ahLst/>
              <a:cxnLst/>
              <a:rect r="r" b="b" t="t" l="l"/>
              <a:pathLst>
                <a:path h="765302" w="3447542">
                  <a:moveTo>
                    <a:pt x="0" y="127508"/>
                  </a:moveTo>
                  <a:cubicBezTo>
                    <a:pt x="0" y="57150"/>
                    <a:pt x="57150" y="0"/>
                    <a:pt x="127508" y="0"/>
                  </a:cubicBezTo>
                  <a:lnTo>
                    <a:pt x="3320034" y="0"/>
                  </a:lnTo>
                  <a:cubicBezTo>
                    <a:pt x="3390519" y="0"/>
                    <a:pt x="3447542" y="57150"/>
                    <a:pt x="3447542" y="127508"/>
                  </a:cubicBezTo>
                  <a:lnTo>
                    <a:pt x="3447542" y="637794"/>
                  </a:lnTo>
                  <a:cubicBezTo>
                    <a:pt x="3447542" y="708279"/>
                    <a:pt x="3390392" y="765302"/>
                    <a:pt x="3320034" y="765302"/>
                  </a:cubicBezTo>
                  <a:lnTo>
                    <a:pt x="127508" y="765302"/>
                  </a:lnTo>
                  <a:cubicBezTo>
                    <a:pt x="57150" y="765429"/>
                    <a:pt x="0" y="708279"/>
                    <a:pt x="0" y="637794"/>
                  </a:cubicBezTo>
                  <a:close/>
                </a:path>
              </a:pathLst>
            </a:custGeom>
            <a:solidFill>
              <a:srgbClr val="0F2D4A"/>
            </a:solidFill>
            <a:ln w="25400" cap="sq">
              <a:solidFill>
                <a:srgbClr val="1A5276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5087600" y="9326880"/>
            <a:ext cx="2560320" cy="548640"/>
            <a:chOff x="0" y="0"/>
            <a:chExt cx="341376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34137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Financial Analytics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DAHMbnRp2sU</dc:identifier>
  <dcterms:modified xsi:type="dcterms:W3CDTF">2011-08-01T06:04:30Z</dcterms:modified>
  <cp:revision>1</cp:revision>
  <dc:title>nich_ppt.pptx</dc:title>
</cp:coreProperties>
</file>